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Lst>
  <p:notesMasterIdLst>
    <p:notesMasterId r:id="rId5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notesMaster" Target="notesMasters/notesMaster1.xml"/><Relationship Id="rId57" Type="http://schemas.openxmlformats.org/officeDocument/2006/relationships/presProps" Target="presProps.xml"/><Relationship Id="rId58" Type="http://schemas.openxmlformats.org/officeDocument/2006/relationships/viewProps" Target="viewProps.xml"/><Relationship Id="rId59" Type="http://schemas.openxmlformats.org/officeDocument/2006/relationships/theme" Target="theme/theme1.xml"/><Relationship Id="rId6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the course: Ezekiel 33 watchman posture. Three arenas — home, business, ministry. The rule that runs through all twelve weeks: the tool drafts, gathers, and reminds; the watchman decides, prays, and leads.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arc: Foundation (W1-2), Home Mastery (W3-4), Business Layer (W5-8), Ministry Layer (W9-10), Sovereign Stack (W11), Watchman's Charter (W12). Tasks drop Mon/Wed/Fri; the Watchman's Audit closes every week on Saturday; Sundays off.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Week 1 — Watchman's Posture. Why a man uses AI matters more than which model he picks; the posture sits above the tooling. Anchor the week in Ezekiel 33:1–7 before the first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Write Your Watchman's Charter — Five lines. What AI is for. What it never replaces.
Before a watchman is handed a post, he's told what he's watching for — and what's above his pay grade to decide. You do the same with AI before you touch it for real. This is the smallest task of the whole course and the one everything else stands on: name, in writing, what AI is for in your life and what it will never be allowed to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Apply the Tiered Autonomy Framework — Classify before you delegate. Informational, Contextual, Sensitive.
The watchman on the wall classifies what he sees before he sounds the alarm — friendly, neutral, threat. You'll do the same with every task before you hand it to AI. Most men hand the machine everything or nothing; the operator sorts first, then delegates only what's safe to delegate.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Your Watchman's Tool Stack — Two to four tools. One line of purpose each. Empty rows are honest.
A watchman knows every tool on his belt and why it's there. Open the AI Tools Landscape, pick the two-to-four tools that will actually earn their keep across your home, your work, and your ministry, and write one line of purpose for each. The man who picks a deliberate stack defaults less and ships more.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Week 2 — Prompting Discipline + Voice Mastery. The five-part prompt structure, and the dictation loop that turns a thirty-minute task into eight. Anchor the week in Proverbs 18:13 before the first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Anatomy of a Watchman's Prompt — The five-part structure that turns a vague ask into a sharp answer.
Most men get mush out of AI because they put mush in. The fix is structure, and there are five parts to it. Learn them once, and the same thirty-minute task starts taking eight — because you're not re-rolling the dice on every prompt, you're giving an order a competent subordinate could actually execute.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Voice Capture + Whisper Workflow — Talk faster than you type. Build the dictation loop.
You think faster than you type, and you talk faster than you think on a keyboard. The operators who pull real leverage out of AI are the ones who built a voice-to-text pipeline so their best thinking — in the truck, on a walk, between meetings — gets captured instead of lost. Build the loop this week and run it daily.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Watchman's Audit (Weekly Rhythm) — Saturday afternoon. AI summarizes the week. You set one anchor.
A watch that never reports is a watch nobody trusts. Build the weekly rhythm now and don't break it for the rest of the course: every Saturday, AI summarizes the week's prompts and your captured logs, you read the summary, and you set one anchor for the week ahead. One. The discipline isn't in the summary — it's in choosing the single 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Week 3 — Home Foundations. A short wife audit, a five-year vision rewritten in your own words, and one hard conversation actually shipped. Anchor the week in Ephesians 5:25 before the first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5-Minute Wife Audit — A clean look at how you've actually been showing up.
Most men believe their own press. This week you'll ask AI to play your wife describing the last month from her chair — not to put words in her mouth, but to break the spell of your own PR. Then you'll sit with what you read, and you'll go ask her directly.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Write Your 5-Year Watchman's Vision — One paragraph each: marriage, fathering, body, money, spirit.
A watchman who can't say where the city is headed won't notice when it drifts. Use AI to draft a five-year vision across the five domains of your life, then cut it down to what you'll actually decide — not what you wish. AI drafts; you sign; you re-read it every Monday for five years.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 One Hard Conversation — AI prepares the watchman. The watchman shows up.
There's a conversation you've been avoiding — with your wife, a kid, a partner, an elder. This is the rep. AI is the prep room where you find the kindest true words and anticipate the response. It is not the pulpit. You'll have the conversation by Friday, with no screen in the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Week 4 — Home Systems &amp; Stewardship. A family AI policy your kids help write, a household rhythm posted where everyone can see it, and a legacy plan started. Anchor the week in 1 Timothy 3:4–5 before the first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Family AI Policy + Friday Devotion Generator — Write the policy WITH your kids. Then generate this Friday's devo.
Your kids are going to grow up with AI whether you lead on it or not. This week you write the family AI policy with them at the table — what it's for, what it never replaces — and you put it on the fridge. Then you use AI for the thing it's genuinely good at in a home: turning last Sunday's sermon into a Friday-night family devotion with a question for each child.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Family Rhythm Asset — A cadence map for the household. AI drafts; you iterate; you post it.
A house without a rhythm runs on whoever's most anxious that day. Build a daily and weekly cadence map for your household — meals, devotions, screens, sabbath, the recurring one-on-ones with each kid and your wife — and post it where everyone can see it. AI is the drafting partner; the family is the editor.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Legacy Plan Starter — Will, beneficiaries, the letter your family opens if you're gone.
A watchman thinks about what happens if he falls. Most men avoid this until it's an emergency for someone else. This week, AI helps you draft the framework — the will outline, the beneficiary list, the instructions to your family about accounts, passwords, and where the important things are. AI drafts the skeleton; you take it to a lawyer; you don't die without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Week 5 — Operator Foundations. Subscriptions audited, body wired as platform, and the first real Cowork workflow shipped. Anchor the week in 1 Corinthians 6:19–20 before the first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Subscription Audit — Every recurring charge. Keep, kill, downgrade. Cancel three.
The operator who doesn't control his recurring spend is renting his own freedom back to a dozen vendors. This week you pull every subscription — personal and business — into one list, let AI help you classify each as keep, kill, or downgrade, and you cancel at least three before Friday. The man who controls his recurring spend controls his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Body as Platform (Movement + Sleep) — AI designs the cadence. You fix one variable.
The watchman who breaks his body breaks his post. Your body is the platform every other domain runs on, and most operators treat it like the one resource that's infinitely abusable. This week AI designs a sustainable weekly cadence — strength, walking, sleep — and you pick exactly one variable to fix. Not five.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Ship One Real Cowork Workflow — One operator task, end to end. Review every step. Keep what works.
This is your first real taste of agentic AI — Cowork doing a multi-step task end to end while you supervise. Pick one genuine operator task you owe this week — a proposal draft, a meeting summary turned into action items, a weekly status report — and have Cowork do the whole thing. You review every action. You keep what works and throw out what doesn't.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Week 6 — Business Operations &amp; Stewardship. Read your numbers; build the recurring-comms workflow; lock in a tithe-first budget. Anchor the week in Luke 16:10–11 before the first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Your Numbers (P&amp;L Review with AI) — Pull three months. AI digests. You face the numbers you've avoided.
The owner who doesn't read his own numbers is renting his business back from his bookkeeper. This week you pull your last three months of income and expenses, let AI digest them into plain language, and you face the two or three numbers you've been avoiding. Then you decide one thing to fix this month.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Client-Comms Workflow — Your highest-frequency outbound message, systematized once.
Every operator has one outbound message he writes over and over — the proposal, the status update, the invoice cover note. This week you build a reusable AI workflow for the highest-frequency one, ship a real one through the system, and never write it cold again. Build it once; run it weekly.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Tithe-First Budget — Giving comes off the top. AI drafts; you commit.
A man's budget is his theology in numbers. This week you build — or rebuild — a budget that puts giving first, off the top, before anything else gets allocated. AI helps you draft the categories and run the math; you make the commitment. This is the financial watchman's foundation, and it belongs in the Business block because operators run the household budget and the business budget both.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Week 7 — Cowork as Operator Infra. Cowork's inventory + redlines mapped, a reusable prompt library you'll actually use, and a multi-step research workflow shipped on something real. Anchor the week in Proverbs 16:3 before the first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Cowork Inventory + Redlines — Five things to automate end to end. Five things you never will.
Now that you've shipped one Cowork workflow, you build the map. List the five categories of your work Cowork could genuinely run end to end — and, just as important, the five where it's the wrong tool: anything pastoral, anything irreversible, anything that has to carry your voice. Draw the boundary before you build, not after something goes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Your Cowork Prompt Library — Five reusable workflows you'll run every week. Use two now.
An operator's leverage compounds when his best prompts stop living in his head. This week you build a library of five reusable Cowork workflows — the recurring jobs of your week — and you put two of them to work immediately. Build the arsenal; then actually fire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Multi-Step Research Workflow — Cowork researches across sources. You decide.
Some decisions need more than a single answer — they need a brief. This week you have Cowork research a real topic across three or more sources, synthesize it into one document, and surface the tensions and the uncertainties instead of pretending there's one clean answer. Then you read it and you decide. The tool gathers; the watchman judges.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Week 8 — Operator Output. Strip the AI fingerprint out of your drafts; sign a real decision; ship a public piece in your voice. Anchor the week in Colossians 3:23 before the first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Strip the AI Fingerprint — Read it aloud. Cut what you wouldn't say. Ship the rewrite.
AI writes in a register that isn't yours, and people can feel it even when they can't name it. This week you take one AI-drafted message, read it out loud, and cut every line you wouldn't actually say. Watchmen write as themselves. AI never sends in your voice without your edit — that's a standing order from here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Decision-Support Memo — One decision you've avoided. AI builds the case. You sign.
There's a real business or ministry decision you've been circling for weeks. This week AI writes the decision-support memo — the pros, the cons, the risks, the costs, the timeline laid out cold — and then you decide. You sign it. The memo is the staff work; the call is the command.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Ship One Piece in Your Voice — Public writing under your name. AI-assisted, you-edited, you-signed.
The watchman warns the city out loud. This week you ship one piece of public-facing writing under your own name — a blog post, a social post, sermon notes, a newsletter, a devotional. AI assists the draft, you do the editing pass, and your name goes on it. You write for the people you've been set on the wall to warn.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Week 9 — Ministry Tools. Sermon to weekly actions; a ten-minute Scripture-study loop with AI as partner; a teaching aid you'll actually use Sunday. Anchor the week in 2 Timothy 3:16–17 before the first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Sermon → Watchman's Actions — This Sunday's sermon becomes five actions you'll do this week.
Most men consume preaching like entertainment — they feel something Sunday and forget it by Tuesday. This week you break the habit: take this Sunday's sermon and turn it into five concrete actions you'll actually do this week. AI helps you extract and sharpen; you do the doing. Build the habit of hearing the Word as an order, not a performance.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10-Minute Scripture Study with AI — Claude is the study partner, not the teacher. Learn to ask.
There's a difference between asking AI to tell you what a passage means and using it to help you study a passage yourself — and the watchman knows the difference. This week you take one passage and practice asking the right questions: context, cross-references, original-language notes, the questions a good teacher would ask. AI is the study partner across the table, never the authority in the pulpit.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a Teaching Aid for One Passage — A handout, discussion questions, application points. Use it Sunday.
USMC men teach — small groups, Sunday school, the pulpit, the kitchen table with their kids. This week you build a real teaching aid for one passage: a handout, discussion questions, and application points, AI-assisted and you-refined. Then you use it this Sunday or next. The tool helps you prepare; the teaching is still your gift and your responsibility.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Week 10 — Discipleship at Scale. A personal daily-devotion loop you tune to your own walk, a pastoral-counseling prep workflow with hard redlines, and a cohort prompt-pack you test on one man. Anchor the week in 2 Timothy 2:2 before the first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Watchman's Daily Devotion (Personal) — AI builds your personal devo. Run it seven days. Tune it.
Before you disciple anyone else, your own walk has to be fed. This week you have AI build a personal daily devotion tuned to where you actually are — a passage, a short reflection, a prayer prompt — and you run it for seven days. Then you tune it. Drop whatever doesn't feed you; this is a meal, not a performance.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Pastoral Counseling Prep Workflow (with Redlines) — AI assists the prep. Never the content of the conversation.
For the men in this cohort who shepherd others, this is the most important boundary in the course. AI can help you PREPARE for a counseling conversation — frameworks, relevant Scriptures, questions to ask — but it never touches the content of what's shared in confidence. This week you build the prep workflow and you practice the boundary explicitly, out loud, so it's reflex when the real conversation comes.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a Discipleship Cohort Prompt-Pack — Ten prompts for a man you're mentoring. Test on one.
You're being trained to train others — that's the whole arc, and it lands next week. This week you build a prompt-pack you could hand to a man you're discipling: ten prompts that walk him through a life inventory, hard-conversation prep, a prayer rhythm, the watchman's posture. Then you test it on one real person and iterate on what actually hit.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Week 11 — Sovereign Stack. A local-AI smoke test on your own hardware, your watchman's redlines wired architecturally, and one MCP server scoped and tested. Anchor the week in Proverbs 22:3 before the first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Local AI Smoke Test — Install a local model. Run three prompts. Verify nothing left your machine.
There's a category of your life and work that should never touch a cloud server — and the only way to handle it is AI that runs entirely on your own hardware. This week you install Ollama or LM Studio, pull one model that fits your machine, and run three real prompts with the network watching. You verify, with your own eyes, that nothing left your machine.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Define Your Watchman's Redlines — Five categories that never leave your machine. Make it architectural.
Everything you've classified, bounded, and sealed across this course comes together here. This week you name the five categories of content that will never leave your machine — pastoral notes, your kids' health and education, family conflict, financial detail, business strategy — and you wire local AI to handle exactly those. The boundary stops being aspirational and becomes architectural.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MCP Server Setup — Wire one local server. Validate it sees only what you scoped.
The frontier of the operator's stack in this era is connecting AI to your own tools and files under your own control — and the Model Context Protocol is how that's done safely. This week you install one local MCP server (Filesystem, Git, or Playwright), wire it to Claude Code or your workflow, and validate that it can see only what you scoped — nothing more. Security as the default, not the afterthought.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Week 12 — Watchman's Charter. Synthesize the eleven weeks into one document; teach one person one thing; sign your charter and ship the commissioning log. Anchor the week in Ezekiel 33:7 before the first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Your Personal AI Adjutant — Synthesize eleven weeks into one document and one daily workflow.
An adjutant is the officer who carries the commander's intent so the command runs even when he steps away. This week you build yours — one document that synthesizes everything: your Charter, your tool stack, your voice workflow, your Cowork library, your business rhythms, your local-AI setup, your family policy, your Redlines. One document, one standing daily workflow. It's what you'd hand your replacement if you walked away tomorrow.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One Person One Thing — Pick one brother. Walk him through one thing. Watch him do it once.
This is the task the whole course has been driving toward. Pick one man — your wife, an older kid, a peer, a mentee, your pastor — and walk him through one thing you learned in these twelve weeks. Not a lecture. One thing, taught well, watched until he can do it once himself. What you've been given, you now give.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Sign Your Watchman's Charter (Commissioning) — Sign it. Name the one tool you'll keep. Say what changed in you.
You started this Mission as a man with AI. You finish it as a watchman with a charter, a system, and a person you've trained. This is the commissioning: you sign the Charter you wrote in Week 1 — refined by everything since — name the one tool you'll keep using, and say in one sentence what changed in you over twelve weeks. Posted publicly in the cohort, you're commissioned.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Drills are reps, not the workout — skip without guilt. The full 36 live in Watchmans_Drills_36.pdf and on every week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charter is five lines: 1-3 what AI is for, 4-5 what it never replaces. Signed, dated, posted in the cohort with the one tool they'll keep and one sentence on what changed.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Commissioned, not graduated. The course ends; the watch continues.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A4A"/>
        </a:solidFill>
      </p:bgPr>
    </p:bg>
    <p:spTree>
      <p:nvGrpSpPr>
        <p:cNvPr id="1" name=""/>
        <p:cNvGrpSpPr/>
        <p:nvPr/>
      </p:nvGrpSpPr>
      <p:grpSpPr>
        <a:xfrm>
          <a:off x="0" y="0"/>
          <a:ext cx="0" cy="0"/>
          <a:chOff x="0" y="0"/>
          <a:chExt cx="0" cy="0"/>
        </a:xfrm>
      </p:grpSpPr>
      <p:sp>
        <p:nvSpPr>
          <p:cNvPr id="2" name="Text 0"/>
          <p:cNvSpPr/>
          <p:nvPr/>
        </p:nvSpPr>
        <p:spPr>
          <a:xfrm>
            <a:off x="548640" y="2194560"/>
            <a:ext cx="10972800" cy="731520"/>
          </a:xfrm>
          <a:prstGeom prst="rect">
            <a:avLst/>
          </a:prstGeom>
          <a:noFill/>
          <a:ln/>
        </p:spPr>
        <p:txBody>
          <a:bodyPr wrap="square" rtlCol="0" anchor="ctr"/>
          <a:lstStyle/>
          <a:p>
            <a:pPr indent="0" marL="0">
              <a:buNone/>
            </a:pPr>
            <a:r>
              <a:rPr lang="en-US" sz="3200" b="1" spc="600" kern="0" dirty="0">
                <a:solidFill>
                  <a:srgbClr val="CE8E31"/>
                </a:solidFill>
                <a:latin typeface="Calibri" pitchFamily="34" charset="0"/>
                <a:ea typeface="Calibri" pitchFamily="34" charset="-122"/>
                <a:cs typeface="Calibri" pitchFamily="34" charset="-120"/>
              </a:rPr>
              <a:t>U.S.M.C. MINISTRIES AI MISSION</a:t>
            </a:r>
            <a:endParaRPr lang="en-US" sz="3200" dirty="0"/>
          </a:p>
        </p:txBody>
      </p:sp>
      <p:sp>
        <p:nvSpPr>
          <p:cNvPr id="3" name="Text 1"/>
          <p:cNvSpPr/>
          <p:nvPr/>
        </p:nvSpPr>
        <p:spPr>
          <a:xfrm>
            <a:off x="548640" y="2926080"/>
            <a:ext cx="11338560" cy="1280160"/>
          </a:xfrm>
          <a:prstGeom prst="rect">
            <a:avLst/>
          </a:prstGeom>
          <a:noFill/>
          <a:ln/>
        </p:spPr>
        <p:txBody>
          <a:bodyPr wrap="square" rtlCol="0" anchor="ctr"/>
          <a:lstStyle/>
          <a:p>
            <a:pPr indent="0" marL="0">
              <a:buNone/>
            </a:pPr>
            <a:r>
              <a:rPr lang="en-US" sz="6600" b="1" dirty="0">
                <a:solidFill>
                  <a:srgbClr val="FFFFFF"/>
                </a:solidFill>
                <a:latin typeface="Calibri" pitchFamily="34" charset="0"/>
                <a:ea typeface="Calibri" pitchFamily="34" charset="-122"/>
                <a:cs typeface="Calibri" pitchFamily="34" charset="-120"/>
              </a:rPr>
              <a:t>THE WATCHMAN'S COURSE</a:t>
            </a:r>
            <a:endParaRPr lang="en-US" sz="6600" dirty="0"/>
          </a:p>
        </p:txBody>
      </p:sp>
      <p:sp>
        <p:nvSpPr>
          <p:cNvPr id="4" name="Shape 2"/>
          <p:cNvSpPr/>
          <p:nvPr/>
        </p:nvSpPr>
        <p:spPr>
          <a:xfrm>
            <a:off x="548640" y="4206240"/>
            <a:ext cx="2286000" cy="91440"/>
          </a:xfrm>
          <a:prstGeom prst="rect">
            <a:avLst/>
          </a:prstGeom>
          <a:solidFill>
            <a:srgbClr val="CE8E31"/>
          </a:solidFill>
          <a:ln w="12700">
            <a:solidFill>
              <a:srgbClr val="CE8E31"/>
            </a:solidFill>
            <a:prstDash val="solid"/>
          </a:ln>
        </p:spPr>
      </p:sp>
      <p:sp>
        <p:nvSpPr>
          <p:cNvPr id="5" name="Text 3"/>
          <p:cNvSpPr/>
          <p:nvPr/>
        </p:nvSpPr>
        <p:spPr>
          <a:xfrm>
            <a:off x="548640" y="4389120"/>
            <a:ext cx="10972800" cy="457200"/>
          </a:xfrm>
          <a:prstGeom prst="rect">
            <a:avLst/>
          </a:prstGeom>
          <a:noFill/>
          <a:ln/>
        </p:spPr>
        <p:txBody>
          <a:bodyPr wrap="square" rtlCol="0" anchor="ctr"/>
          <a:lstStyle/>
          <a:p>
            <a:pPr indent="0" marL="0">
              <a:buNone/>
            </a:pPr>
            <a:r>
              <a:rPr lang="en-US" sz="2200" i="1" dirty="0">
                <a:solidFill>
                  <a:srgbClr val="94A3B8"/>
                </a:solidFill>
                <a:latin typeface="Calibri" pitchFamily="34" charset="0"/>
                <a:ea typeface="Calibri" pitchFamily="34" charset="-122"/>
                <a:cs typeface="Calibri" pitchFamily="34" charset="-120"/>
              </a:rPr>
              <a:t>Twelve weeks. Thirty-six tasks. AI working for the man — never over him.</a:t>
            </a:r>
            <a:endParaRPr lang="en-US" sz="2200" dirty="0"/>
          </a:p>
        </p:txBody>
      </p:sp>
      <p:sp>
        <p:nvSpPr>
          <p:cNvPr id="6" name="Text 4"/>
          <p:cNvSpPr/>
          <p:nvPr/>
        </p:nvSpPr>
        <p:spPr>
          <a:xfrm>
            <a:off x="548640" y="5486400"/>
            <a:ext cx="10972800" cy="365760"/>
          </a:xfrm>
          <a:prstGeom prst="rect">
            <a:avLst/>
          </a:prstGeom>
          <a:noFill/>
          <a:ln/>
        </p:spPr>
        <p:txBody>
          <a:bodyPr wrap="square" rtlCol="0" anchor="ctr"/>
          <a:lstStyle/>
          <a:p>
            <a:pPr indent="0" marL="0">
              <a:buNone/>
            </a:pPr>
            <a:r>
              <a:rPr lang="en-US" sz="1400" i="1" dirty="0">
                <a:solidFill>
                  <a:srgbClr val="94A3B8"/>
                </a:solidFill>
                <a:latin typeface="Calibri" pitchFamily="34" charset="0"/>
                <a:ea typeface="Calibri" pitchFamily="34" charset="-122"/>
                <a:cs typeface="Calibri" pitchFamily="34" charset="-120"/>
              </a:rPr>
              <a:t>"So you, son of man, I have made a watchman for the house of Israel."</a:t>
            </a:r>
            <a:endParaRPr lang="en-US" sz="1400" dirty="0"/>
          </a:p>
        </p:txBody>
      </p:sp>
      <p:sp>
        <p:nvSpPr>
          <p:cNvPr id="7" name="Text 5"/>
          <p:cNvSpPr/>
          <p:nvPr/>
        </p:nvSpPr>
        <p:spPr>
          <a:xfrm>
            <a:off x="548640" y="5852160"/>
            <a:ext cx="10972800" cy="274320"/>
          </a:xfrm>
          <a:prstGeom prst="rect">
            <a:avLst/>
          </a:prstGeom>
          <a:noFill/>
          <a:ln/>
        </p:spPr>
        <p:txBody>
          <a:bodyPr wrap="square" rtlCol="0" anchor="ctr"/>
          <a:lstStyle/>
          <a:p>
            <a:pPr indent="0" marL="0">
              <a:buNone/>
            </a:pPr>
            <a:r>
              <a:rPr lang="en-US" sz="1200" dirty="0">
                <a:solidFill>
                  <a:srgbClr val="5B6470"/>
                </a:solidFill>
                <a:latin typeface="Calibri" pitchFamily="34" charset="0"/>
                <a:ea typeface="Calibri" pitchFamily="34" charset="-122"/>
                <a:cs typeface="Calibri" pitchFamily="34" charset="-120"/>
              </a:rPr>
              <a:t>— Ezekiel 33:7</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0972800" cy="365760"/>
          </a:xfrm>
          <a:prstGeom prst="rect">
            <a:avLst/>
          </a:prstGeom>
          <a:noFill/>
          <a:ln/>
        </p:spPr>
        <p:txBody>
          <a:bodyPr wrap="square" rtlCol="0" anchor="ctr"/>
          <a:lstStyle/>
          <a:p>
            <a:pPr indent="0" marL="0">
              <a:buNone/>
            </a:pPr>
            <a:r>
              <a:rPr lang="en-US" sz="1200" b="1" spc="500" kern="0" dirty="0">
                <a:solidFill>
                  <a:srgbClr val="CE8E31"/>
                </a:solidFill>
                <a:latin typeface="Calibri" pitchFamily="34" charset="0"/>
                <a:ea typeface="Calibri" pitchFamily="34" charset="-122"/>
                <a:cs typeface="Calibri" pitchFamily="34" charset="-120"/>
              </a:rPr>
              <a:t>THE MISSION</a:t>
            </a:r>
            <a:endParaRPr lang="en-US" sz="1200" dirty="0"/>
          </a:p>
        </p:txBody>
      </p:sp>
      <p:sp>
        <p:nvSpPr>
          <p:cNvPr id="3" name="Text 1"/>
          <p:cNvSpPr/>
          <p:nvPr/>
        </p:nvSpPr>
        <p:spPr>
          <a:xfrm>
            <a:off x="548640" y="822960"/>
            <a:ext cx="10972800" cy="914400"/>
          </a:xfrm>
          <a:prstGeom prst="rect">
            <a:avLst/>
          </a:prstGeom>
          <a:noFill/>
          <a:ln/>
        </p:spPr>
        <p:txBody>
          <a:bodyPr wrap="square" rtlCol="0" anchor="ctr"/>
          <a:lstStyle/>
          <a:p>
            <a:pPr indent="0" marL="0">
              <a:buNone/>
            </a:pPr>
            <a:r>
              <a:rPr lang="en-US" sz="3800" b="1" dirty="0">
                <a:solidFill>
                  <a:srgbClr val="1B2A4A"/>
                </a:solidFill>
                <a:latin typeface="Calibri" pitchFamily="34" charset="0"/>
                <a:ea typeface="Calibri" pitchFamily="34" charset="-122"/>
                <a:cs typeface="Calibri" pitchFamily="34" charset="-120"/>
              </a:rPr>
              <a:t>The watchman on the wall. The tool on the belt.</a:t>
            </a:r>
            <a:endParaRPr lang="en-US" sz="3800" dirty="0"/>
          </a:p>
        </p:txBody>
      </p:sp>
      <p:sp>
        <p:nvSpPr>
          <p:cNvPr id="4" name="Text 2"/>
          <p:cNvSpPr/>
          <p:nvPr/>
        </p:nvSpPr>
        <p:spPr>
          <a:xfrm>
            <a:off x="548640" y="1920240"/>
            <a:ext cx="10972800" cy="731520"/>
          </a:xfrm>
          <a:prstGeom prst="rect">
            <a:avLst/>
          </a:prstGeom>
          <a:noFill/>
          <a:ln/>
        </p:spPr>
        <p:txBody>
          <a:bodyPr wrap="square" rtlCol="0" anchor="ctr"/>
          <a:lstStyle/>
          <a:p>
            <a:pPr indent="0" marL="0">
              <a:buNone/>
            </a:pPr>
            <a:r>
              <a:rPr lang="en-US" sz="1800" i="1" dirty="0">
                <a:solidFill>
                  <a:srgbClr val="5B6470"/>
                </a:solidFill>
                <a:latin typeface="Calibri" pitchFamily="34" charset="0"/>
                <a:ea typeface="Calibri" pitchFamily="34" charset="-122"/>
                <a:cs typeface="Calibri" pitchFamily="34" charset="-120"/>
              </a:rPr>
              <a:t>Not a chatbot course. Operator-level formation for men who run homes, businesses, and ministries — with AI as a subordinate, never a substitute.</a:t>
            </a:r>
            <a:endParaRPr lang="en-US" sz="1800" dirty="0"/>
          </a:p>
        </p:txBody>
      </p:sp>
      <p:sp>
        <p:nvSpPr>
          <p:cNvPr id="5" name="Shape 3"/>
          <p:cNvSpPr/>
          <p:nvPr/>
        </p:nvSpPr>
        <p:spPr>
          <a:xfrm>
            <a:off x="548640" y="3108960"/>
            <a:ext cx="3566160" cy="2560320"/>
          </a:xfrm>
          <a:prstGeom prst="rect">
            <a:avLst/>
          </a:prstGeom>
          <a:solidFill>
            <a:srgbClr val="F4F1EA"/>
          </a:solidFill>
          <a:ln w="12700">
            <a:solidFill>
              <a:srgbClr val="D8DCE2"/>
            </a:solidFill>
            <a:prstDash val="solid"/>
          </a:ln>
        </p:spPr>
      </p:sp>
      <p:sp>
        <p:nvSpPr>
          <p:cNvPr id="6" name="Shape 4"/>
          <p:cNvSpPr/>
          <p:nvPr/>
        </p:nvSpPr>
        <p:spPr>
          <a:xfrm>
            <a:off x="548640" y="3108960"/>
            <a:ext cx="73152" cy="2560320"/>
          </a:xfrm>
          <a:prstGeom prst="rect">
            <a:avLst/>
          </a:prstGeom>
          <a:solidFill>
            <a:srgbClr val="1B2A4A"/>
          </a:solidFill>
          <a:ln w="12700">
            <a:solidFill>
              <a:srgbClr val="1B2A4A"/>
            </a:solidFill>
            <a:prstDash val="solid"/>
          </a:ln>
        </p:spPr>
      </p:sp>
      <p:sp>
        <p:nvSpPr>
          <p:cNvPr id="7" name="Text 5"/>
          <p:cNvSpPr/>
          <p:nvPr/>
        </p:nvSpPr>
        <p:spPr>
          <a:xfrm>
            <a:off x="822960" y="3291840"/>
            <a:ext cx="3200400" cy="365760"/>
          </a:xfrm>
          <a:prstGeom prst="rect">
            <a:avLst/>
          </a:prstGeom>
          <a:noFill/>
          <a:ln/>
        </p:spPr>
        <p:txBody>
          <a:bodyPr wrap="square" rtlCol="0" anchor="ctr"/>
          <a:lstStyle/>
          <a:p>
            <a:pPr indent="0" marL="0">
              <a:buNone/>
            </a:pPr>
            <a:r>
              <a:rPr lang="en-US" sz="1400" b="1" spc="300" kern="0" dirty="0">
                <a:solidFill>
                  <a:srgbClr val="CE8E31"/>
                </a:solidFill>
                <a:latin typeface="Calibri" pitchFamily="34" charset="0"/>
                <a:ea typeface="Calibri" pitchFamily="34" charset="-122"/>
                <a:cs typeface="Calibri" pitchFamily="34" charset="-120"/>
              </a:rPr>
              <a:t>AT HOME</a:t>
            </a:r>
            <a:endParaRPr lang="en-US" sz="1400" dirty="0"/>
          </a:p>
        </p:txBody>
      </p:sp>
      <p:sp>
        <p:nvSpPr>
          <p:cNvPr id="8" name="Text 6"/>
          <p:cNvSpPr/>
          <p:nvPr/>
        </p:nvSpPr>
        <p:spPr>
          <a:xfrm>
            <a:off x="822960" y="3749040"/>
            <a:ext cx="3200400" cy="1828800"/>
          </a:xfrm>
          <a:prstGeom prst="rect">
            <a:avLst/>
          </a:prstGeom>
          <a:noFill/>
          <a:ln/>
        </p:spPr>
        <p:txBody>
          <a:bodyPr wrap="square" rtlCol="0" anchor="ctr"/>
          <a:lstStyle/>
          <a:p>
            <a:pPr indent="0" marL="0">
              <a:buNone/>
            </a:pPr>
            <a:r>
              <a:rPr lang="en-US" sz="1350" dirty="0">
                <a:solidFill>
                  <a:srgbClr val="22272E"/>
                </a:solidFill>
                <a:latin typeface="Calibri" pitchFamily="34" charset="0"/>
                <a:ea typeface="Calibri" pitchFamily="34" charset="-122"/>
                <a:cs typeface="Calibri" pitchFamily="34" charset="-120"/>
              </a:rPr>
              <a:t>Husband, father, watchman. The family AI policy is written WITH the kids; the rhythm is posted; the legacy is planned.</a:t>
            </a:r>
            <a:endParaRPr lang="en-US" sz="1350" dirty="0"/>
          </a:p>
        </p:txBody>
      </p:sp>
      <p:sp>
        <p:nvSpPr>
          <p:cNvPr id="9" name="Shape 7"/>
          <p:cNvSpPr/>
          <p:nvPr/>
        </p:nvSpPr>
        <p:spPr>
          <a:xfrm>
            <a:off x="4389120" y="3108960"/>
            <a:ext cx="3566160" cy="2560320"/>
          </a:xfrm>
          <a:prstGeom prst="rect">
            <a:avLst/>
          </a:prstGeom>
          <a:solidFill>
            <a:srgbClr val="F4F1EA"/>
          </a:solidFill>
          <a:ln w="12700">
            <a:solidFill>
              <a:srgbClr val="D8DCE2"/>
            </a:solidFill>
            <a:prstDash val="solid"/>
          </a:ln>
        </p:spPr>
      </p:sp>
      <p:sp>
        <p:nvSpPr>
          <p:cNvPr id="10" name="Shape 8"/>
          <p:cNvSpPr/>
          <p:nvPr/>
        </p:nvSpPr>
        <p:spPr>
          <a:xfrm>
            <a:off x="4389120" y="3108960"/>
            <a:ext cx="73152" cy="2560320"/>
          </a:xfrm>
          <a:prstGeom prst="rect">
            <a:avLst/>
          </a:prstGeom>
          <a:solidFill>
            <a:srgbClr val="1B2A4A"/>
          </a:solidFill>
          <a:ln w="12700">
            <a:solidFill>
              <a:srgbClr val="1B2A4A"/>
            </a:solidFill>
            <a:prstDash val="solid"/>
          </a:ln>
        </p:spPr>
      </p:sp>
      <p:sp>
        <p:nvSpPr>
          <p:cNvPr id="11" name="Text 9"/>
          <p:cNvSpPr/>
          <p:nvPr/>
        </p:nvSpPr>
        <p:spPr>
          <a:xfrm>
            <a:off x="4663440" y="3291840"/>
            <a:ext cx="3200400" cy="365760"/>
          </a:xfrm>
          <a:prstGeom prst="rect">
            <a:avLst/>
          </a:prstGeom>
          <a:noFill/>
          <a:ln/>
        </p:spPr>
        <p:txBody>
          <a:bodyPr wrap="square" rtlCol="0" anchor="ctr"/>
          <a:lstStyle/>
          <a:p>
            <a:pPr indent="0" marL="0">
              <a:buNone/>
            </a:pPr>
            <a:r>
              <a:rPr lang="en-US" sz="1400" b="1" spc="300" kern="0" dirty="0">
                <a:solidFill>
                  <a:srgbClr val="CE8E31"/>
                </a:solidFill>
                <a:latin typeface="Calibri" pitchFamily="34" charset="0"/>
                <a:ea typeface="Calibri" pitchFamily="34" charset="-122"/>
                <a:cs typeface="Calibri" pitchFamily="34" charset="-120"/>
              </a:rPr>
              <a:t>IN BUSINESS</a:t>
            </a:r>
            <a:endParaRPr lang="en-US" sz="1400" dirty="0"/>
          </a:p>
        </p:txBody>
      </p:sp>
      <p:sp>
        <p:nvSpPr>
          <p:cNvPr id="12" name="Text 10"/>
          <p:cNvSpPr/>
          <p:nvPr/>
        </p:nvSpPr>
        <p:spPr>
          <a:xfrm>
            <a:off x="4663440" y="3749040"/>
            <a:ext cx="3200400" cy="1828800"/>
          </a:xfrm>
          <a:prstGeom prst="rect">
            <a:avLst/>
          </a:prstGeom>
          <a:noFill/>
          <a:ln/>
        </p:spPr>
        <p:txBody>
          <a:bodyPr wrap="square" rtlCol="0" anchor="ctr"/>
          <a:lstStyle/>
          <a:p>
            <a:pPr indent="0" marL="0">
              <a:buNone/>
            </a:pPr>
            <a:r>
              <a:rPr lang="en-US" sz="1350" dirty="0">
                <a:solidFill>
                  <a:srgbClr val="22272E"/>
                </a:solidFill>
                <a:latin typeface="Calibri" pitchFamily="34" charset="0"/>
                <a:ea typeface="Calibri" pitchFamily="34" charset="-122"/>
                <a:cs typeface="Calibri" pitchFamily="34" charset="-120"/>
              </a:rPr>
              <a:t>Owner who reads his own numbers. Recurring work systematized; agentic AI supervised; every redline written down.</a:t>
            </a:r>
            <a:endParaRPr lang="en-US" sz="1350" dirty="0"/>
          </a:p>
        </p:txBody>
      </p:sp>
      <p:sp>
        <p:nvSpPr>
          <p:cNvPr id="13" name="Shape 11"/>
          <p:cNvSpPr/>
          <p:nvPr/>
        </p:nvSpPr>
        <p:spPr>
          <a:xfrm>
            <a:off x="8229600" y="3108960"/>
            <a:ext cx="3566160" cy="2560320"/>
          </a:xfrm>
          <a:prstGeom prst="rect">
            <a:avLst/>
          </a:prstGeom>
          <a:solidFill>
            <a:srgbClr val="F4F1EA"/>
          </a:solidFill>
          <a:ln w="12700">
            <a:solidFill>
              <a:srgbClr val="D8DCE2"/>
            </a:solidFill>
            <a:prstDash val="solid"/>
          </a:ln>
        </p:spPr>
      </p:sp>
      <p:sp>
        <p:nvSpPr>
          <p:cNvPr id="14" name="Shape 12"/>
          <p:cNvSpPr/>
          <p:nvPr/>
        </p:nvSpPr>
        <p:spPr>
          <a:xfrm>
            <a:off x="8229600" y="3108960"/>
            <a:ext cx="73152" cy="2560320"/>
          </a:xfrm>
          <a:prstGeom prst="rect">
            <a:avLst/>
          </a:prstGeom>
          <a:solidFill>
            <a:srgbClr val="1B2A4A"/>
          </a:solidFill>
          <a:ln w="12700">
            <a:solidFill>
              <a:srgbClr val="1B2A4A"/>
            </a:solidFill>
            <a:prstDash val="solid"/>
          </a:ln>
        </p:spPr>
      </p:sp>
      <p:sp>
        <p:nvSpPr>
          <p:cNvPr id="15" name="Text 13"/>
          <p:cNvSpPr/>
          <p:nvPr/>
        </p:nvSpPr>
        <p:spPr>
          <a:xfrm>
            <a:off x="8503920" y="3291840"/>
            <a:ext cx="3200400" cy="365760"/>
          </a:xfrm>
          <a:prstGeom prst="rect">
            <a:avLst/>
          </a:prstGeom>
          <a:noFill/>
          <a:ln/>
        </p:spPr>
        <p:txBody>
          <a:bodyPr wrap="square" rtlCol="0" anchor="ctr"/>
          <a:lstStyle/>
          <a:p>
            <a:pPr indent="0" marL="0">
              <a:buNone/>
            </a:pPr>
            <a:r>
              <a:rPr lang="en-US" sz="1400" b="1" spc="300" kern="0" dirty="0">
                <a:solidFill>
                  <a:srgbClr val="CE8E31"/>
                </a:solidFill>
                <a:latin typeface="Calibri" pitchFamily="34" charset="0"/>
                <a:ea typeface="Calibri" pitchFamily="34" charset="-122"/>
                <a:cs typeface="Calibri" pitchFamily="34" charset="-120"/>
              </a:rPr>
              <a:t>IN MINISTRY</a:t>
            </a:r>
            <a:endParaRPr lang="en-US" sz="1400" dirty="0"/>
          </a:p>
        </p:txBody>
      </p:sp>
      <p:sp>
        <p:nvSpPr>
          <p:cNvPr id="16" name="Text 14"/>
          <p:cNvSpPr/>
          <p:nvPr/>
        </p:nvSpPr>
        <p:spPr>
          <a:xfrm>
            <a:off x="8503920" y="3749040"/>
            <a:ext cx="3200400" cy="1828800"/>
          </a:xfrm>
          <a:prstGeom prst="rect">
            <a:avLst/>
          </a:prstGeom>
          <a:noFill/>
          <a:ln/>
        </p:spPr>
        <p:txBody>
          <a:bodyPr wrap="square" rtlCol="0" anchor="ctr"/>
          <a:lstStyle/>
          <a:p>
            <a:pPr indent="0" marL="0">
              <a:buNone/>
            </a:pPr>
            <a:r>
              <a:rPr lang="en-US" sz="1350" dirty="0">
                <a:solidFill>
                  <a:srgbClr val="22272E"/>
                </a:solidFill>
                <a:latin typeface="Calibri" pitchFamily="34" charset="0"/>
                <a:ea typeface="Calibri" pitchFamily="34" charset="-122"/>
                <a:cs typeface="Calibri" pitchFamily="34" charset="-120"/>
              </a:rPr>
              <a:t>Sermon to actions. Study partner, never authority. The seal on confidence is sacred — and one man gets taught (2 Timothy 2:2).</a:t>
            </a:r>
            <a:endParaRPr lang="en-US" sz="1350" dirty="0"/>
          </a:p>
        </p:txBody>
      </p:sp>
      <p:sp>
        <p:nvSpPr>
          <p:cNvPr id="17" name="Text 15"/>
          <p:cNvSpPr/>
          <p:nvPr/>
        </p:nvSpPr>
        <p:spPr>
          <a:xfrm>
            <a:off x="548640" y="6492240"/>
            <a:ext cx="7315200" cy="274320"/>
          </a:xfrm>
          <a:prstGeom prst="rect">
            <a:avLst/>
          </a:prstGeom>
          <a:noFill/>
          <a:ln/>
        </p:spPr>
        <p:txBody>
          <a:bodyPr wrap="square" rtlCol="0" anchor="ctr"/>
          <a:lstStyle/>
          <a:p>
            <a:pPr indent="0" marL="0">
              <a:buNone/>
            </a:pPr>
            <a:r>
              <a:rPr lang="en-US" sz="1000" i="1" dirty="0">
                <a:solidFill>
                  <a:srgbClr val="5B6470"/>
                </a:solidFill>
                <a:latin typeface="Calibri" pitchFamily="34" charset="0"/>
                <a:ea typeface="Calibri" pitchFamily="34" charset="-122"/>
                <a:cs typeface="Calibri" pitchFamily="34" charset="-120"/>
              </a:rPr>
              <a:t>The Mission</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0972800" cy="365760"/>
          </a:xfrm>
          <a:prstGeom prst="rect">
            <a:avLst/>
          </a:prstGeom>
          <a:noFill/>
          <a:ln/>
        </p:spPr>
        <p:txBody>
          <a:bodyPr wrap="square" rtlCol="0" anchor="ctr"/>
          <a:lstStyle/>
          <a:p>
            <a:pPr indent="0" marL="0">
              <a:buNone/>
            </a:pPr>
            <a:r>
              <a:rPr lang="en-US" sz="1200" b="1" spc="500" kern="0" dirty="0">
                <a:solidFill>
                  <a:srgbClr val="CE8E31"/>
                </a:solidFill>
                <a:latin typeface="Calibri" pitchFamily="34" charset="0"/>
                <a:ea typeface="Calibri" pitchFamily="34" charset="-122"/>
                <a:cs typeface="Calibri" pitchFamily="34" charset="-120"/>
              </a:rPr>
              <a:t>THE PATH</a:t>
            </a:r>
            <a:endParaRPr lang="en-US" sz="1200" dirty="0"/>
          </a:p>
        </p:txBody>
      </p:sp>
      <p:sp>
        <p:nvSpPr>
          <p:cNvPr id="3" name="Text 1"/>
          <p:cNvSpPr/>
          <p:nvPr/>
        </p:nvSpPr>
        <p:spPr>
          <a:xfrm>
            <a:off x="548640" y="731520"/>
            <a:ext cx="10972800" cy="731520"/>
          </a:xfrm>
          <a:prstGeom prst="rect">
            <a:avLst/>
          </a:prstGeom>
          <a:noFill/>
          <a:ln/>
        </p:spPr>
        <p:txBody>
          <a:bodyPr wrap="square" rtlCol="0" anchor="ctr"/>
          <a:lstStyle/>
          <a:p>
            <a:pPr indent="0" marL="0">
              <a:buNone/>
            </a:pPr>
            <a:r>
              <a:rPr lang="en-US" sz="3600" b="1" dirty="0">
                <a:solidFill>
                  <a:srgbClr val="1B2A4A"/>
                </a:solidFill>
                <a:latin typeface="Calibri" pitchFamily="34" charset="0"/>
                <a:ea typeface="Calibri" pitchFamily="34" charset="-122"/>
                <a:cs typeface="Calibri" pitchFamily="34" charset="-120"/>
              </a:rPr>
              <a:t>Twelve weeks. Six blocks. One charter.</a:t>
            </a:r>
            <a:endParaRPr lang="en-US" sz="3600" dirty="0"/>
          </a:p>
        </p:txBody>
      </p:sp>
      <p:sp>
        <p:nvSpPr>
          <p:cNvPr id="4" name="Shape 2"/>
          <p:cNvSpPr/>
          <p:nvPr/>
        </p:nvSpPr>
        <p:spPr>
          <a:xfrm>
            <a:off x="443484" y="1737360"/>
            <a:ext cx="2743200" cy="1417320"/>
          </a:xfrm>
          <a:prstGeom prst="rect">
            <a:avLst/>
          </a:prstGeom>
          <a:solidFill>
            <a:srgbClr val="F4F1EA"/>
          </a:solidFill>
          <a:ln w="12700">
            <a:solidFill>
              <a:srgbClr val="D8DCE2"/>
            </a:solidFill>
            <a:prstDash val="solid"/>
          </a:ln>
        </p:spPr>
      </p:sp>
      <p:sp>
        <p:nvSpPr>
          <p:cNvPr id="5" name="Shape 3"/>
          <p:cNvSpPr/>
          <p:nvPr/>
        </p:nvSpPr>
        <p:spPr>
          <a:xfrm>
            <a:off x="443484" y="1737360"/>
            <a:ext cx="2743200" cy="54864"/>
          </a:xfrm>
          <a:prstGeom prst="rect">
            <a:avLst/>
          </a:prstGeom>
          <a:solidFill>
            <a:srgbClr val="CE8E31"/>
          </a:solidFill>
          <a:ln w="12700">
            <a:solidFill>
              <a:srgbClr val="CE8E31"/>
            </a:solidFill>
            <a:prstDash val="solid"/>
          </a:ln>
        </p:spPr>
      </p:sp>
      <p:sp>
        <p:nvSpPr>
          <p:cNvPr id="6" name="Text 4"/>
          <p:cNvSpPr/>
          <p:nvPr/>
        </p:nvSpPr>
        <p:spPr>
          <a:xfrm>
            <a:off x="562356" y="1828800"/>
            <a:ext cx="2505456" cy="256032"/>
          </a:xfrm>
          <a:prstGeom prst="rect">
            <a:avLst/>
          </a:prstGeom>
          <a:noFill/>
          <a:ln/>
        </p:spPr>
        <p:txBody>
          <a:bodyPr wrap="square" rtlCol="0" anchor="ctr"/>
          <a:lstStyle/>
          <a:p>
            <a:pPr indent="0" marL="0">
              <a:buNone/>
            </a:pPr>
            <a:r>
              <a:rPr lang="en-US" sz="900" b="1" spc="200" kern="0" dirty="0">
                <a:solidFill>
                  <a:srgbClr val="CE8E31"/>
                </a:solidFill>
                <a:latin typeface="Calibri" pitchFamily="34" charset="0"/>
                <a:ea typeface="Calibri" pitchFamily="34" charset="-122"/>
                <a:cs typeface="Calibri" pitchFamily="34" charset="-120"/>
              </a:rPr>
              <a:t>WEEK 1 · BLOCK I</a:t>
            </a:r>
            <a:endParaRPr lang="en-US" sz="900" dirty="0"/>
          </a:p>
        </p:txBody>
      </p:sp>
      <p:sp>
        <p:nvSpPr>
          <p:cNvPr id="7" name="Text 5"/>
          <p:cNvSpPr/>
          <p:nvPr/>
        </p:nvSpPr>
        <p:spPr>
          <a:xfrm>
            <a:off x="562356" y="2084832"/>
            <a:ext cx="2505456" cy="685800"/>
          </a:xfrm>
          <a:prstGeom prst="rect">
            <a:avLst/>
          </a:prstGeom>
          <a:noFill/>
          <a:ln/>
        </p:spPr>
        <p:txBody>
          <a:bodyPr wrap="square" rtlCol="0" anchor="ctr"/>
          <a:lstStyle/>
          <a:p>
            <a:pPr indent="0" marL="0">
              <a:buNone/>
            </a:pPr>
            <a:r>
              <a:rPr lang="en-US" sz="1350" b="1" dirty="0">
                <a:solidFill>
                  <a:srgbClr val="1B2A4A"/>
                </a:solidFill>
                <a:latin typeface="Calibri" pitchFamily="34" charset="0"/>
                <a:ea typeface="Calibri" pitchFamily="34" charset="-122"/>
                <a:cs typeface="Calibri" pitchFamily="34" charset="-120"/>
              </a:rPr>
              <a:t>Watchman's Posture</a:t>
            </a:r>
            <a:endParaRPr lang="en-US" sz="1350" dirty="0"/>
          </a:p>
        </p:txBody>
      </p:sp>
      <p:sp>
        <p:nvSpPr>
          <p:cNvPr id="8" name="Text 6"/>
          <p:cNvSpPr/>
          <p:nvPr/>
        </p:nvSpPr>
        <p:spPr>
          <a:xfrm>
            <a:off x="562356" y="2816352"/>
            <a:ext cx="2505456" cy="274320"/>
          </a:xfrm>
          <a:prstGeom prst="rect">
            <a:avLst/>
          </a:prstGeom>
          <a:noFill/>
          <a:ln/>
        </p:spPr>
        <p:txBody>
          <a:bodyPr wrap="square" rtlCol="0" anchor="ctr"/>
          <a:lstStyle/>
          <a:p>
            <a:pPr indent="0" marL="0">
              <a:buNone/>
            </a:pPr>
            <a:r>
              <a:rPr lang="en-US" sz="950" i="1" dirty="0">
                <a:solidFill>
                  <a:srgbClr val="5B6470"/>
                </a:solidFill>
                <a:latin typeface="Calibri" pitchFamily="34" charset="0"/>
                <a:ea typeface="Calibri" pitchFamily="34" charset="-122"/>
                <a:cs typeface="Calibri" pitchFamily="34" charset="-120"/>
              </a:rPr>
              <a:t>Ezekiel 33:1–7</a:t>
            </a:r>
            <a:endParaRPr lang="en-US" sz="950" dirty="0"/>
          </a:p>
        </p:txBody>
      </p:sp>
      <p:sp>
        <p:nvSpPr>
          <p:cNvPr id="9" name="Shape 7"/>
          <p:cNvSpPr/>
          <p:nvPr/>
        </p:nvSpPr>
        <p:spPr>
          <a:xfrm>
            <a:off x="3296412" y="1737360"/>
            <a:ext cx="2743200" cy="1417320"/>
          </a:xfrm>
          <a:prstGeom prst="rect">
            <a:avLst/>
          </a:prstGeom>
          <a:solidFill>
            <a:srgbClr val="F4F1EA"/>
          </a:solidFill>
          <a:ln w="12700">
            <a:solidFill>
              <a:srgbClr val="D8DCE2"/>
            </a:solidFill>
            <a:prstDash val="solid"/>
          </a:ln>
        </p:spPr>
      </p:sp>
      <p:sp>
        <p:nvSpPr>
          <p:cNvPr id="10" name="Shape 8"/>
          <p:cNvSpPr/>
          <p:nvPr/>
        </p:nvSpPr>
        <p:spPr>
          <a:xfrm>
            <a:off x="3296412" y="1737360"/>
            <a:ext cx="2743200" cy="54864"/>
          </a:xfrm>
          <a:prstGeom prst="rect">
            <a:avLst/>
          </a:prstGeom>
          <a:solidFill>
            <a:srgbClr val="CE8E31"/>
          </a:solidFill>
          <a:ln w="12700">
            <a:solidFill>
              <a:srgbClr val="CE8E31"/>
            </a:solidFill>
            <a:prstDash val="solid"/>
          </a:ln>
        </p:spPr>
      </p:sp>
      <p:sp>
        <p:nvSpPr>
          <p:cNvPr id="11" name="Text 9"/>
          <p:cNvSpPr/>
          <p:nvPr/>
        </p:nvSpPr>
        <p:spPr>
          <a:xfrm>
            <a:off x="3415284" y="1828800"/>
            <a:ext cx="2505456" cy="256032"/>
          </a:xfrm>
          <a:prstGeom prst="rect">
            <a:avLst/>
          </a:prstGeom>
          <a:noFill/>
          <a:ln/>
        </p:spPr>
        <p:txBody>
          <a:bodyPr wrap="square" rtlCol="0" anchor="ctr"/>
          <a:lstStyle/>
          <a:p>
            <a:pPr indent="0" marL="0">
              <a:buNone/>
            </a:pPr>
            <a:r>
              <a:rPr lang="en-US" sz="900" b="1" spc="200" kern="0" dirty="0">
                <a:solidFill>
                  <a:srgbClr val="CE8E31"/>
                </a:solidFill>
                <a:latin typeface="Calibri" pitchFamily="34" charset="0"/>
                <a:ea typeface="Calibri" pitchFamily="34" charset="-122"/>
                <a:cs typeface="Calibri" pitchFamily="34" charset="-120"/>
              </a:rPr>
              <a:t>WEEK 2 · BLOCK I</a:t>
            </a:r>
            <a:endParaRPr lang="en-US" sz="900" dirty="0"/>
          </a:p>
        </p:txBody>
      </p:sp>
      <p:sp>
        <p:nvSpPr>
          <p:cNvPr id="12" name="Text 10"/>
          <p:cNvSpPr/>
          <p:nvPr/>
        </p:nvSpPr>
        <p:spPr>
          <a:xfrm>
            <a:off x="3415284" y="2084832"/>
            <a:ext cx="2505456" cy="685800"/>
          </a:xfrm>
          <a:prstGeom prst="rect">
            <a:avLst/>
          </a:prstGeom>
          <a:noFill/>
          <a:ln/>
        </p:spPr>
        <p:txBody>
          <a:bodyPr wrap="square" rtlCol="0" anchor="ctr"/>
          <a:lstStyle/>
          <a:p>
            <a:pPr indent="0" marL="0">
              <a:buNone/>
            </a:pPr>
            <a:r>
              <a:rPr lang="en-US" sz="1350" b="1" dirty="0">
                <a:solidFill>
                  <a:srgbClr val="1B2A4A"/>
                </a:solidFill>
                <a:latin typeface="Calibri" pitchFamily="34" charset="0"/>
                <a:ea typeface="Calibri" pitchFamily="34" charset="-122"/>
                <a:cs typeface="Calibri" pitchFamily="34" charset="-120"/>
              </a:rPr>
              <a:t>Prompting Discipline + Voice Mastery</a:t>
            </a:r>
            <a:endParaRPr lang="en-US" sz="1350" dirty="0"/>
          </a:p>
        </p:txBody>
      </p:sp>
      <p:sp>
        <p:nvSpPr>
          <p:cNvPr id="13" name="Text 11"/>
          <p:cNvSpPr/>
          <p:nvPr/>
        </p:nvSpPr>
        <p:spPr>
          <a:xfrm>
            <a:off x="3415284" y="2816352"/>
            <a:ext cx="2505456" cy="274320"/>
          </a:xfrm>
          <a:prstGeom prst="rect">
            <a:avLst/>
          </a:prstGeom>
          <a:noFill/>
          <a:ln/>
        </p:spPr>
        <p:txBody>
          <a:bodyPr wrap="square" rtlCol="0" anchor="ctr"/>
          <a:lstStyle/>
          <a:p>
            <a:pPr indent="0" marL="0">
              <a:buNone/>
            </a:pPr>
            <a:r>
              <a:rPr lang="en-US" sz="950" i="1" dirty="0">
                <a:solidFill>
                  <a:srgbClr val="5B6470"/>
                </a:solidFill>
                <a:latin typeface="Calibri" pitchFamily="34" charset="0"/>
                <a:ea typeface="Calibri" pitchFamily="34" charset="-122"/>
                <a:cs typeface="Calibri" pitchFamily="34" charset="-120"/>
              </a:rPr>
              <a:t>Proverbs 18:13</a:t>
            </a:r>
            <a:endParaRPr lang="en-US" sz="950" dirty="0"/>
          </a:p>
        </p:txBody>
      </p:sp>
      <p:sp>
        <p:nvSpPr>
          <p:cNvPr id="14" name="Shape 12"/>
          <p:cNvSpPr/>
          <p:nvPr/>
        </p:nvSpPr>
        <p:spPr>
          <a:xfrm>
            <a:off x="6149340" y="1737360"/>
            <a:ext cx="2743200" cy="1417320"/>
          </a:xfrm>
          <a:prstGeom prst="rect">
            <a:avLst/>
          </a:prstGeom>
          <a:solidFill>
            <a:srgbClr val="F4F1EA"/>
          </a:solidFill>
          <a:ln w="12700">
            <a:solidFill>
              <a:srgbClr val="D8DCE2"/>
            </a:solidFill>
            <a:prstDash val="solid"/>
          </a:ln>
        </p:spPr>
      </p:sp>
      <p:sp>
        <p:nvSpPr>
          <p:cNvPr id="15" name="Shape 13"/>
          <p:cNvSpPr/>
          <p:nvPr/>
        </p:nvSpPr>
        <p:spPr>
          <a:xfrm>
            <a:off x="6149340" y="1737360"/>
            <a:ext cx="2743200" cy="54864"/>
          </a:xfrm>
          <a:prstGeom prst="rect">
            <a:avLst/>
          </a:prstGeom>
          <a:solidFill>
            <a:srgbClr val="B8966B"/>
          </a:solidFill>
          <a:ln w="12700">
            <a:solidFill>
              <a:srgbClr val="B8966B"/>
            </a:solidFill>
            <a:prstDash val="solid"/>
          </a:ln>
        </p:spPr>
      </p:sp>
      <p:sp>
        <p:nvSpPr>
          <p:cNvPr id="16" name="Text 14"/>
          <p:cNvSpPr/>
          <p:nvPr/>
        </p:nvSpPr>
        <p:spPr>
          <a:xfrm>
            <a:off x="6268212" y="1828800"/>
            <a:ext cx="2505456" cy="256032"/>
          </a:xfrm>
          <a:prstGeom prst="rect">
            <a:avLst/>
          </a:prstGeom>
          <a:noFill/>
          <a:ln/>
        </p:spPr>
        <p:txBody>
          <a:bodyPr wrap="square" rtlCol="0" anchor="ctr"/>
          <a:lstStyle/>
          <a:p>
            <a:pPr indent="0" marL="0">
              <a:buNone/>
            </a:pPr>
            <a:r>
              <a:rPr lang="en-US" sz="900" b="1" spc="200" kern="0" dirty="0">
                <a:solidFill>
                  <a:srgbClr val="B8966B"/>
                </a:solidFill>
                <a:latin typeface="Calibri" pitchFamily="34" charset="0"/>
                <a:ea typeface="Calibri" pitchFamily="34" charset="-122"/>
                <a:cs typeface="Calibri" pitchFamily="34" charset="-120"/>
              </a:rPr>
              <a:t>WEEK 3 · BLOCK II</a:t>
            </a:r>
            <a:endParaRPr lang="en-US" sz="900" dirty="0"/>
          </a:p>
        </p:txBody>
      </p:sp>
      <p:sp>
        <p:nvSpPr>
          <p:cNvPr id="17" name="Text 15"/>
          <p:cNvSpPr/>
          <p:nvPr/>
        </p:nvSpPr>
        <p:spPr>
          <a:xfrm>
            <a:off x="6268212" y="2084832"/>
            <a:ext cx="2505456" cy="685800"/>
          </a:xfrm>
          <a:prstGeom prst="rect">
            <a:avLst/>
          </a:prstGeom>
          <a:noFill/>
          <a:ln/>
        </p:spPr>
        <p:txBody>
          <a:bodyPr wrap="square" rtlCol="0" anchor="ctr"/>
          <a:lstStyle/>
          <a:p>
            <a:pPr indent="0" marL="0">
              <a:buNone/>
            </a:pPr>
            <a:r>
              <a:rPr lang="en-US" sz="1350" b="1" dirty="0">
                <a:solidFill>
                  <a:srgbClr val="1B2A4A"/>
                </a:solidFill>
                <a:latin typeface="Calibri" pitchFamily="34" charset="0"/>
                <a:ea typeface="Calibri" pitchFamily="34" charset="-122"/>
                <a:cs typeface="Calibri" pitchFamily="34" charset="-120"/>
              </a:rPr>
              <a:t>Home Foundations</a:t>
            </a:r>
            <a:endParaRPr lang="en-US" sz="1350" dirty="0"/>
          </a:p>
        </p:txBody>
      </p:sp>
      <p:sp>
        <p:nvSpPr>
          <p:cNvPr id="18" name="Text 16"/>
          <p:cNvSpPr/>
          <p:nvPr/>
        </p:nvSpPr>
        <p:spPr>
          <a:xfrm>
            <a:off x="6268212" y="2816352"/>
            <a:ext cx="2505456" cy="274320"/>
          </a:xfrm>
          <a:prstGeom prst="rect">
            <a:avLst/>
          </a:prstGeom>
          <a:noFill/>
          <a:ln/>
        </p:spPr>
        <p:txBody>
          <a:bodyPr wrap="square" rtlCol="0" anchor="ctr"/>
          <a:lstStyle/>
          <a:p>
            <a:pPr indent="0" marL="0">
              <a:buNone/>
            </a:pPr>
            <a:r>
              <a:rPr lang="en-US" sz="950" i="1" dirty="0">
                <a:solidFill>
                  <a:srgbClr val="5B6470"/>
                </a:solidFill>
                <a:latin typeface="Calibri" pitchFamily="34" charset="0"/>
                <a:ea typeface="Calibri" pitchFamily="34" charset="-122"/>
                <a:cs typeface="Calibri" pitchFamily="34" charset="-120"/>
              </a:rPr>
              <a:t>Ephesians 5:25</a:t>
            </a:r>
            <a:endParaRPr lang="en-US" sz="950" dirty="0"/>
          </a:p>
        </p:txBody>
      </p:sp>
      <p:sp>
        <p:nvSpPr>
          <p:cNvPr id="19" name="Shape 17"/>
          <p:cNvSpPr/>
          <p:nvPr/>
        </p:nvSpPr>
        <p:spPr>
          <a:xfrm>
            <a:off x="9002268" y="1737360"/>
            <a:ext cx="2743200" cy="1417320"/>
          </a:xfrm>
          <a:prstGeom prst="rect">
            <a:avLst/>
          </a:prstGeom>
          <a:solidFill>
            <a:srgbClr val="F4F1EA"/>
          </a:solidFill>
          <a:ln w="12700">
            <a:solidFill>
              <a:srgbClr val="D8DCE2"/>
            </a:solidFill>
            <a:prstDash val="solid"/>
          </a:ln>
        </p:spPr>
      </p:sp>
      <p:sp>
        <p:nvSpPr>
          <p:cNvPr id="20" name="Shape 18"/>
          <p:cNvSpPr/>
          <p:nvPr/>
        </p:nvSpPr>
        <p:spPr>
          <a:xfrm>
            <a:off x="9002268" y="1737360"/>
            <a:ext cx="2743200" cy="54864"/>
          </a:xfrm>
          <a:prstGeom prst="rect">
            <a:avLst/>
          </a:prstGeom>
          <a:solidFill>
            <a:srgbClr val="B8966B"/>
          </a:solidFill>
          <a:ln w="12700">
            <a:solidFill>
              <a:srgbClr val="B8966B"/>
            </a:solidFill>
            <a:prstDash val="solid"/>
          </a:ln>
        </p:spPr>
      </p:sp>
      <p:sp>
        <p:nvSpPr>
          <p:cNvPr id="21" name="Text 19"/>
          <p:cNvSpPr/>
          <p:nvPr/>
        </p:nvSpPr>
        <p:spPr>
          <a:xfrm>
            <a:off x="9121140" y="1828800"/>
            <a:ext cx="2505456" cy="256032"/>
          </a:xfrm>
          <a:prstGeom prst="rect">
            <a:avLst/>
          </a:prstGeom>
          <a:noFill/>
          <a:ln/>
        </p:spPr>
        <p:txBody>
          <a:bodyPr wrap="square" rtlCol="0" anchor="ctr"/>
          <a:lstStyle/>
          <a:p>
            <a:pPr indent="0" marL="0">
              <a:buNone/>
            </a:pPr>
            <a:r>
              <a:rPr lang="en-US" sz="900" b="1" spc="200" kern="0" dirty="0">
                <a:solidFill>
                  <a:srgbClr val="B8966B"/>
                </a:solidFill>
                <a:latin typeface="Calibri" pitchFamily="34" charset="0"/>
                <a:ea typeface="Calibri" pitchFamily="34" charset="-122"/>
                <a:cs typeface="Calibri" pitchFamily="34" charset="-120"/>
              </a:rPr>
              <a:t>WEEK 4 · BLOCK II</a:t>
            </a:r>
            <a:endParaRPr lang="en-US" sz="900" dirty="0"/>
          </a:p>
        </p:txBody>
      </p:sp>
      <p:sp>
        <p:nvSpPr>
          <p:cNvPr id="22" name="Text 20"/>
          <p:cNvSpPr/>
          <p:nvPr/>
        </p:nvSpPr>
        <p:spPr>
          <a:xfrm>
            <a:off x="9121140" y="2084832"/>
            <a:ext cx="2505456" cy="685800"/>
          </a:xfrm>
          <a:prstGeom prst="rect">
            <a:avLst/>
          </a:prstGeom>
          <a:noFill/>
          <a:ln/>
        </p:spPr>
        <p:txBody>
          <a:bodyPr wrap="square" rtlCol="0" anchor="ctr"/>
          <a:lstStyle/>
          <a:p>
            <a:pPr indent="0" marL="0">
              <a:buNone/>
            </a:pPr>
            <a:r>
              <a:rPr lang="en-US" sz="1350" b="1" dirty="0">
                <a:solidFill>
                  <a:srgbClr val="1B2A4A"/>
                </a:solidFill>
                <a:latin typeface="Calibri" pitchFamily="34" charset="0"/>
                <a:ea typeface="Calibri" pitchFamily="34" charset="-122"/>
                <a:cs typeface="Calibri" pitchFamily="34" charset="-120"/>
              </a:rPr>
              <a:t>Home Systems &amp; Stewardship</a:t>
            </a:r>
            <a:endParaRPr lang="en-US" sz="1350" dirty="0"/>
          </a:p>
        </p:txBody>
      </p:sp>
      <p:sp>
        <p:nvSpPr>
          <p:cNvPr id="23" name="Text 21"/>
          <p:cNvSpPr/>
          <p:nvPr/>
        </p:nvSpPr>
        <p:spPr>
          <a:xfrm>
            <a:off x="9121140" y="2816352"/>
            <a:ext cx="2505456" cy="274320"/>
          </a:xfrm>
          <a:prstGeom prst="rect">
            <a:avLst/>
          </a:prstGeom>
          <a:noFill/>
          <a:ln/>
        </p:spPr>
        <p:txBody>
          <a:bodyPr wrap="square" rtlCol="0" anchor="ctr"/>
          <a:lstStyle/>
          <a:p>
            <a:pPr indent="0" marL="0">
              <a:buNone/>
            </a:pPr>
            <a:r>
              <a:rPr lang="en-US" sz="950" i="1" dirty="0">
                <a:solidFill>
                  <a:srgbClr val="5B6470"/>
                </a:solidFill>
                <a:latin typeface="Calibri" pitchFamily="34" charset="0"/>
                <a:ea typeface="Calibri" pitchFamily="34" charset="-122"/>
                <a:cs typeface="Calibri" pitchFamily="34" charset="-120"/>
              </a:rPr>
              <a:t>1 Timothy 3:4–5</a:t>
            </a:r>
            <a:endParaRPr lang="en-US" sz="950" dirty="0"/>
          </a:p>
        </p:txBody>
      </p:sp>
      <p:sp>
        <p:nvSpPr>
          <p:cNvPr id="24" name="Shape 22"/>
          <p:cNvSpPr/>
          <p:nvPr/>
        </p:nvSpPr>
        <p:spPr>
          <a:xfrm>
            <a:off x="443484" y="3264408"/>
            <a:ext cx="2743200" cy="1417320"/>
          </a:xfrm>
          <a:prstGeom prst="rect">
            <a:avLst/>
          </a:prstGeom>
          <a:solidFill>
            <a:srgbClr val="F4F1EA"/>
          </a:solidFill>
          <a:ln w="12700">
            <a:solidFill>
              <a:srgbClr val="D8DCE2"/>
            </a:solidFill>
            <a:prstDash val="solid"/>
          </a:ln>
        </p:spPr>
      </p:sp>
      <p:sp>
        <p:nvSpPr>
          <p:cNvPr id="25" name="Shape 23"/>
          <p:cNvSpPr/>
          <p:nvPr/>
        </p:nvSpPr>
        <p:spPr>
          <a:xfrm>
            <a:off x="443484" y="3264408"/>
            <a:ext cx="2743200" cy="54864"/>
          </a:xfrm>
          <a:prstGeom prst="rect">
            <a:avLst/>
          </a:prstGeom>
          <a:solidFill>
            <a:srgbClr val="A8742A"/>
          </a:solidFill>
          <a:ln w="12700">
            <a:solidFill>
              <a:srgbClr val="A8742A"/>
            </a:solidFill>
            <a:prstDash val="solid"/>
          </a:ln>
        </p:spPr>
      </p:sp>
      <p:sp>
        <p:nvSpPr>
          <p:cNvPr id="26" name="Text 24"/>
          <p:cNvSpPr/>
          <p:nvPr/>
        </p:nvSpPr>
        <p:spPr>
          <a:xfrm>
            <a:off x="562356" y="3355848"/>
            <a:ext cx="2505456" cy="256032"/>
          </a:xfrm>
          <a:prstGeom prst="rect">
            <a:avLst/>
          </a:prstGeom>
          <a:noFill/>
          <a:ln/>
        </p:spPr>
        <p:txBody>
          <a:bodyPr wrap="square" rtlCol="0" anchor="ctr"/>
          <a:lstStyle/>
          <a:p>
            <a:pPr indent="0" marL="0">
              <a:buNone/>
            </a:pPr>
            <a:r>
              <a:rPr lang="en-US" sz="900" b="1" spc="200" kern="0" dirty="0">
                <a:solidFill>
                  <a:srgbClr val="A8742A"/>
                </a:solidFill>
                <a:latin typeface="Calibri" pitchFamily="34" charset="0"/>
                <a:ea typeface="Calibri" pitchFamily="34" charset="-122"/>
                <a:cs typeface="Calibri" pitchFamily="34" charset="-120"/>
              </a:rPr>
              <a:t>WEEK 5 · BLOCK III</a:t>
            </a:r>
            <a:endParaRPr lang="en-US" sz="900" dirty="0"/>
          </a:p>
        </p:txBody>
      </p:sp>
      <p:sp>
        <p:nvSpPr>
          <p:cNvPr id="27" name="Text 25"/>
          <p:cNvSpPr/>
          <p:nvPr/>
        </p:nvSpPr>
        <p:spPr>
          <a:xfrm>
            <a:off x="562356" y="3611880"/>
            <a:ext cx="2505456" cy="685800"/>
          </a:xfrm>
          <a:prstGeom prst="rect">
            <a:avLst/>
          </a:prstGeom>
          <a:noFill/>
          <a:ln/>
        </p:spPr>
        <p:txBody>
          <a:bodyPr wrap="square" rtlCol="0" anchor="ctr"/>
          <a:lstStyle/>
          <a:p>
            <a:pPr indent="0" marL="0">
              <a:buNone/>
            </a:pPr>
            <a:r>
              <a:rPr lang="en-US" sz="1350" b="1" dirty="0">
                <a:solidFill>
                  <a:srgbClr val="1B2A4A"/>
                </a:solidFill>
                <a:latin typeface="Calibri" pitchFamily="34" charset="0"/>
                <a:ea typeface="Calibri" pitchFamily="34" charset="-122"/>
                <a:cs typeface="Calibri" pitchFamily="34" charset="-120"/>
              </a:rPr>
              <a:t>Operator Foundations</a:t>
            </a:r>
            <a:endParaRPr lang="en-US" sz="1350" dirty="0"/>
          </a:p>
        </p:txBody>
      </p:sp>
      <p:sp>
        <p:nvSpPr>
          <p:cNvPr id="28" name="Text 26"/>
          <p:cNvSpPr/>
          <p:nvPr/>
        </p:nvSpPr>
        <p:spPr>
          <a:xfrm>
            <a:off x="562356" y="4343400"/>
            <a:ext cx="2505456" cy="274320"/>
          </a:xfrm>
          <a:prstGeom prst="rect">
            <a:avLst/>
          </a:prstGeom>
          <a:noFill/>
          <a:ln/>
        </p:spPr>
        <p:txBody>
          <a:bodyPr wrap="square" rtlCol="0" anchor="ctr"/>
          <a:lstStyle/>
          <a:p>
            <a:pPr indent="0" marL="0">
              <a:buNone/>
            </a:pPr>
            <a:r>
              <a:rPr lang="en-US" sz="950" i="1" dirty="0">
                <a:solidFill>
                  <a:srgbClr val="5B6470"/>
                </a:solidFill>
                <a:latin typeface="Calibri" pitchFamily="34" charset="0"/>
                <a:ea typeface="Calibri" pitchFamily="34" charset="-122"/>
                <a:cs typeface="Calibri" pitchFamily="34" charset="-120"/>
              </a:rPr>
              <a:t>1 Corinthians 6:19–20</a:t>
            </a:r>
            <a:endParaRPr lang="en-US" sz="950" dirty="0"/>
          </a:p>
        </p:txBody>
      </p:sp>
      <p:sp>
        <p:nvSpPr>
          <p:cNvPr id="29" name="Shape 27"/>
          <p:cNvSpPr/>
          <p:nvPr/>
        </p:nvSpPr>
        <p:spPr>
          <a:xfrm>
            <a:off x="3296412" y="3264408"/>
            <a:ext cx="2743200" cy="1417320"/>
          </a:xfrm>
          <a:prstGeom prst="rect">
            <a:avLst/>
          </a:prstGeom>
          <a:solidFill>
            <a:srgbClr val="F4F1EA"/>
          </a:solidFill>
          <a:ln w="12700">
            <a:solidFill>
              <a:srgbClr val="D8DCE2"/>
            </a:solidFill>
            <a:prstDash val="solid"/>
          </a:ln>
        </p:spPr>
      </p:sp>
      <p:sp>
        <p:nvSpPr>
          <p:cNvPr id="30" name="Shape 28"/>
          <p:cNvSpPr/>
          <p:nvPr/>
        </p:nvSpPr>
        <p:spPr>
          <a:xfrm>
            <a:off x="3296412" y="3264408"/>
            <a:ext cx="2743200" cy="54864"/>
          </a:xfrm>
          <a:prstGeom prst="rect">
            <a:avLst/>
          </a:prstGeom>
          <a:solidFill>
            <a:srgbClr val="A8742A"/>
          </a:solidFill>
          <a:ln w="12700">
            <a:solidFill>
              <a:srgbClr val="A8742A"/>
            </a:solidFill>
            <a:prstDash val="solid"/>
          </a:ln>
        </p:spPr>
      </p:sp>
      <p:sp>
        <p:nvSpPr>
          <p:cNvPr id="31" name="Text 29"/>
          <p:cNvSpPr/>
          <p:nvPr/>
        </p:nvSpPr>
        <p:spPr>
          <a:xfrm>
            <a:off x="3415284" y="3355848"/>
            <a:ext cx="2505456" cy="256032"/>
          </a:xfrm>
          <a:prstGeom prst="rect">
            <a:avLst/>
          </a:prstGeom>
          <a:noFill/>
          <a:ln/>
        </p:spPr>
        <p:txBody>
          <a:bodyPr wrap="square" rtlCol="0" anchor="ctr"/>
          <a:lstStyle/>
          <a:p>
            <a:pPr indent="0" marL="0">
              <a:buNone/>
            </a:pPr>
            <a:r>
              <a:rPr lang="en-US" sz="900" b="1" spc="200" kern="0" dirty="0">
                <a:solidFill>
                  <a:srgbClr val="A8742A"/>
                </a:solidFill>
                <a:latin typeface="Calibri" pitchFamily="34" charset="0"/>
                <a:ea typeface="Calibri" pitchFamily="34" charset="-122"/>
                <a:cs typeface="Calibri" pitchFamily="34" charset="-120"/>
              </a:rPr>
              <a:t>WEEK 6 · BLOCK III</a:t>
            </a:r>
            <a:endParaRPr lang="en-US" sz="900" dirty="0"/>
          </a:p>
        </p:txBody>
      </p:sp>
      <p:sp>
        <p:nvSpPr>
          <p:cNvPr id="32" name="Text 30"/>
          <p:cNvSpPr/>
          <p:nvPr/>
        </p:nvSpPr>
        <p:spPr>
          <a:xfrm>
            <a:off x="3415284" y="3611880"/>
            <a:ext cx="2505456" cy="685800"/>
          </a:xfrm>
          <a:prstGeom prst="rect">
            <a:avLst/>
          </a:prstGeom>
          <a:noFill/>
          <a:ln/>
        </p:spPr>
        <p:txBody>
          <a:bodyPr wrap="square" rtlCol="0" anchor="ctr"/>
          <a:lstStyle/>
          <a:p>
            <a:pPr indent="0" marL="0">
              <a:buNone/>
            </a:pPr>
            <a:r>
              <a:rPr lang="en-US" sz="1350" b="1" dirty="0">
                <a:solidFill>
                  <a:srgbClr val="1B2A4A"/>
                </a:solidFill>
                <a:latin typeface="Calibri" pitchFamily="34" charset="0"/>
                <a:ea typeface="Calibri" pitchFamily="34" charset="-122"/>
                <a:cs typeface="Calibri" pitchFamily="34" charset="-120"/>
              </a:rPr>
              <a:t>Business Operations &amp; Stewardship</a:t>
            </a:r>
            <a:endParaRPr lang="en-US" sz="1350" dirty="0"/>
          </a:p>
        </p:txBody>
      </p:sp>
      <p:sp>
        <p:nvSpPr>
          <p:cNvPr id="33" name="Text 31"/>
          <p:cNvSpPr/>
          <p:nvPr/>
        </p:nvSpPr>
        <p:spPr>
          <a:xfrm>
            <a:off x="3415284" y="4343400"/>
            <a:ext cx="2505456" cy="274320"/>
          </a:xfrm>
          <a:prstGeom prst="rect">
            <a:avLst/>
          </a:prstGeom>
          <a:noFill/>
          <a:ln/>
        </p:spPr>
        <p:txBody>
          <a:bodyPr wrap="square" rtlCol="0" anchor="ctr"/>
          <a:lstStyle/>
          <a:p>
            <a:pPr indent="0" marL="0">
              <a:buNone/>
            </a:pPr>
            <a:r>
              <a:rPr lang="en-US" sz="950" i="1" dirty="0">
                <a:solidFill>
                  <a:srgbClr val="5B6470"/>
                </a:solidFill>
                <a:latin typeface="Calibri" pitchFamily="34" charset="0"/>
                <a:ea typeface="Calibri" pitchFamily="34" charset="-122"/>
                <a:cs typeface="Calibri" pitchFamily="34" charset="-120"/>
              </a:rPr>
              <a:t>Luke 16:10–11</a:t>
            </a:r>
            <a:endParaRPr lang="en-US" sz="950" dirty="0"/>
          </a:p>
        </p:txBody>
      </p:sp>
      <p:sp>
        <p:nvSpPr>
          <p:cNvPr id="34" name="Shape 32"/>
          <p:cNvSpPr/>
          <p:nvPr/>
        </p:nvSpPr>
        <p:spPr>
          <a:xfrm>
            <a:off x="6149340" y="3264408"/>
            <a:ext cx="2743200" cy="1417320"/>
          </a:xfrm>
          <a:prstGeom prst="rect">
            <a:avLst/>
          </a:prstGeom>
          <a:solidFill>
            <a:srgbClr val="F4F1EA"/>
          </a:solidFill>
          <a:ln w="12700">
            <a:solidFill>
              <a:srgbClr val="D8DCE2"/>
            </a:solidFill>
            <a:prstDash val="solid"/>
          </a:ln>
        </p:spPr>
      </p:sp>
      <p:sp>
        <p:nvSpPr>
          <p:cNvPr id="35" name="Shape 33"/>
          <p:cNvSpPr/>
          <p:nvPr/>
        </p:nvSpPr>
        <p:spPr>
          <a:xfrm>
            <a:off x="6149340" y="3264408"/>
            <a:ext cx="2743200" cy="54864"/>
          </a:xfrm>
          <a:prstGeom prst="rect">
            <a:avLst/>
          </a:prstGeom>
          <a:solidFill>
            <a:srgbClr val="A8742A"/>
          </a:solidFill>
          <a:ln w="12700">
            <a:solidFill>
              <a:srgbClr val="A8742A"/>
            </a:solidFill>
            <a:prstDash val="solid"/>
          </a:ln>
        </p:spPr>
      </p:sp>
      <p:sp>
        <p:nvSpPr>
          <p:cNvPr id="36" name="Text 34"/>
          <p:cNvSpPr/>
          <p:nvPr/>
        </p:nvSpPr>
        <p:spPr>
          <a:xfrm>
            <a:off x="6268212" y="3355848"/>
            <a:ext cx="2505456" cy="256032"/>
          </a:xfrm>
          <a:prstGeom prst="rect">
            <a:avLst/>
          </a:prstGeom>
          <a:noFill/>
          <a:ln/>
        </p:spPr>
        <p:txBody>
          <a:bodyPr wrap="square" rtlCol="0" anchor="ctr"/>
          <a:lstStyle/>
          <a:p>
            <a:pPr indent="0" marL="0">
              <a:buNone/>
            </a:pPr>
            <a:r>
              <a:rPr lang="en-US" sz="900" b="1" spc="200" kern="0" dirty="0">
                <a:solidFill>
                  <a:srgbClr val="A8742A"/>
                </a:solidFill>
                <a:latin typeface="Calibri" pitchFamily="34" charset="0"/>
                <a:ea typeface="Calibri" pitchFamily="34" charset="-122"/>
                <a:cs typeface="Calibri" pitchFamily="34" charset="-120"/>
              </a:rPr>
              <a:t>WEEK 7 · BLOCK III</a:t>
            </a:r>
            <a:endParaRPr lang="en-US" sz="900" dirty="0"/>
          </a:p>
        </p:txBody>
      </p:sp>
      <p:sp>
        <p:nvSpPr>
          <p:cNvPr id="37" name="Text 35"/>
          <p:cNvSpPr/>
          <p:nvPr/>
        </p:nvSpPr>
        <p:spPr>
          <a:xfrm>
            <a:off x="6268212" y="3611880"/>
            <a:ext cx="2505456" cy="685800"/>
          </a:xfrm>
          <a:prstGeom prst="rect">
            <a:avLst/>
          </a:prstGeom>
          <a:noFill/>
          <a:ln/>
        </p:spPr>
        <p:txBody>
          <a:bodyPr wrap="square" rtlCol="0" anchor="ctr"/>
          <a:lstStyle/>
          <a:p>
            <a:pPr indent="0" marL="0">
              <a:buNone/>
            </a:pPr>
            <a:r>
              <a:rPr lang="en-US" sz="1350" b="1" dirty="0">
                <a:solidFill>
                  <a:srgbClr val="1B2A4A"/>
                </a:solidFill>
                <a:latin typeface="Calibri" pitchFamily="34" charset="0"/>
                <a:ea typeface="Calibri" pitchFamily="34" charset="-122"/>
                <a:cs typeface="Calibri" pitchFamily="34" charset="-120"/>
              </a:rPr>
              <a:t>Cowork as Operator Infra</a:t>
            </a:r>
            <a:endParaRPr lang="en-US" sz="1350" dirty="0"/>
          </a:p>
        </p:txBody>
      </p:sp>
      <p:sp>
        <p:nvSpPr>
          <p:cNvPr id="38" name="Text 36"/>
          <p:cNvSpPr/>
          <p:nvPr/>
        </p:nvSpPr>
        <p:spPr>
          <a:xfrm>
            <a:off x="6268212" y="4343400"/>
            <a:ext cx="2505456" cy="274320"/>
          </a:xfrm>
          <a:prstGeom prst="rect">
            <a:avLst/>
          </a:prstGeom>
          <a:noFill/>
          <a:ln/>
        </p:spPr>
        <p:txBody>
          <a:bodyPr wrap="square" rtlCol="0" anchor="ctr"/>
          <a:lstStyle/>
          <a:p>
            <a:pPr indent="0" marL="0">
              <a:buNone/>
            </a:pPr>
            <a:r>
              <a:rPr lang="en-US" sz="950" i="1" dirty="0">
                <a:solidFill>
                  <a:srgbClr val="5B6470"/>
                </a:solidFill>
                <a:latin typeface="Calibri" pitchFamily="34" charset="0"/>
                <a:ea typeface="Calibri" pitchFamily="34" charset="-122"/>
                <a:cs typeface="Calibri" pitchFamily="34" charset="-120"/>
              </a:rPr>
              <a:t>Proverbs 16:3</a:t>
            </a:r>
            <a:endParaRPr lang="en-US" sz="950" dirty="0"/>
          </a:p>
        </p:txBody>
      </p:sp>
      <p:sp>
        <p:nvSpPr>
          <p:cNvPr id="39" name="Shape 37"/>
          <p:cNvSpPr/>
          <p:nvPr/>
        </p:nvSpPr>
        <p:spPr>
          <a:xfrm>
            <a:off x="9002268" y="3264408"/>
            <a:ext cx="2743200" cy="1417320"/>
          </a:xfrm>
          <a:prstGeom prst="rect">
            <a:avLst/>
          </a:prstGeom>
          <a:solidFill>
            <a:srgbClr val="F4F1EA"/>
          </a:solidFill>
          <a:ln w="12700">
            <a:solidFill>
              <a:srgbClr val="D8DCE2"/>
            </a:solidFill>
            <a:prstDash val="solid"/>
          </a:ln>
        </p:spPr>
      </p:sp>
      <p:sp>
        <p:nvSpPr>
          <p:cNvPr id="40" name="Shape 38"/>
          <p:cNvSpPr/>
          <p:nvPr/>
        </p:nvSpPr>
        <p:spPr>
          <a:xfrm>
            <a:off x="9002268" y="3264408"/>
            <a:ext cx="2743200" cy="54864"/>
          </a:xfrm>
          <a:prstGeom prst="rect">
            <a:avLst/>
          </a:prstGeom>
          <a:solidFill>
            <a:srgbClr val="A8742A"/>
          </a:solidFill>
          <a:ln w="12700">
            <a:solidFill>
              <a:srgbClr val="A8742A"/>
            </a:solidFill>
            <a:prstDash val="solid"/>
          </a:ln>
        </p:spPr>
      </p:sp>
      <p:sp>
        <p:nvSpPr>
          <p:cNvPr id="41" name="Text 39"/>
          <p:cNvSpPr/>
          <p:nvPr/>
        </p:nvSpPr>
        <p:spPr>
          <a:xfrm>
            <a:off x="9121140" y="3355848"/>
            <a:ext cx="2505456" cy="256032"/>
          </a:xfrm>
          <a:prstGeom prst="rect">
            <a:avLst/>
          </a:prstGeom>
          <a:noFill/>
          <a:ln/>
        </p:spPr>
        <p:txBody>
          <a:bodyPr wrap="square" rtlCol="0" anchor="ctr"/>
          <a:lstStyle/>
          <a:p>
            <a:pPr indent="0" marL="0">
              <a:buNone/>
            </a:pPr>
            <a:r>
              <a:rPr lang="en-US" sz="900" b="1" spc="200" kern="0" dirty="0">
                <a:solidFill>
                  <a:srgbClr val="A8742A"/>
                </a:solidFill>
                <a:latin typeface="Calibri" pitchFamily="34" charset="0"/>
                <a:ea typeface="Calibri" pitchFamily="34" charset="-122"/>
                <a:cs typeface="Calibri" pitchFamily="34" charset="-120"/>
              </a:rPr>
              <a:t>WEEK 8 · BLOCK III</a:t>
            </a:r>
            <a:endParaRPr lang="en-US" sz="900" dirty="0"/>
          </a:p>
        </p:txBody>
      </p:sp>
      <p:sp>
        <p:nvSpPr>
          <p:cNvPr id="42" name="Text 40"/>
          <p:cNvSpPr/>
          <p:nvPr/>
        </p:nvSpPr>
        <p:spPr>
          <a:xfrm>
            <a:off x="9121140" y="3611880"/>
            <a:ext cx="2505456" cy="685800"/>
          </a:xfrm>
          <a:prstGeom prst="rect">
            <a:avLst/>
          </a:prstGeom>
          <a:noFill/>
          <a:ln/>
        </p:spPr>
        <p:txBody>
          <a:bodyPr wrap="square" rtlCol="0" anchor="ctr"/>
          <a:lstStyle/>
          <a:p>
            <a:pPr indent="0" marL="0">
              <a:buNone/>
            </a:pPr>
            <a:r>
              <a:rPr lang="en-US" sz="1350" b="1" dirty="0">
                <a:solidFill>
                  <a:srgbClr val="1B2A4A"/>
                </a:solidFill>
                <a:latin typeface="Calibri" pitchFamily="34" charset="0"/>
                <a:ea typeface="Calibri" pitchFamily="34" charset="-122"/>
                <a:cs typeface="Calibri" pitchFamily="34" charset="-120"/>
              </a:rPr>
              <a:t>Operator Output</a:t>
            </a:r>
            <a:endParaRPr lang="en-US" sz="1350" dirty="0"/>
          </a:p>
        </p:txBody>
      </p:sp>
      <p:sp>
        <p:nvSpPr>
          <p:cNvPr id="43" name="Text 41"/>
          <p:cNvSpPr/>
          <p:nvPr/>
        </p:nvSpPr>
        <p:spPr>
          <a:xfrm>
            <a:off x="9121140" y="4343400"/>
            <a:ext cx="2505456" cy="274320"/>
          </a:xfrm>
          <a:prstGeom prst="rect">
            <a:avLst/>
          </a:prstGeom>
          <a:noFill/>
          <a:ln/>
        </p:spPr>
        <p:txBody>
          <a:bodyPr wrap="square" rtlCol="0" anchor="ctr"/>
          <a:lstStyle/>
          <a:p>
            <a:pPr indent="0" marL="0">
              <a:buNone/>
            </a:pPr>
            <a:r>
              <a:rPr lang="en-US" sz="950" i="1" dirty="0">
                <a:solidFill>
                  <a:srgbClr val="5B6470"/>
                </a:solidFill>
                <a:latin typeface="Calibri" pitchFamily="34" charset="0"/>
                <a:ea typeface="Calibri" pitchFamily="34" charset="-122"/>
                <a:cs typeface="Calibri" pitchFamily="34" charset="-120"/>
              </a:rPr>
              <a:t>Colossians 3:23</a:t>
            </a:r>
            <a:endParaRPr lang="en-US" sz="950" dirty="0"/>
          </a:p>
        </p:txBody>
      </p:sp>
      <p:sp>
        <p:nvSpPr>
          <p:cNvPr id="44" name="Shape 42"/>
          <p:cNvSpPr/>
          <p:nvPr/>
        </p:nvSpPr>
        <p:spPr>
          <a:xfrm>
            <a:off x="443484" y="4791456"/>
            <a:ext cx="2743200" cy="1417320"/>
          </a:xfrm>
          <a:prstGeom prst="rect">
            <a:avLst/>
          </a:prstGeom>
          <a:solidFill>
            <a:srgbClr val="F4F1EA"/>
          </a:solidFill>
          <a:ln w="12700">
            <a:solidFill>
              <a:srgbClr val="D8DCE2"/>
            </a:solidFill>
            <a:prstDash val="solid"/>
          </a:ln>
        </p:spPr>
      </p:sp>
      <p:sp>
        <p:nvSpPr>
          <p:cNvPr id="45" name="Shape 43"/>
          <p:cNvSpPr/>
          <p:nvPr/>
        </p:nvSpPr>
        <p:spPr>
          <a:xfrm>
            <a:off x="443484" y="4791456"/>
            <a:ext cx="2743200" cy="54864"/>
          </a:xfrm>
          <a:prstGeom prst="rect">
            <a:avLst/>
          </a:prstGeom>
          <a:solidFill>
            <a:srgbClr val="3B5998"/>
          </a:solidFill>
          <a:ln w="12700">
            <a:solidFill>
              <a:srgbClr val="3B5998"/>
            </a:solidFill>
            <a:prstDash val="solid"/>
          </a:ln>
        </p:spPr>
      </p:sp>
      <p:sp>
        <p:nvSpPr>
          <p:cNvPr id="46" name="Text 44"/>
          <p:cNvSpPr/>
          <p:nvPr/>
        </p:nvSpPr>
        <p:spPr>
          <a:xfrm>
            <a:off x="562356" y="4882896"/>
            <a:ext cx="2505456" cy="256032"/>
          </a:xfrm>
          <a:prstGeom prst="rect">
            <a:avLst/>
          </a:prstGeom>
          <a:noFill/>
          <a:ln/>
        </p:spPr>
        <p:txBody>
          <a:bodyPr wrap="square" rtlCol="0" anchor="ctr"/>
          <a:lstStyle/>
          <a:p>
            <a:pPr indent="0" marL="0">
              <a:buNone/>
            </a:pPr>
            <a:r>
              <a:rPr lang="en-US" sz="900" b="1" spc="200" kern="0" dirty="0">
                <a:solidFill>
                  <a:srgbClr val="3B5998"/>
                </a:solidFill>
                <a:latin typeface="Calibri" pitchFamily="34" charset="0"/>
                <a:ea typeface="Calibri" pitchFamily="34" charset="-122"/>
                <a:cs typeface="Calibri" pitchFamily="34" charset="-120"/>
              </a:rPr>
              <a:t>WEEK 9 · BLOCK IV</a:t>
            </a:r>
            <a:endParaRPr lang="en-US" sz="900" dirty="0"/>
          </a:p>
        </p:txBody>
      </p:sp>
      <p:sp>
        <p:nvSpPr>
          <p:cNvPr id="47" name="Text 45"/>
          <p:cNvSpPr/>
          <p:nvPr/>
        </p:nvSpPr>
        <p:spPr>
          <a:xfrm>
            <a:off x="562356" y="5138928"/>
            <a:ext cx="2505456" cy="685800"/>
          </a:xfrm>
          <a:prstGeom prst="rect">
            <a:avLst/>
          </a:prstGeom>
          <a:noFill/>
          <a:ln/>
        </p:spPr>
        <p:txBody>
          <a:bodyPr wrap="square" rtlCol="0" anchor="ctr"/>
          <a:lstStyle/>
          <a:p>
            <a:pPr indent="0" marL="0">
              <a:buNone/>
            </a:pPr>
            <a:r>
              <a:rPr lang="en-US" sz="1350" b="1" dirty="0">
                <a:solidFill>
                  <a:srgbClr val="1B2A4A"/>
                </a:solidFill>
                <a:latin typeface="Calibri" pitchFamily="34" charset="0"/>
                <a:ea typeface="Calibri" pitchFamily="34" charset="-122"/>
                <a:cs typeface="Calibri" pitchFamily="34" charset="-120"/>
              </a:rPr>
              <a:t>Ministry Tools</a:t>
            </a:r>
            <a:endParaRPr lang="en-US" sz="1350" dirty="0"/>
          </a:p>
        </p:txBody>
      </p:sp>
      <p:sp>
        <p:nvSpPr>
          <p:cNvPr id="48" name="Text 46"/>
          <p:cNvSpPr/>
          <p:nvPr/>
        </p:nvSpPr>
        <p:spPr>
          <a:xfrm>
            <a:off x="562356" y="5870448"/>
            <a:ext cx="2505456" cy="274320"/>
          </a:xfrm>
          <a:prstGeom prst="rect">
            <a:avLst/>
          </a:prstGeom>
          <a:noFill/>
          <a:ln/>
        </p:spPr>
        <p:txBody>
          <a:bodyPr wrap="square" rtlCol="0" anchor="ctr"/>
          <a:lstStyle/>
          <a:p>
            <a:pPr indent="0" marL="0">
              <a:buNone/>
            </a:pPr>
            <a:r>
              <a:rPr lang="en-US" sz="950" i="1" dirty="0">
                <a:solidFill>
                  <a:srgbClr val="5B6470"/>
                </a:solidFill>
                <a:latin typeface="Calibri" pitchFamily="34" charset="0"/>
                <a:ea typeface="Calibri" pitchFamily="34" charset="-122"/>
                <a:cs typeface="Calibri" pitchFamily="34" charset="-120"/>
              </a:rPr>
              <a:t>2 Timothy 3:16–17</a:t>
            </a:r>
            <a:endParaRPr lang="en-US" sz="950" dirty="0"/>
          </a:p>
        </p:txBody>
      </p:sp>
      <p:sp>
        <p:nvSpPr>
          <p:cNvPr id="49" name="Shape 47"/>
          <p:cNvSpPr/>
          <p:nvPr/>
        </p:nvSpPr>
        <p:spPr>
          <a:xfrm>
            <a:off x="3296412" y="4791456"/>
            <a:ext cx="2743200" cy="1417320"/>
          </a:xfrm>
          <a:prstGeom prst="rect">
            <a:avLst/>
          </a:prstGeom>
          <a:solidFill>
            <a:srgbClr val="F4F1EA"/>
          </a:solidFill>
          <a:ln w="12700">
            <a:solidFill>
              <a:srgbClr val="D8DCE2"/>
            </a:solidFill>
            <a:prstDash val="solid"/>
          </a:ln>
        </p:spPr>
      </p:sp>
      <p:sp>
        <p:nvSpPr>
          <p:cNvPr id="50" name="Shape 48"/>
          <p:cNvSpPr/>
          <p:nvPr/>
        </p:nvSpPr>
        <p:spPr>
          <a:xfrm>
            <a:off x="3296412" y="4791456"/>
            <a:ext cx="2743200" cy="54864"/>
          </a:xfrm>
          <a:prstGeom prst="rect">
            <a:avLst/>
          </a:prstGeom>
          <a:solidFill>
            <a:srgbClr val="3B5998"/>
          </a:solidFill>
          <a:ln w="12700">
            <a:solidFill>
              <a:srgbClr val="3B5998"/>
            </a:solidFill>
            <a:prstDash val="solid"/>
          </a:ln>
        </p:spPr>
      </p:sp>
      <p:sp>
        <p:nvSpPr>
          <p:cNvPr id="51" name="Text 49"/>
          <p:cNvSpPr/>
          <p:nvPr/>
        </p:nvSpPr>
        <p:spPr>
          <a:xfrm>
            <a:off x="3415284" y="4882896"/>
            <a:ext cx="2505456" cy="256032"/>
          </a:xfrm>
          <a:prstGeom prst="rect">
            <a:avLst/>
          </a:prstGeom>
          <a:noFill/>
          <a:ln/>
        </p:spPr>
        <p:txBody>
          <a:bodyPr wrap="square" rtlCol="0" anchor="ctr"/>
          <a:lstStyle/>
          <a:p>
            <a:pPr indent="0" marL="0">
              <a:buNone/>
            </a:pPr>
            <a:r>
              <a:rPr lang="en-US" sz="900" b="1" spc="200" kern="0" dirty="0">
                <a:solidFill>
                  <a:srgbClr val="3B5998"/>
                </a:solidFill>
                <a:latin typeface="Calibri" pitchFamily="34" charset="0"/>
                <a:ea typeface="Calibri" pitchFamily="34" charset="-122"/>
                <a:cs typeface="Calibri" pitchFamily="34" charset="-120"/>
              </a:rPr>
              <a:t>WEEK 10 · BLOCK IV</a:t>
            </a:r>
            <a:endParaRPr lang="en-US" sz="900" dirty="0"/>
          </a:p>
        </p:txBody>
      </p:sp>
      <p:sp>
        <p:nvSpPr>
          <p:cNvPr id="52" name="Text 50"/>
          <p:cNvSpPr/>
          <p:nvPr/>
        </p:nvSpPr>
        <p:spPr>
          <a:xfrm>
            <a:off x="3415284" y="5138928"/>
            <a:ext cx="2505456" cy="685800"/>
          </a:xfrm>
          <a:prstGeom prst="rect">
            <a:avLst/>
          </a:prstGeom>
          <a:noFill/>
          <a:ln/>
        </p:spPr>
        <p:txBody>
          <a:bodyPr wrap="square" rtlCol="0" anchor="ctr"/>
          <a:lstStyle/>
          <a:p>
            <a:pPr indent="0" marL="0">
              <a:buNone/>
            </a:pPr>
            <a:r>
              <a:rPr lang="en-US" sz="1350" b="1" dirty="0">
                <a:solidFill>
                  <a:srgbClr val="1B2A4A"/>
                </a:solidFill>
                <a:latin typeface="Calibri" pitchFamily="34" charset="0"/>
                <a:ea typeface="Calibri" pitchFamily="34" charset="-122"/>
                <a:cs typeface="Calibri" pitchFamily="34" charset="-120"/>
              </a:rPr>
              <a:t>Discipleship at Scale</a:t>
            </a:r>
            <a:endParaRPr lang="en-US" sz="1350" dirty="0"/>
          </a:p>
        </p:txBody>
      </p:sp>
      <p:sp>
        <p:nvSpPr>
          <p:cNvPr id="53" name="Text 51"/>
          <p:cNvSpPr/>
          <p:nvPr/>
        </p:nvSpPr>
        <p:spPr>
          <a:xfrm>
            <a:off x="3415284" y="5870448"/>
            <a:ext cx="2505456" cy="274320"/>
          </a:xfrm>
          <a:prstGeom prst="rect">
            <a:avLst/>
          </a:prstGeom>
          <a:noFill/>
          <a:ln/>
        </p:spPr>
        <p:txBody>
          <a:bodyPr wrap="square" rtlCol="0" anchor="ctr"/>
          <a:lstStyle/>
          <a:p>
            <a:pPr indent="0" marL="0">
              <a:buNone/>
            </a:pPr>
            <a:r>
              <a:rPr lang="en-US" sz="950" i="1" dirty="0">
                <a:solidFill>
                  <a:srgbClr val="5B6470"/>
                </a:solidFill>
                <a:latin typeface="Calibri" pitchFamily="34" charset="0"/>
                <a:ea typeface="Calibri" pitchFamily="34" charset="-122"/>
                <a:cs typeface="Calibri" pitchFamily="34" charset="-120"/>
              </a:rPr>
              <a:t>2 Timothy 2:2</a:t>
            </a:r>
            <a:endParaRPr lang="en-US" sz="950" dirty="0"/>
          </a:p>
        </p:txBody>
      </p:sp>
      <p:sp>
        <p:nvSpPr>
          <p:cNvPr id="54" name="Shape 52"/>
          <p:cNvSpPr/>
          <p:nvPr/>
        </p:nvSpPr>
        <p:spPr>
          <a:xfrm>
            <a:off x="6149340" y="4791456"/>
            <a:ext cx="2743200" cy="1417320"/>
          </a:xfrm>
          <a:prstGeom prst="rect">
            <a:avLst/>
          </a:prstGeom>
          <a:solidFill>
            <a:srgbClr val="F4F1EA"/>
          </a:solidFill>
          <a:ln w="12700">
            <a:solidFill>
              <a:srgbClr val="D8DCE2"/>
            </a:solidFill>
            <a:prstDash val="solid"/>
          </a:ln>
        </p:spPr>
      </p:sp>
      <p:sp>
        <p:nvSpPr>
          <p:cNvPr id="55" name="Shape 53"/>
          <p:cNvSpPr/>
          <p:nvPr/>
        </p:nvSpPr>
        <p:spPr>
          <a:xfrm>
            <a:off x="6149340" y="4791456"/>
            <a:ext cx="2743200" cy="54864"/>
          </a:xfrm>
          <a:prstGeom prst="rect">
            <a:avLst/>
          </a:prstGeom>
          <a:solidFill>
            <a:srgbClr val="5A7A6B"/>
          </a:solidFill>
          <a:ln w="12700">
            <a:solidFill>
              <a:srgbClr val="5A7A6B"/>
            </a:solidFill>
            <a:prstDash val="solid"/>
          </a:ln>
        </p:spPr>
      </p:sp>
      <p:sp>
        <p:nvSpPr>
          <p:cNvPr id="56" name="Text 54"/>
          <p:cNvSpPr/>
          <p:nvPr/>
        </p:nvSpPr>
        <p:spPr>
          <a:xfrm>
            <a:off x="6268212" y="4882896"/>
            <a:ext cx="2505456" cy="256032"/>
          </a:xfrm>
          <a:prstGeom prst="rect">
            <a:avLst/>
          </a:prstGeom>
          <a:noFill/>
          <a:ln/>
        </p:spPr>
        <p:txBody>
          <a:bodyPr wrap="square" rtlCol="0" anchor="ctr"/>
          <a:lstStyle/>
          <a:p>
            <a:pPr indent="0" marL="0">
              <a:buNone/>
            </a:pPr>
            <a:r>
              <a:rPr lang="en-US" sz="900" b="1" spc="200" kern="0" dirty="0">
                <a:solidFill>
                  <a:srgbClr val="5A7A6B"/>
                </a:solidFill>
                <a:latin typeface="Calibri" pitchFamily="34" charset="0"/>
                <a:ea typeface="Calibri" pitchFamily="34" charset="-122"/>
                <a:cs typeface="Calibri" pitchFamily="34" charset="-120"/>
              </a:rPr>
              <a:t>WEEK 11 · BLOCK V</a:t>
            </a:r>
            <a:endParaRPr lang="en-US" sz="900" dirty="0"/>
          </a:p>
        </p:txBody>
      </p:sp>
      <p:sp>
        <p:nvSpPr>
          <p:cNvPr id="57" name="Text 55"/>
          <p:cNvSpPr/>
          <p:nvPr/>
        </p:nvSpPr>
        <p:spPr>
          <a:xfrm>
            <a:off x="6268212" y="5138928"/>
            <a:ext cx="2505456" cy="685800"/>
          </a:xfrm>
          <a:prstGeom prst="rect">
            <a:avLst/>
          </a:prstGeom>
          <a:noFill/>
          <a:ln/>
        </p:spPr>
        <p:txBody>
          <a:bodyPr wrap="square" rtlCol="0" anchor="ctr"/>
          <a:lstStyle/>
          <a:p>
            <a:pPr indent="0" marL="0">
              <a:buNone/>
            </a:pPr>
            <a:r>
              <a:rPr lang="en-US" sz="1350" b="1" dirty="0">
                <a:solidFill>
                  <a:srgbClr val="1B2A4A"/>
                </a:solidFill>
                <a:latin typeface="Calibri" pitchFamily="34" charset="0"/>
                <a:ea typeface="Calibri" pitchFamily="34" charset="-122"/>
                <a:cs typeface="Calibri" pitchFamily="34" charset="-120"/>
              </a:rPr>
              <a:t>Sovereign Stack</a:t>
            </a:r>
            <a:endParaRPr lang="en-US" sz="1350" dirty="0"/>
          </a:p>
        </p:txBody>
      </p:sp>
      <p:sp>
        <p:nvSpPr>
          <p:cNvPr id="58" name="Text 56"/>
          <p:cNvSpPr/>
          <p:nvPr/>
        </p:nvSpPr>
        <p:spPr>
          <a:xfrm>
            <a:off x="6268212" y="5870448"/>
            <a:ext cx="2505456" cy="274320"/>
          </a:xfrm>
          <a:prstGeom prst="rect">
            <a:avLst/>
          </a:prstGeom>
          <a:noFill/>
          <a:ln/>
        </p:spPr>
        <p:txBody>
          <a:bodyPr wrap="square" rtlCol="0" anchor="ctr"/>
          <a:lstStyle/>
          <a:p>
            <a:pPr indent="0" marL="0">
              <a:buNone/>
            </a:pPr>
            <a:r>
              <a:rPr lang="en-US" sz="950" i="1" dirty="0">
                <a:solidFill>
                  <a:srgbClr val="5B6470"/>
                </a:solidFill>
                <a:latin typeface="Calibri" pitchFamily="34" charset="0"/>
                <a:ea typeface="Calibri" pitchFamily="34" charset="-122"/>
                <a:cs typeface="Calibri" pitchFamily="34" charset="-120"/>
              </a:rPr>
              <a:t>Proverbs 22:3</a:t>
            </a:r>
            <a:endParaRPr lang="en-US" sz="950" dirty="0"/>
          </a:p>
        </p:txBody>
      </p:sp>
      <p:sp>
        <p:nvSpPr>
          <p:cNvPr id="59" name="Shape 57"/>
          <p:cNvSpPr/>
          <p:nvPr/>
        </p:nvSpPr>
        <p:spPr>
          <a:xfrm>
            <a:off x="9002268" y="4791456"/>
            <a:ext cx="2743200" cy="1417320"/>
          </a:xfrm>
          <a:prstGeom prst="rect">
            <a:avLst/>
          </a:prstGeom>
          <a:solidFill>
            <a:srgbClr val="F4F1EA"/>
          </a:solidFill>
          <a:ln w="12700">
            <a:solidFill>
              <a:srgbClr val="D8DCE2"/>
            </a:solidFill>
            <a:prstDash val="solid"/>
          </a:ln>
        </p:spPr>
      </p:sp>
      <p:sp>
        <p:nvSpPr>
          <p:cNvPr id="60" name="Shape 58"/>
          <p:cNvSpPr/>
          <p:nvPr/>
        </p:nvSpPr>
        <p:spPr>
          <a:xfrm>
            <a:off x="9002268" y="4791456"/>
            <a:ext cx="2743200" cy="54864"/>
          </a:xfrm>
          <a:prstGeom prst="rect">
            <a:avLst/>
          </a:prstGeom>
          <a:solidFill>
            <a:srgbClr val="B8312F"/>
          </a:solidFill>
          <a:ln w="12700">
            <a:solidFill>
              <a:srgbClr val="B8312F"/>
            </a:solidFill>
            <a:prstDash val="solid"/>
          </a:ln>
        </p:spPr>
      </p:sp>
      <p:sp>
        <p:nvSpPr>
          <p:cNvPr id="61" name="Text 59"/>
          <p:cNvSpPr/>
          <p:nvPr/>
        </p:nvSpPr>
        <p:spPr>
          <a:xfrm>
            <a:off x="9121140" y="4882896"/>
            <a:ext cx="2505456" cy="256032"/>
          </a:xfrm>
          <a:prstGeom prst="rect">
            <a:avLst/>
          </a:prstGeom>
          <a:noFill/>
          <a:ln/>
        </p:spPr>
        <p:txBody>
          <a:bodyPr wrap="square" rtlCol="0" anchor="ctr"/>
          <a:lstStyle/>
          <a:p>
            <a:pPr indent="0" marL="0">
              <a:buNone/>
            </a:pPr>
            <a:r>
              <a:rPr lang="en-US" sz="900" b="1" spc="200" kern="0" dirty="0">
                <a:solidFill>
                  <a:srgbClr val="B8312F"/>
                </a:solidFill>
                <a:latin typeface="Calibri" pitchFamily="34" charset="0"/>
                <a:ea typeface="Calibri" pitchFamily="34" charset="-122"/>
                <a:cs typeface="Calibri" pitchFamily="34" charset="-120"/>
              </a:rPr>
              <a:t>WEEK 12 · BLOCK VI</a:t>
            </a:r>
            <a:endParaRPr lang="en-US" sz="900" dirty="0"/>
          </a:p>
        </p:txBody>
      </p:sp>
      <p:sp>
        <p:nvSpPr>
          <p:cNvPr id="62" name="Text 60"/>
          <p:cNvSpPr/>
          <p:nvPr/>
        </p:nvSpPr>
        <p:spPr>
          <a:xfrm>
            <a:off x="9121140" y="5138928"/>
            <a:ext cx="2505456" cy="685800"/>
          </a:xfrm>
          <a:prstGeom prst="rect">
            <a:avLst/>
          </a:prstGeom>
          <a:noFill/>
          <a:ln/>
        </p:spPr>
        <p:txBody>
          <a:bodyPr wrap="square" rtlCol="0" anchor="ctr"/>
          <a:lstStyle/>
          <a:p>
            <a:pPr indent="0" marL="0">
              <a:buNone/>
            </a:pPr>
            <a:r>
              <a:rPr lang="en-US" sz="1350" b="1" dirty="0">
                <a:solidFill>
                  <a:srgbClr val="1B2A4A"/>
                </a:solidFill>
                <a:latin typeface="Calibri" pitchFamily="34" charset="0"/>
                <a:ea typeface="Calibri" pitchFamily="34" charset="-122"/>
                <a:cs typeface="Calibri" pitchFamily="34" charset="-120"/>
              </a:rPr>
              <a:t>Watchman's Charter</a:t>
            </a:r>
            <a:endParaRPr lang="en-US" sz="1350" dirty="0"/>
          </a:p>
        </p:txBody>
      </p:sp>
      <p:sp>
        <p:nvSpPr>
          <p:cNvPr id="63" name="Text 61"/>
          <p:cNvSpPr/>
          <p:nvPr/>
        </p:nvSpPr>
        <p:spPr>
          <a:xfrm>
            <a:off x="9121140" y="5870448"/>
            <a:ext cx="2505456" cy="274320"/>
          </a:xfrm>
          <a:prstGeom prst="rect">
            <a:avLst/>
          </a:prstGeom>
          <a:noFill/>
          <a:ln/>
        </p:spPr>
        <p:txBody>
          <a:bodyPr wrap="square" rtlCol="0" anchor="ctr"/>
          <a:lstStyle/>
          <a:p>
            <a:pPr indent="0" marL="0">
              <a:buNone/>
            </a:pPr>
            <a:r>
              <a:rPr lang="en-US" sz="950" i="1" dirty="0">
                <a:solidFill>
                  <a:srgbClr val="5B6470"/>
                </a:solidFill>
                <a:latin typeface="Calibri" pitchFamily="34" charset="0"/>
                <a:ea typeface="Calibri" pitchFamily="34" charset="-122"/>
                <a:cs typeface="Calibri" pitchFamily="34" charset="-120"/>
              </a:rPr>
              <a:t>Ezekiel 33:7</a:t>
            </a:r>
            <a:endParaRPr lang="en-US" sz="950" dirty="0"/>
          </a:p>
        </p:txBody>
      </p:sp>
      <p:sp>
        <p:nvSpPr>
          <p:cNvPr id="64" name="Text 62"/>
          <p:cNvSpPr/>
          <p:nvPr/>
        </p:nvSpPr>
        <p:spPr>
          <a:xfrm>
            <a:off x="548640" y="6492240"/>
            <a:ext cx="7315200" cy="274320"/>
          </a:xfrm>
          <a:prstGeom prst="rect">
            <a:avLst/>
          </a:prstGeom>
          <a:noFill/>
          <a:ln/>
        </p:spPr>
        <p:txBody>
          <a:bodyPr wrap="square" rtlCol="0" anchor="ctr"/>
          <a:lstStyle/>
          <a:p>
            <a:pPr indent="0" marL="0">
              <a:buNone/>
            </a:pPr>
            <a:r>
              <a:rPr lang="en-US" sz="1000" i="1" dirty="0">
                <a:solidFill>
                  <a:srgbClr val="5B6470"/>
                </a:solidFill>
                <a:latin typeface="Calibri" pitchFamily="34" charset="0"/>
                <a:ea typeface="Calibri" pitchFamily="34" charset="-122"/>
                <a:cs typeface="Calibri" pitchFamily="34" charset="-120"/>
              </a:rPr>
              <a:t>The Path · 12 weeks · 36 tasks</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B2A4A"/>
        </a:solidFill>
      </p:bgPr>
    </p:bg>
    <p:spTree>
      <p:nvGrpSpPr>
        <p:cNvPr id="1" name=""/>
        <p:cNvGrpSpPr/>
        <p:nvPr/>
      </p:nvGrpSpPr>
      <p:grpSpPr>
        <a:xfrm>
          <a:off x="0" y="0"/>
          <a:ext cx="0" cy="0"/>
          <a:chOff x="0" y="0"/>
          <a:chExt cx="0" cy="0"/>
        </a:xfrm>
      </p:grpSpPr>
      <p:sp>
        <p:nvSpPr>
          <p:cNvPr id="2" name="Text 0"/>
          <p:cNvSpPr/>
          <p:nvPr/>
        </p:nvSpPr>
        <p:spPr>
          <a:xfrm>
            <a:off x="548640" y="1463040"/>
            <a:ext cx="10972800" cy="457200"/>
          </a:xfrm>
          <a:prstGeom prst="rect">
            <a:avLst/>
          </a:prstGeom>
          <a:noFill/>
          <a:ln/>
        </p:spPr>
        <p:txBody>
          <a:bodyPr wrap="square" rtlCol="0" anchor="ctr"/>
          <a:lstStyle/>
          <a:p>
            <a:pPr indent="0" marL="0">
              <a:buNone/>
            </a:pPr>
            <a:r>
              <a:rPr lang="en-US" sz="1400" b="1" spc="500" kern="0" dirty="0">
                <a:solidFill>
                  <a:srgbClr val="CE8E31"/>
                </a:solidFill>
                <a:latin typeface="Calibri" pitchFamily="34" charset="0"/>
                <a:ea typeface="Calibri" pitchFamily="34" charset="-122"/>
                <a:cs typeface="Calibri" pitchFamily="34" charset="-120"/>
              </a:rPr>
              <a:t>WEEK 1  ·  BLOCK I — FOUNDATION</a:t>
            </a:r>
            <a:endParaRPr lang="en-US" sz="1400" dirty="0"/>
          </a:p>
        </p:txBody>
      </p:sp>
      <p:sp>
        <p:nvSpPr>
          <p:cNvPr id="3" name="Text 1"/>
          <p:cNvSpPr/>
          <p:nvPr/>
        </p:nvSpPr>
        <p:spPr>
          <a:xfrm>
            <a:off x="548640" y="1920240"/>
            <a:ext cx="11338560" cy="1371600"/>
          </a:xfrm>
          <a:prstGeom prst="rect">
            <a:avLst/>
          </a:prstGeom>
          <a:noFill/>
          <a:ln/>
        </p:spPr>
        <p:txBody>
          <a:bodyPr wrap="square" rtlCol="0" anchor="ctr"/>
          <a:lstStyle/>
          <a:p>
            <a:pPr indent="0" marL="0">
              <a:buNone/>
            </a:pPr>
            <a:r>
              <a:rPr lang="en-US" sz="5400" b="1" dirty="0">
                <a:solidFill>
                  <a:srgbClr val="FFFFFF"/>
                </a:solidFill>
                <a:latin typeface="Calibri" pitchFamily="34" charset="0"/>
                <a:ea typeface="Calibri" pitchFamily="34" charset="-122"/>
                <a:cs typeface="Calibri" pitchFamily="34" charset="-120"/>
              </a:rPr>
              <a:t>WATCHMAN'S POSTURE</a:t>
            </a:r>
            <a:endParaRPr lang="en-US" sz="5400" dirty="0"/>
          </a:p>
        </p:txBody>
      </p:sp>
      <p:sp>
        <p:nvSpPr>
          <p:cNvPr id="4" name="Shape 2"/>
          <p:cNvSpPr/>
          <p:nvPr/>
        </p:nvSpPr>
        <p:spPr>
          <a:xfrm>
            <a:off x="548640" y="3383280"/>
            <a:ext cx="1828800" cy="73152"/>
          </a:xfrm>
          <a:prstGeom prst="rect">
            <a:avLst/>
          </a:prstGeom>
          <a:solidFill>
            <a:srgbClr val="CE8E31"/>
          </a:solidFill>
          <a:ln w="12700">
            <a:solidFill>
              <a:srgbClr val="CE8E31"/>
            </a:solidFill>
            <a:prstDash val="solid"/>
          </a:ln>
        </p:spPr>
      </p:sp>
      <p:sp>
        <p:nvSpPr>
          <p:cNvPr id="5" name="Text 3"/>
          <p:cNvSpPr/>
          <p:nvPr/>
        </p:nvSpPr>
        <p:spPr>
          <a:xfrm>
            <a:off x="548640" y="3566160"/>
            <a:ext cx="10515600" cy="1097280"/>
          </a:xfrm>
          <a:prstGeom prst="rect">
            <a:avLst/>
          </a:prstGeom>
          <a:noFill/>
          <a:ln/>
        </p:spPr>
        <p:txBody>
          <a:bodyPr wrap="square" rtlCol="0" anchor="ctr"/>
          <a:lstStyle/>
          <a:p>
            <a:pPr indent="0" marL="0">
              <a:buNone/>
            </a:pPr>
            <a:r>
              <a:rPr lang="en-US" sz="2200" i="1" dirty="0">
                <a:solidFill>
                  <a:srgbClr val="94A3B8"/>
                </a:solidFill>
                <a:latin typeface="Calibri" pitchFamily="34" charset="0"/>
                <a:ea typeface="Calibri" pitchFamily="34" charset="-122"/>
                <a:cs typeface="Calibri" pitchFamily="34" charset="-120"/>
              </a:rPr>
              <a:t>Why a man uses AI matters more than which model he picks; the posture sits above the tooling.</a:t>
            </a:r>
            <a:endParaRPr lang="en-US" sz="2200" dirty="0"/>
          </a:p>
        </p:txBody>
      </p:sp>
      <p:sp>
        <p:nvSpPr>
          <p:cNvPr id="6" name="Text 4"/>
          <p:cNvSpPr/>
          <p:nvPr/>
        </p:nvSpPr>
        <p:spPr>
          <a:xfrm>
            <a:off x="548640" y="5029200"/>
            <a:ext cx="10972800" cy="274320"/>
          </a:xfrm>
          <a:prstGeom prst="rect">
            <a:avLst/>
          </a:prstGeom>
          <a:noFill/>
          <a:ln/>
        </p:spPr>
        <p:txBody>
          <a:bodyPr wrap="square" rtlCol="0" anchor="ctr"/>
          <a:lstStyle/>
          <a:p>
            <a:pPr indent="0" marL="0">
              <a:buNone/>
            </a:pPr>
            <a:r>
              <a:rPr lang="en-US" sz="1000" b="1" spc="400" kern="0" dirty="0">
                <a:solidFill>
                  <a:srgbClr val="CE8E31"/>
                </a:solidFill>
                <a:latin typeface="Calibri" pitchFamily="34" charset="0"/>
                <a:ea typeface="Calibri" pitchFamily="34" charset="-122"/>
                <a:cs typeface="Calibri" pitchFamily="34" charset="-120"/>
              </a:rPr>
              <a:t>SCRIPTURE</a:t>
            </a:r>
            <a:endParaRPr lang="en-US" sz="1000" dirty="0"/>
          </a:p>
        </p:txBody>
      </p:sp>
      <p:sp>
        <p:nvSpPr>
          <p:cNvPr id="7" name="Text 5"/>
          <p:cNvSpPr/>
          <p:nvPr/>
        </p:nvSpPr>
        <p:spPr>
          <a:xfrm>
            <a:off x="548640" y="5303520"/>
            <a:ext cx="10972800" cy="457200"/>
          </a:xfrm>
          <a:prstGeom prst="rect">
            <a:avLst/>
          </a:prstGeom>
          <a:noFill/>
          <a:ln/>
        </p:spPr>
        <p:txBody>
          <a:bodyPr wrap="square" rtlCol="0" anchor="ctr"/>
          <a:lstStyle/>
          <a:p>
            <a:pPr indent="0" marL="0">
              <a:buNone/>
            </a:pPr>
            <a:r>
              <a:rPr lang="en-US" sz="2000" dirty="0">
                <a:solidFill>
                  <a:srgbClr val="FFFFFF"/>
                </a:solidFill>
                <a:latin typeface="Calibri" pitchFamily="34" charset="0"/>
                <a:ea typeface="Calibri" pitchFamily="34" charset="-122"/>
                <a:cs typeface="Calibri" pitchFamily="34" charset="-120"/>
              </a:rPr>
              <a:t>Ezekiel 33:1–7</a:t>
            </a:r>
            <a:endParaRPr lang="en-US" sz="2000" dirty="0"/>
          </a:p>
        </p:txBody>
      </p:sp>
      <p:sp>
        <p:nvSpPr>
          <p:cNvPr id="8" name="Text 6"/>
          <p:cNvSpPr/>
          <p:nvPr/>
        </p:nvSpPr>
        <p:spPr>
          <a:xfrm>
            <a:off x="548640" y="6492240"/>
            <a:ext cx="7315200" cy="274320"/>
          </a:xfrm>
          <a:prstGeom prst="rect">
            <a:avLst/>
          </a:prstGeom>
          <a:noFill/>
          <a:ln/>
        </p:spPr>
        <p:txBody>
          <a:bodyPr wrap="square" rtlCol="0" anchor="ctr"/>
          <a:lstStyle/>
          <a:p>
            <a:pPr indent="0" marL="0">
              <a:buNone/>
            </a:pPr>
            <a:r>
              <a:rPr lang="en-US" sz="1000" i="1" dirty="0">
                <a:solidFill>
                  <a:srgbClr val="5B6470"/>
                </a:solidFill>
                <a:latin typeface="Calibri" pitchFamily="34" charset="0"/>
                <a:ea typeface="Calibri" pitchFamily="34" charset="-122"/>
                <a:cs typeface="Calibri" pitchFamily="34" charset="-120"/>
              </a:rPr>
              <a:t>Week 1 · Watchman's Posture</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0972800" cy="365760"/>
          </a:xfrm>
          <a:prstGeom prst="rect">
            <a:avLst/>
          </a:prstGeom>
          <a:noFill/>
          <a:ln/>
        </p:spPr>
        <p:txBody>
          <a:bodyPr wrap="square" rtlCol="0" anchor="ctr"/>
          <a:lstStyle/>
          <a:p>
            <a:pPr indent="0" marL="0">
              <a:buNone/>
            </a:pPr>
            <a:r>
              <a:rPr lang="en-US" sz="1100" b="1" spc="400" kern="0" dirty="0">
                <a:solidFill>
                  <a:srgbClr val="CE8E31"/>
                </a:solidFill>
                <a:latin typeface="Calibri" pitchFamily="34" charset="0"/>
                <a:ea typeface="Calibri" pitchFamily="34" charset="-122"/>
                <a:cs typeface="Calibri" pitchFamily="34" charset="-120"/>
              </a:rPr>
              <a:t>WEEK 1 · TASK 1 · MONDAY</a:t>
            </a:r>
            <a:endParaRPr lang="en-US" sz="1100" dirty="0"/>
          </a:p>
        </p:txBody>
      </p:sp>
      <p:sp>
        <p:nvSpPr>
          <p:cNvPr id="3" name="Text 1"/>
          <p:cNvSpPr/>
          <p:nvPr/>
        </p:nvSpPr>
        <p:spPr>
          <a:xfrm>
            <a:off x="548640" y="822960"/>
            <a:ext cx="11155680" cy="1280160"/>
          </a:xfrm>
          <a:prstGeom prst="rect">
            <a:avLst/>
          </a:prstGeom>
          <a:noFill/>
          <a:ln/>
        </p:spPr>
        <p:txBody>
          <a:bodyPr wrap="square" rtlCol="0" anchor="t"/>
          <a:lstStyle/>
          <a:p>
            <a:pPr indent="0" marL="0">
              <a:buNone/>
            </a:pPr>
            <a:r>
              <a:rPr lang="en-US" sz="3600" b="1" dirty="0">
                <a:solidFill>
                  <a:srgbClr val="1B2A4A"/>
                </a:solidFill>
                <a:latin typeface="Calibri" pitchFamily="34" charset="0"/>
                <a:ea typeface="Calibri" pitchFamily="34" charset="-122"/>
                <a:cs typeface="Calibri" pitchFamily="34" charset="-120"/>
              </a:rPr>
              <a:t>Write Your Watchman's Charter</a:t>
            </a:r>
            <a:endParaRPr lang="en-US" sz="3600" dirty="0"/>
          </a:p>
        </p:txBody>
      </p:sp>
      <p:sp>
        <p:nvSpPr>
          <p:cNvPr id="4" name="Text 2"/>
          <p:cNvSpPr/>
          <p:nvPr/>
        </p:nvSpPr>
        <p:spPr>
          <a:xfrm>
            <a:off x="548640" y="2103120"/>
            <a:ext cx="10972800" cy="731520"/>
          </a:xfrm>
          <a:prstGeom prst="rect">
            <a:avLst/>
          </a:prstGeom>
          <a:noFill/>
          <a:ln/>
        </p:spPr>
        <p:txBody>
          <a:bodyPr wrap="square" rtlCol="0" anchor="ctr"/>
          <a:lstStyle/>
          <a:p>
            <a:pPr indent="0" marL="0">
              <a:buNone/>
            </a:pPr>
            <a:r>
              <a:rPr lang="en-US" sz="1900" i="1" dirty="0">
                <a:solidFill>
                  <a:srgbClr val="5B6470"/>
                </a:solidFill>
                <a:latin typeface="Calibri" pitchFamily="34" charset="0"/>
                <a:ea typeface="Calibri" pitchFamily="34" charset="-122"/>
                <a:cs typeface="Calibri" pitchFamily="34" charset="-120"/>
              </a:rPr>
              <a:t>Five lines. What AI is for. What it never replaces.</a:t>
            </a:r>
            <a:endParaRPr lang="en-US" sz="1900" dirty="0"/>
          </a:p>
        </p:txBody>
      </p:sp>
      <p:sp>
        <p:nvSpPr>
          <p:cNvPr id="5" name="Shape 3"/>
          <p:cNvSpPr/>
          <p:nvPr/>
        </p:nvSpPr>
        <p:spPr>
          <a:xfrm>
            <a:off x="548640" y="3291840"/>
            <a:ext cx="5486400" cy="3017520"/>
          </a:xfrm>
          <a:prstGeom prst="rect">
            <a:avLst/>
          </a:prstGeom>
          <a:solidFill>
            <a:srgbClr val="F4F1EA"/>
          </a:solidFill>
          <a:ln w="12700">
            <a:solidFill>
              <a:srgbClr val="D8DCE2"/>
            </a:solidFill>
            <a:prstDash val="solid"/>
          </a:ln>
        </p:spPr>
      </p:sp>
      <p:sp>
        <p:nvSpPr>
          <p:cNvPr id="6" name="Shape 4"/>
          <p:cNvSpPr/>
          <p:nvPr/>
        </p:nvSpPr>
        <p:spPr>
          <a:xfrm>
            <a:off x="548640" y="3291840"/>
            <a:ext cx="73152" cy="3017520"/>
          </a:xfrm>
          <a:prstGeom prst="rect">
            <a:avLst/>
          </a:prstGeom>
          <a:solidFill>
            <a:srgbClr val="1B2A4A"/>
          </a:solidFill>
          <a:ln w="12700">
            <a:solidFill>
              <a:srgbClr val="1B2A4A"/>
            </a:solidFill>
            <a:prstDash val="solid"/>
          </a:ln>
        </p:spPr>
      </p:sp>
      <p:sp>
        <p:nvSpPr>
          <p:cNvPr id="7" name="Text 5"/>
          <p:cNvSpPr/>
          <p:nvPr/>
        </p:nvSpPr>
        <p:spPr>
          <a:xfrm>
            <a:off x="777240" y="3474720"/>
            <a:ext cx="5029200" cy="274320"/>
          </a:xfrm>
          <a:prstGeom prst="rect">
            <a:avLst/>
          </a:prstGeom>
          <a:noFill/>
          <a:ln/>
        </p:spPr>
        <p:txBody>
          <a:bodyPr wrap="square" rtlCol="0" anchor="ctr"/>
          <a:lstStyle/>
          <a:p>
            <a:pPr indent="0" marL="0">
              <a:buNone/>
            </a:pPr>
            <a:r>
              <a:rPr lang="en-US" sz="1100" b="1" spc="300" kern="0" dirty="0">
                <a:solidFill>
                  <a:srgbClr val="CE8E31"/>
                </a:solidFill>
                <a:latin typeface="Calibri" pitchFamily="34" charset="0"/>
                <a:ea typeface="Calibri" pitchFamily="34" charset="-122"/>
                <a:cs typeface="Calibri" pitchFamily="34" charset="-120"/>
              </a:rPr>
              <a:t>THE ACTION</a:t>
            </a:r>
            <a:endParaRPr lang="en-US" sz="1100" dirty="0"/>
          </a:p>
        </p:txBody>
      </p:sp>
      <p:sp>
        <p:nvSpPr>
          <p:cNvPr id="8" name="Text 6"/>
          <p:cNvSpPr/>
          <p:nvPr/>
        </p:nvSpPr>
        <p:spPr>
          <a:xfrm>
            <a:off x="777240" y="3794760"/>
            <a:ext cx="5029200" cy="1463040"/>
          </a:xfrm>
          <a:prstGeom prst="rect">
            <a:avLst/>
          </a:prstGeom>
          <a:noFill/>
          <a:ln/>
        </p:spPr>
        <p:txBody>
          <a:bodyPr wrap="square" rtlCol="0" anchor="ctr"/>
          <a:lstStyle/>
          <a:p>
            <a:pPr indent="0" marL="0">
              <a:buNone/>
            </a:pPr>
            <a:r>
              <a:rPr lang="en-US" sz="1600" dirty="0">
                <a:solidFill>
                  <a:srgbClr val="22272E"/>
                </a:solidFill>
                <a:latin typeface="Calibri" pitchFamily="34" charset="0"/>
                <a:ea typeface="Calibri" pitchFamily="34" charset="-122"/>
                <a:cs typeface="Calibri" pitchFamily="34" charset="-120"/>
              </a:rPr>
              <a:t>20–30 minutes. Open the task card. Run the checklist. Ship the artifact. React ✓ in the cohort channel.</a:t>
            </a:r>
            <a:endParaRPr lang="en-US" sz="1600" dirty="0"/>
          </a:p>
        </p:txBody>
      </p:sp>
      <p:sp>
        <p:nvSpPr>
          <p:cNvPr id="9" name="Text 7"/>
          <p:cNvSpPr/>
          <p:nvPr/>
        </p:nvSpPr>
        <p:spPr>
          <a:xfrm>
            <a:off x="777240" y="5669280"/>
            <a:ext cx="5029200" cy="457200"/>
          </a:xfrm>
          <a:prstGeom prst="rect">
            <a:avLst/>
          </a:prstGeom>
          <a:noFill/>
          <a:ln/>
        </p:spPr>
        <p:txBody>
          <a:bodyPr wrap="square" rtlCol="0" anchor="ctr"/>
          <a:lstStyle/>
          <a:p>
            <a:pPr indent="0" marL="0">
              <a:buNone/>
            </a:pPr>
            <a:r>
              <a:rPr lang="en-US" sz="1400" b="1" i="1" dirty="0">
                <a:solidFill>
                  <a:srgbClr val="1B2A4A"/>
                </a:solidFill>
                <a:latin typeface="Calibri" pitchFamily="34" charset="0"/>
                <a:ea typeface="Calibri" pitchFamily="34" charset="-122"/>
                <a:cs typeface="Calibri" pitchFamily="34" charset="-120"/>
              </a:rPr>
              <a:t>AI drafts. The watchman decides.</a:t>
            </a:r>
            <a:endParaRPr lang="en-US" sz="1400" dirty="0"/>
          </a:p>
        </p:txBody>
      </p:sp>
      <p:sp>
        <p:nvSpPr>
          <p:cNvPr id="10" name="Shape 8"/>
          <p:cNvSpPr/>
          <p:nvPr/>
        </p:nvSpPr>
        <p:spPr>
          <a:xfrm>
            <a:off x="6217920" y="3291840"/>
            <a:ext cx="5394960" cy="3017520"/>
          </a:xfrm>
          <a:prstGeom prst="rect">
            <a:avLst/>
          </a:prstGeom>
          <a:solidFill>
            <a:srgbClr val="CE8E31"/>
          </a:solidFill>
          <a:ln w="12700">
            <a:solidFill>
              <a:srgbClr val="CE8E31"/>
            </a:solidFill>
            <a:prstDash val="solid"/>
          </a:ln>
        </p:spPr>
      </p:sp>
      <p:sp>
        <p:nvSpPr>
          <p:cNvPr id="11" name="Text 9"/>
          <p:cNvSpPr/>
          <p:nvPr/>
        </p:nvSpPr>
        <p:spPr>
          <a:xfrm>
            <a:off x="6446520" y="3520440"/>
            <a:ext cx="5029200" cy="274320"/>
          </a:xfrm>
          <a:prstGeom prst="rect">
            <a:avLst/>
          </a:prstGeom>
          <a:noFill/>
          <a:ln/>
        </p:spPr>
        <p:txBody>
          <a:bodyPr wrap="square" rtlCol="0" anchor="ctr"/>
          <a:lstStyle/>
          <a:p>
            <a:pPr indent="0" marL="0">
              <a:buNone/>
            </a:pPr>
            <a:r>
              <a:rPr lang="en-US" sz="1100" b="1" spc="300" kern="0" dirty="0">
                <a:solidFill>
                  <a:srgbClr val="FFFFFF"/>
                </a:solidFill>
                <a:latin typeface="Calibri" pitchFamily="34" charset="0"/>
                <a:ea typeface="Calibri" pitchFamily="34" charset="-122"/>
                <a:cs typeface="Calibri" pitchFamily="34" charset="-120"/>
              </a:rPr>
              <a:t>SCRIPTURE ANCHOR</a:t>
            </a:r>
            <a:endParaRPr lang="en-US" sz="1100" dirty="0"/>
          </a:p>
        </p:txBody>
      </p:sp>
      <p:sp>
        <p:nvSpPr>
          <p:cNvPr id="12" name="Text 10"/>
          <p:cNvSpPr/>
          <p:nvPr/>
        </p:nvSpPr>
        <p:spPr>
          <a:xfrm>
            <a:off x="6446520" y="3840480"/>
            <a:ext cx="5029200" cy="502920"/>
          </a:xfrm>
          <a:prstGeom prst="rect">
            <a:avLst/>
          </a:prstGeom>
          <a:noFill/>
          <a:ln/>
        </p:spPr>
        <p:txBody>
          <a:bodyPr wrap="square"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Week 1 · Watchman's Posture</a:t>
            </a:r>
            <a:endParaRPr lang="en-US" sz="2000" dirty="0"/>
          </a:p>
        </p:txBody>
      </p:sp>
      <p:sp>
        <p:nvSpPr>
          <p:cNvPr id="13" name="Text 11"/>
          <p:cNvSpPr/>
          <p:nvPr/>
        </p:nvSpPr>
        <p:spPr>
          <a:xfrm>
            <a:off x="6446520" y="4434840"/>
            <a:ext cx="5029200" cy="548640"/>
          </a:xfrm>
          <a:prstGeom prst="rect">
            <a:avLst/>
          </a:prstGeom>
          <a:noFill/>
          <a:ln/>
        </p:spPr>
        <p:txBody>
          <a:bodyPr wrap="square" rtlCol="0" anchor="ctr"/>
          <a:lstStyle/>
          <a:p>
            <a:pPr indent="0" marL="0">
              <a:buNone/>
            </a:pPr>
            <a:r>
              <a:rPr lang="en-US" sz="1800" i="1" dirty="0">
                <a:solidFill>
                  <a:srgbClr val="FFFFFF"/>
                </a:solidFill>
                <a:latin typeface="Calibri" pitchFamily="34" charset="0"/>
                <a:ea typeface="Calibri" pitchFamily="34" charset="-122"/>
                <a:cs typeface="Calibri" pitchFamily="34" charset="-120"/>
              </a:rPr>
              <a:t>Ezekiel 33:1–7</a:t>
            </a:r>
            <a:endParaRPr lang="en-US" sz="1800" dirty="0"/>
          </a:p>
        </p:txBody>
      </p:sp>
      <p:sp>
        <p:nvSpPr>
          <p:cNvPr id="14" name="Text 12"/>
          <p:cNvSpPr/>
          <p:nvPr/>
        </p:nvSpPr>
        <p:spPr>
          <a:xfrm>
            <a:off x="6446520" y="5669280"/>
            <a:ext cx="5029200" cy="365760"/>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Read aloud at the open and the close.</a:t>
            </a:r>
            <a:endParaRPr lang="en-US" sz="1300" dirty="0"/>
          </a:p>
        </p:txBody>
      </p:sp>
      <p:sp>
        <p:nvSpPr>
          <p:cNvPr id="15" name="Text 13"/>
          <p:cNvSpPr/>
          <p:nvPr/>
        </p:nvSpPr>
        <p:spPr>
          <a:xfrm>
            <a:off x="548640" y="6492240"/>
            <a:ext cx="7315200" cy="274320"/>
          </a:xfrm>
          <a:prstGeom prst="rect">
            <a:avLst/>
          </a:prstGeom>
          <a:noFill/>
          <a:ln/>
        </p:spPr>
        <p:txBody>
          <a:bodyPr wrap="square" rtlCol="0" anchor="ctr"/>
          <a:lstStyle/>
          <a:p>
            <a:pPr indent="0" marL="0">
              <a:buNone/>
            </a:pPr>
            <a:r>
              <a:rPr lang="en-US" sz="1000" i="1" dirty="0">
                <a:solidFill>
                  <a:srgbClr val="5B6470"/>
                </a:solidFill>
                <a:latin typeface="Calibri" pitchFamily="34" charset="0"/>
                <a:ea typeface="Calibri" pitchFamily="34" charset="-122"/>
                <a:cs typeface="Calibri" pitchFamily="34" charset="-120"/>
              </a:rPr>
              <a:t>Week 1 · Watchman's Posture · Task 1</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0972800" cy="365760"/>
          </a:xfrm>
          <a:prstGeom prst="rect">
            <a:avLst/>
          </a:prstGeom>
          <a:noFill/>
          <a:ln/>
        </p:spPr>
        <p:txBody>
          <a:bodyPr wrap="square" rtlCol="0" anchor="ctr"/>
          <a:lstStyle/>
          <a:p>
            <a:pPr indent="0" marL="0">
              <a:buNone/>
            </a:pPr>
            <a:r>
              <a:rPr lang="en-US" sz="1100" b="1" spc="400" kern="0" dirty="0">
                <a:solidFill>
                  <a:srgbClr val="CE8E31"/>
                </a:solidFill>
                <a:latin typeface="Calibri" pitchFamily="34" charset="0"/>
                <a:ea typeface="Calibri" pitchFamily="34" charset="-122"/>
                <a:cs typeface="Calibri" pitchFamily="34" charset="-120"/>
              </a:rPr>
              <a:t>WEEK 1 · TASK 2 · WEDNESDAY</a:t>
            </a:r>
            <a:endParaRPr lang="en-US" sz="1100" dirty="0"/>
          </a:p>
        </p:txBody>
      </p:sp>
      <p:sp>
        <p:nvSpPr>
          <p:cNvPr id="3" name="Text 1"/>
          <p:cNvSpPr/>
          <p:nvPr/>
        </p:nvSpPr>
        <p:spPr>
          <a:xfrm>
            <a:off x="548640" y="822960"/>
            <a:ext cx="11155680" cy="1280160"/>
          </a:xfrm>
          <a:prstGeom prst="rect">
            <a:avLst/>
          </a:prstGeom>
          <a:noFill/>
          <a:ln/>
        </p:spPr>
        <p:txBody>
          <a:bodyPr wrap="square" rtlCol="0" anchor="t"/>
          <a:lstStyle/>
          <a:p>
            <a:pPr indent="0" marL="0">
              <a:buNone/>
            </a:pPr>
            <a:r>
              <a:rPr lang="en-US" sz="3600" b="1" dirty="0">
                <a:solidFill>
                  <a:srgbClr val="1B2A4A"/>
                </a:solidFill>
                <a:latin typeface="Calibri" pitchFamily="34" charset="0"/>
                <a:ea typeface="Calibri" pitchFamily="34" charset="-122"/>
                <a:cs typeface="Calibri" pitchFamily="34" charset="-120"/>
              </a:rPr>
              <a:t>Apply the Tiered Autonomy Framework</a:t>
            </a:r>
            <a:endParaRPr lang="en-US" sz="3600" dirty="0"/>
          </a:p>
        </p:txBody>
      </p:sp>
      <p:sp>
        <p:nvSpPr>
          <p:cNvPr id="4" name="Text 2"/>
          <p:cNvSpPr/>
          <p:nvPr/>
        </p:nvSpPr>
        <p:spPr>
          <a:xfrm>
            <a:off x="548640" y="2103120"/>
            <a:ext cx="10972800" cy="731520"/>
          </a:xfrm>
          <a:prstGeom prst="rect">
            <a:avLst/>
          </a:prstGeom>
          <a:noFill/>
          <a:ln/>
        </p:spPr>
        <p:txBody>
          <a:bodyPr wrap="square" rtlCol="0" anchor="ctr"/>
          <a:lstStyle/>
          <a:p>
            <a:pPr indent="0" marL="0">
              <a:buNone/>
            </a:pPr>
            <a:r>
              <a:rPr lang="en-US" sz="1900" i="1" dirty="0">
                <a:solidFill>
                  <a:srgbClr val="5B6470"/>
                </a:solidFill>
                <a:latin typeface="Calibri" pitchFamily="34" charset="0"/>
                <a:ea typeface="Calibri" pitchFamily="34" charset="-122"/>
                <a:cs typeface="Calibri" pitchFamily="34" charset="-120"/>
              </a:rPr>
              <a:t>Classify before you delegate. Informational, Contextual, Sensitive.</a:t>
            </a:r>
            <a:endParaRPr lang="en-US" sz="1900" dirty="0"/>
          </a:p>
        </p:txBody>
      </p:sp>
      <p:sp>
        <p:nvSpPr>
          <p:cNvPr id="5" name="Shape 3"/>
          <p:cNvSpPr/>
          <p:nvPr/>
        </p:nvSpPr>
        <p:spPr>
          <a:xfrm>
            <a:off x="548640" y="3291840"/>
            <a:ext cx="5486400" cy="3017520"/>
          </a:xfrm>
          <a:prstGeom prst="rect">
            <a:avLst/>
          </a:prstGeom>
          <a:solidFill>
            <a:srgbClr val="F4F1EA"/>
          </a:solidFill>
          <a:ln w="12700">
            <a:solidFill>
              <a:srgbClr val="D8DCE2"/>
            </a:solidFill>
            <a:prstDash val="solid"/>
          </a:ln>
        </p:spPr>
      </p:sp>
      <p:sp>
        <p:nvSpPr>
          <p:cNvPr id="6" name="Shape 4"/>
          <p:cNvSpPr/>
          <p:nvPr/>
        </p:nvSpPr>
        <p:spPr>
          <a:xfrm>
            <a:off x="548640" y="3291840"/>
            <a:ext cx="73152" cy="3017520"/>
          </a:xfrm>
          <a:prstGeom prst="rect">
            <a:avLst/>
          </a:prstGeom>
          <a:solidFill>
            <a:srgbClr val="1B2A4A"/>
          </a:solidFill>
          <a:ln w="12700">
            <a:solidFill>
              <a:srgbClr val="1B2A4A"/>
            </a:solidFill>
            <a:prstDash val="solid"/>
          </a:ln>
        </p:spPr>
      </p:sp>
      <p:sp>
        <p:nvSpPr>
          <p:cNvPr id="7" name="Text 5"/>
          <p:cNvSpPr/>
          <p:nvPr/>
        </p:nvSpPr>
        <p:spPr>
          <a:xfrm>
            <a:off x="777240" y="3474720"/>
            <a:ext cx="5029200" cy="274320"/>
          </a:xfrm>
          <a:prstGeom prst="rect">
            <a:avLst/>
          </a:prstGeom>
          <a:noFill/>
          <a:ln/>
        </p:spPr>
        <p:txBody>
          <a:bodyPr wrap="square" rtlCol="0" anchor="ctr"/>
          <a:lstStyle/>
          <a:p>
            <a:pPr indent="0" marL="0">
              <a:buNone/>
            </a:pPr>
            <a:r>
              <a:rPr lang="en-US" sz="1100" b="1" spc="300" kern="0" dirty="0">
                <a:solidFill>
                  <a:srgbClr val="CE8E31"/>
                </a:solidFill>
                <a:latin typeface="Calibri" pitchFamily="34" charset="0"/>
                <a:ea typeface="Calibri" pitchFamily="34" charset="-122"/>
                <a:cs typeface="Calibri" pitchFamily="34" charset="-120"/>
              </a:rPr>
              <a:t>THE ACTION</a:t>
            </a:r>
            <a:endParaRPr lang="en-US" sz="1100" dirty="0"/>
          </a:p>
        </p:txBody>
      </p:sp>
      <p:sp>
        <p:nvSpPr>
          <p:cNvPr id="8" name="Text 6"/>
          <p:cNvSpPr/>
          <p:nvPr/>
        </p:nvSpPr>
        <p:spPr>
          <a:xfrm>
            <a:off x="777240" y="3794760"/>
            <a:ext cx="5029200" cy="1463040"/>
          </a:xfrm>
          <a:prstGeom prst="rect">
            <a:avLst/>
          </a:prstGeom>
          <a:noFill/>
          <a:ln/>
        </p:spPr>
        <p:txBody>
          <a:bodyPr wrap="square" rtlCol="0" anchor="ctr"/>
          <a:lstStyle/>
          <a:p>
            <a:pPr indent="0" marL="0">
              <a:buNone/>
            </a:pPr>
            <a:r>
              <a:rPr lang="en-US" sz="1600" dirty="0">
                <a:solidFill>
                  <a:srgbClr val="22272E"/>
                </a:solidFill>
                <a:latin typeface="Calibri" pitchFamily="34" charset="0"/>
                <a:ea typeface="Calibri" pitchFamily="34" charset="-122"/>
                <a:cs typeface="Calibri" pitchFamily="34" charset="-120"/>
              </a:rPr>
              <a:t>20–30 minutes. Open the task card. Run the checklist. Ship the artifact. React ✓ in the cohort channel.</a:t>
            </a:r>
            <a:endParaRPr lang="en-US" sz="1600" dirty="0"/>
          </a:p>
        </p:txBody>
      </p:sp>
      <p:sp>
        <p:nvSpPr>
          <p:cNvPr id="9" name="Text 7"/>
          <p:cNvSpPr/>
          <p:nvPr/>
        </p:nvSpPr>
        <p:spPr>
          <a:xfrm>
            <a:off x="777240" y="5669280"/>
            <a:ext cx="5029200" cy="457200"/>
          </a:xfrm>
          <a:prstGeom prst="rect">
            <a:avLst/>
          </a:prstGeom>
          <a:noFill/>
          <a:ln/>
        </p:spPr>
        <p:txBody>
          <a:bodyPr wrap="square" rtlCol="0" anchor="ctr"/>
          <a:lstStyle/>
          <a:p>
            <a:pPr indent="0" marL="0">
              <a:buNone/>
            </a:pPr>
            <a:r>
              <a:rPr lang="en-US" sz="1400" b="1" i="1" dirty="0">
                <a:solidFill>
                  <a:srgbClr val="1B2A4A"/>
                </a:solidFill>
                <a:latin typeface="Calibri" pitchFamily="34" charset="0"/>
                <a:ea typeface="Calibri" pitchFamily="34" charset="-122"/>
                <a:cs typeface="Calibri" pitchFamily="34" charset="-120"/>
              </a:rPr>
              <a:t>AI drafts. The watchman decides.</a:t>
            </a:r>
            <a:endParaRPr lang="en-US" sz="1400" dirty="0"/>
          </a:p>
        </p:txBody>
      </p:sp>
      <p:sp>
        <p:nvSpPr>
          <p:cNvPr id="10" name="Shape 8"/>
          <p:cNvSpPr/>
          <p:nvPr/>
        </p:nvSpPr>
        <p:spPr>
          <a:xfrm>
            <a:off x="6217920" y="3291840"/>
            <a:ext cx="5394960" cy="3017520"/>
          </a:xfrm>
          <a:prstGeom prst="rect">
            <a:avLst/>
          </a:prstGeom>
          <a:solidFill>
            <a:srgbClr val="CE8E31"/>
          </a:solidFill>
          <a:ln w="12700">
            <a:solidFill>
              <a:srgbClr val="CE8E31"/>
            </a:solidFill>
            <a:prstDash val="solid"/>
          </a:ln>
        </p:spPr>
      </p:sp>
      <p:sp>
        <p:nvSpPr>
          <p:cNvPr id="11" name="Text 9"/>
          <p:cNvSpPr/>
          <p:nvPr/>
        </p:nvSpPr>
        <p:spPr>
          <a:xfrm>
            <a:off x="6446520" y="3520440"/>
            <a:ext cx="5029200" cy="274320"/>
          </a:xfrm>
          <a:prstGeom prst="rect">
            <a:avLst/>
          </a:prstGeom>
          <a:noFill/>
          <a:ln/>
        </p:spPr>
        <p:txBody>
          <a:bodyPr wrap="square" rtlCol="0" anchor="ctr"/>
          <a:lstStyle/>
          <a:p>
            <a:pPr indent="0" marL="0">
              <a:buNone/>
            </a:pPr>
            <a:r>
              <a:rPr lang="en-US" sz="1100" b="1" spc="300" kern="0" dirty="0">
                <a:solidFill>
                  <a:srgbClr val="FFFFFF"/>
                </a:solidFill>
                <a:latin typeface="Calibri" pitchFamily="34" charset="0"/>
                <a:ea typeface="Calibri" pitchFamily="34" charset="-122"/>
                <a:cs typeface="Calibri" pitchFamily="34" charset="-120"/>
              </a:rPr>
              <a:t>SCRIPTURE ANCHOR</a:t>
            </a:r>
            <a:endParaRPr lang="en-US" sz="1100" dirty="0"/>
          </a:p>
        </p:txBody>
      </p:sp>
      <p:sp>
        <p:nvSpPr>
          <p:cNvPr id="12" name="Text 10"/>
          <p:cNvSpPr/>
          <p:nvPr/>
        </p:nvSpPr>
        <p:spPr>
          <a:xfrm>
            <a:off x="6446520" y="3840480"/>
            <a:ext cx="5029200" cy="502920"/>
          </a:xfrm>
          <a:prstGeom prst="rect">
            <a:avLst/>
          </a:prstGeom>
          <a:noFill/>
          <a:ln/>
        </p:spPr>
        <p:txBody>
          <a:bodyPr wrap="square"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Week 1 · Watchman's Posture</a:t>
            </a:r>
            <a:endParaRPr lang="en-US" sz="2000" dirty="0"/>
          </a:p>
        </p:txBody>
      </p:sp>
      <p:sp>
        <p:nvSpPr>
          <p:cNvPr id="13" name="Text 11"/>
          <p:cNvSpPr/>
          <p:nvPr/>
        </p:nvSpPr>
        <p:spPr>
          <a:xfrm>
            <a:off x="6446520" y="4434840"/>
            <a:ext cx="5029200" cy="548640"/>
          </a:xfrm>
          <a:prstGeom prst="rect">
            <a:avLst/>
          </a:prstGeom>
          <a:noFill/>
          <a:ln/>
        </p:spPr>
        <p:txBody>
          <a:bodyPr wrap="square" rtlCol="0" anchor="ctr"/>
          <a:lstStyle/>
          <a:p>
            <a:pPr indent="0" marL="0">
              <a:buNone/>
            </a:pPr>
            <a:r>
              <a:rPr lang="en-US" sz="1800" i="1" dirty="0">
                <a:solidFill>
                  <a:srgbClr val="FFFFFF"/>
                </a:solidFill>
                <a:latin typeface="Calibri" pitchFamily="34" charset="0"/>
                <a:ea typeface="Calibri" pitchFamily="34" charset="-122"/>
                <a:cs typeface="Calibri" pitchFamily="34" charset="-120"/>
              </a:rPr>
              <a:t>Ezekiel 33:1–7</a:t>
            </a:r>
            <a:endParaRPr lang="en-US" sz="1800" dirty="0"/>
          </a:p>
        </p:txBody>
      </p:sp>
      <p:sp>
        <p:nvSpPr>
          <p:cNvPr id="14" name="Text 12"/>
          <p:cNvSpPr/>
          <p:nvPr/>
        </p:nvSpPr>
        <p:spPr>
          <a:xfrm>
            <a:off x="6446520" y="5669280"/>
            <a:ext cx="5029200" cy="365760"/>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Read aloud at the open and the close.</a:t>
            </a:r>
            <a:endParaRPr lang="en-US" sz="1300" dirty="0"/>
          </a:p>
        </p:txBody>
      </p:sp>
      <p:sp>
        <p:nvSpPr>
          <p:cNvPr id="15" name="Text 13"/>
          <p:cNvSpPr/>
          <p:nvPr/>
        </p:nvSpPr>
        <p:spPr>
          <a:xfrm>
            <a:off x="548640" y="6492240"/>
            <a:ext cx="7315200" cy="274320"/>
          </a:xfrm>
          <a:prstGeom prst="rect">
            <a:avLst/>
          </a:prstGeom>
          <a:noFill/>
          <a:ln/>
        </p:spPr>
        <p:txBody>
          <a:bodyPr wrap="square" rtlCol="0" anchor="ctr"/>
          <a:lstStyle/>
          <a:p>
            <a:pPr indent="0" marL="0">
              <a:buNone/>
            </a:pPr>
            <a:r>
              <a:rPr lang="en-US" sz="1000" i="1" dirty="0">
                <a:solidFill>
                  <a:srgbClr val="5B6470"/>
                </a:solidFill>
                <a:latin typeface="Calibri" pitchFamily="34" charset="0"/>
                <a:ea typeface="Calibri" pitchFamily="34" charset="-122"/>
                <a:cs typeface="Calibri" pitchFamily="34" charset="-120"/>
              </a:rPr>
              <a:t>Week 1 · Watchman's Posture · Task 2</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0972800" cy="365760"/>
          </a:xfrm>
          <a:prstGeom prst="rect">
            <a:avLst/>
          </a:prstGeom>
          <a:noFill/>
          <a:ln/>
        </p:spPr>
        <p:txBody>
          <a:bodyPr wrap="square" rtlCol="0" anchor="ctr"/>
          <a:lstStyle/>
          <a:p>
            <a:pPr indent="0" marL="0">
              <a:buNone/>
            </a:pPr>
            <a:r>
              <a:rPr lang="en-US" sz="1100" b="1" spc="400" kern="0" dirty="0">
                <a:solidFill>
                  <a:srgbClr val="CE8E31"/>
                </a:solidFill>
                <a:latin typeface="Calibri" pitchFamily="34" charset="0"/>
                <a:ea typeface="Calibri" pitchFamily="34" charset="-122"/>
                <a:cs typeface="Calibri" pitchFamily="34" charset="-120"/>
              </a:rPr>
              <a:t>WEEK 1 · TASK 3 · FRIDAY</a:t>
            </a:r>
            <a:endParaRPr lang="en-US" sz="1100" dirty="0"/>
          </a:p>
        </p:txBody>
      </p:sp>
      <p:sp>
        <p:nvSpPr>
          <p:cNvPr id="3" name="Text 1"/>
          <p:cNvSpPr/>
          <p:nvPr/>
        </p:nvSpPr>
        <p:spPr>
          <a:xfrm>
            <a:off x="548640" y="822960"/>
            <a:ext cx="11155680" cy="1280160"/>
          </a:xfrm>
          <a:prstGeom prst="rect">
            <a:avLst/>
          </a:prstGeom>
          <a:noFill/>
          <a:ln/>
        </p:spPr>
        <p:txBody>
          <a:bodyPr wrap="square" rtlCol="0" anchor="t"/>
          <a:lstStyle/>
          <a:p>
            <a:pPr indent="0" marL="0">
              <a:buNone/>
            </a:pPr>
            <a:r>
              <a:rPr lang="en-US" sz="3600" b="1" dirty="0">
                <a:solidFill>
                  <a:srgbClr val="1B2A4A"/>
                </a:solidFill>
                <a:latin typeface="Calibri" pitchFamily="34" charset="0"/>
                <a:ea typeface="Calibri" pitchFamily="34" charset="-122"/>
                <a:cs typeface="Calibri" pitchFamily="34" charset="-120"/>
              </a:rPr>
              <a:t>Build Your Watchman's Tool Stack</a:t>
            </a:r>
            <a:endParaRPr lang="en-US" sz="3600" dirty="0"/>
          </a:p>
        </p:txBody>
      </p:sp>
      <p:sp>
        <p:nvSpPr>
          <p:cNvPr id="4" name="Text 2"/>
          <p:cNvSpPr/>
          <p:nvPr/>
        </p:nvSpPr>
        <p:spPr>
          <a:xfrm>
            <a:off x="548640" y="2103120"/>
            <a:ext cx="10972800" cy="731520"/>
          </a:xfrm>
          <a:prstGeom prst="rect">
            <a:avLst/>
          </a:prstGeom>
          <a:noFill/>
          <a:ln/>
        </p:spPr>
        <p:txBody>
          <a:bodyPr wrap="square" rtlCol="0" anchor="ctr"/>
          <a:lstStyle/>
          <a:p>
            <a:pPr indent="0" marL="0">
              <a:buNone/>
            </a:pPr>
            <a:r>
              <a:rPr lang="en-US" sz="1900" i="1" dirty="0">
                <a:solidFill>
                  <a:srgbClr val="5B6470"/>
                </a:solidFill>
                <a:latin typeface="Calibri" pitchFamily="34" charset="0"/>
                <a:ea typeface="Calibri" pitchFamily="34" charset="-122"/>
                <a:cs typeface="Calibri" pitchFamily="34" charset="-120"/>
              </a:rPr>
              <a:t>Two to four tools. One line of purpose each. Empty rows are honest.</a:t>
            </a:r>
            <a:endParaRPr lang="en-US" sz="1900" dirty="0"/>
          </a:p>
        </p:txBody>
      </p:sp>
      <p:sp>
        <p:nvSpPr>
          <p:cNvPr id="5" name="Shape 3"/>
          <p:cNvSpPr/>
          <p:nvPr/>
        </p:nvSpPr>
        <p:spPr>
          <a:xfrm>
            <a:off x="548640" y="3291840"/>
            <a:ext cx="5486400" cy="3017520"/>
          </a:xfrm>
          <a:prstGeom prst="rect">
            <a:avLst/>
          </a:prstGeom>
          <a:solidFill>
            <a:srgbClr val="F4F1EA"/>
          </a:solidFill>
          <a:ln w="12700">
            <a:solidFill>
              <a:srgbClr val="D8DCE2"/>
            </a:solidFill>
            <a:prstDash val="solid"/>
          </a:ln>
        </p:spPr>
      </p:sp>
      <p:sp>
        <p:nvSpPr>
          <p:cNvPr id="6" name="Shape 4"/>
          <p:cNvSpPr/>
          <p:nvPr/>
        </p:nvSpPr>
        <p:spPr>
          <a:xfrm>
            <a:off x="548640" y="3291840"/>
            <a:ext cx="73152" cy="3017520"/>
          </a:xfrm>
          <a:prstGeom prst="rect">
            <a:avLst/>
          </a:prstGeom>
          <a:solidFill>
            <a:srgbClr val="1B2A4A"/>
          </a:solidFill>
          <a:ln w="12700">
            <a:solidFill>
              <a:srgbClr val="1B2A4A"/>
            </a:solidFill>
            <a:prstDash val="solid"/>
          </a:ln>
        </p:spPr>
      </p:sp>
      <p:sp>
        <p:nvSpPr>
          <p:cNvPr id="7" name="Text 5"/>
          <p:cNvSpPr/>
          <p:nvPr/>
        </p:nvSpPr>
        <p:spPr>
          <a:xfrm>
            <a:off x="777240" y="3474720"/>
            <a:ext cx="5029200" cy="274320"/>
          </a:xfrm>
          <a:prstGeom prst="rect">
            <a:avLst/>
          </a:prstGeom>
          <a:noFill/>
          <a:ln/>
        </p:spPr>
        <p:txBody>
          <a:bodyPr wrap="square" rtlCol="0" anchor="ctr"/>
          <a:lstStyle/>
          <a:p>
            <a:pPr indent="0" marL="0">
              <a:buNone/>
            </a:pPr>
            <a:r>
              <a:rPr lang="en-US" sz="1100" b="1" spc="300" kern="0" dirty="0">
                <a:solidFill>
                  <a:srgbClr val="CE8E31"/>
                </a:solidFill>
                <a:latin typeface="Calibri" pitchFamily="34" charset="0"/>
                <a:ea typeface="Calibri" pitchFamily="34" charset="-122"/>
                <a:cs typeface="Calibri" pitchFamily="34" charset="-120"/>
              </a:rPr>
              <a:t>THE ACTION</a:t>
            </a:r>
            <a:endParaRPr lang="en-US" sz="1100" dirty="0"/>
          </a:p>
        </p:txBody>
      </p:sp>
      <p:sp>
        <p:nvSpPr>
          <p:cNvPr id="8" name="Text 6"/>
          <p:cNvSpPr/>
          <p:nvPr/>
        </p:nvSpPr>
        <p:spPr>
          <a:xfrm>
            <a:off x="777240" y="3794760"/>
            <a:ext cx="5029200" cy="1463040"/>
          </a:xfrm>
          <a:prstGeom prst="rect">
            <a:avLst/>
          </a:prstGeom>
          <a:noFill/>
          <a:ln/>
        </p:spPr>
        <p:txBody>
          <a:bodyPr wrap="square" rtlCol="0" anchor="ctr"/>
          <a:lstStyle/>
          <a:p>
            <a:pPr indent="0" marL="0">
              <a:buNone/>
            </a:pPr>
            <a:r>
              <a:rPr lang="en-US" sz="1600" dirty="0">
                <a:solidFill>
                  <a:srgbClr val="22272E"/>
                </a:solidFill>
                <a:latin typeface="Calibri" pitchFamily="34" charset="0"/>
                <a:ea typeface="Calibri" pitchFamily="34" charset="-122"/>
                <a:cs typeface="Calibri" pitchFamily="34" charset="-120"/>
              </a:rPr>
              <a:t>20–30 minutes. Open the task card. Run the checklist. Ship the artifact. React ✓ in the cohort channel.</a:t>
            </a:r>
            <a:endParaRPr lang="en-US" sz="1600" dirty="0"/>
          </a:p>
        </p:txBody>
      </p:sp>
      <p:sp>
        <p:nvSpPr>
          <p:cNvPr id="9" name="Text 7"/>
          <p:cNvSpPr/>
          <p:nvPr/>
        </p:nvSpPr>
        <p:spPr>
          <a:xfrm>
            <a:off x="777240" y="5669280"/>
            <a:ext cx="5029200" cy="457200"/>
          </a:xfrm>
          <a:prstGeom prst="rect">
            <a:avLst/>
          </a:prstGeom>
          <a:noFill/>
          <a:ln/>
        </p:spPr>
        <p:txBody>
          <a:bodyPr wrap="square" rtlCol="0" anchor="ctr"/>
          <a:lstStyle/>
          <a:p>
            <a:pPr indent="0" marL="0">
              <a:buNone/>
            </a:pPr>
            <a:r>
              <a:rPr lang="en-US" sz="1400" b="1" i="1" dirty="0">
                <a:solidFill>
                  <a:srgbClr val="1B2A4A"/>
                </a:solidFill>
                <a:latin typeface="Calibri" pitchFamily="34" charset="0"/>
                <a:ea typeface="Calibri" pitchFamily="34" charset="-122"/>
                <a:cs typeface="Calibri" pitchFamily="34" charset="-120"/>
              </a:rPr>
              <a:t>AI drafts. The watchman decides.</a:t>
            </a:r>
            <a:endParaRPr lang="en-US" sz="1400" dirty="0"/>
          </a:p>
        </p:txBody>
      </p:sp>
      <p:sp>
        <p:nvSpPr>
          <p:cNvPr id="10" name="Shape 8"/>
          <p:cNvSpPr/>
          <p:nvPr/>
        </p:nvSpPr>
        <p:spPr>
          <a:xfrm>
            <a:off x="6217920" y="3291840"/>
            <a:ext cx="5394960" cy="3017520"/>
          </a:xfrm>
          <a:prstGeom prst="rect">
            <a:avLst/>
          </a:prstGeom>
          <a:solidFill>
            <a:srgbClr val="CE8E31"/>
          </a:solidFill>
          <a:ln w="12700">
            <a:solidFill>
              <a:srgbClr val="CE8E31"/>
            </a:solidFill>
            <a:prstDash val="solid"/>
          </a:ln>
        </p:spPr>
      </p:sp>
      <p:sp>
        <p:nvSpPr>
          <p:cNvPr id="11" name="Text 9"/>
          <p:cNvSpPr/>
          <p:nvPr/>
        </p:nvSpPr>
        <p:spPr>
          <a:xfrm>
            <a:off x="6446520" y="3520440"/>
            <a:ext cx="5029200" cy="274320"/>
          </a:xfrm>
          <a:prstGeom prst="rect">
            <a:avLst/>
          </a:prstGeom>
          <a:noFill/>
          <a:ln/>
        </p:spPr>
        <p:txBody>
          <a:bodyPr wrap="square" rtlCol="0" anchor="ctr"/>
          <a:lstStyle/>
          <a:p>
            <a:pPr indent="0" marL="0">
              <a:buNone/>
            </a:pPr>
            <a:r>
              <a:rPr lang="en-US" sz="1100" b="1" spc="300" kern="0" dirty="0">
                <a:solidFill>
                  <a:srgbClr val="FFFFFF"/>
                </a:solidFill>
                <a:latin typeface="Calibri" pitchFamily="34" charset="0"/>
                <a:ea typeface="Calibri" pitchFamily="34" charset="-122"/>
                <a:cs typeface="Calibri" pitchFamily="34" charset="-120"/>
              </a:rPr>
              <a:t>SCRIPTURE ANCHOR</a:t>
            </a:r>
            <a:endParaRPr lang="en-US" sz="1100" dirty="0"/>
          </a:p>
        </p:txBody>
      </p:sp>
      <p:sp>
        <p:nvSpPr>
          <p:cNvPr id="12" name="Text 10"/>
          <p:cNvSpPr/>
          <p:nvPr/>
        </p:nvSpPr>
        <p:spPr>
          <a:xfrm>
            <a:off x="6446520" y="3840480"/>
            <a:ext cx="5029200" cy="502920"/>
          </a:xfrm>
          <a:prstGeom prst="rect">
            <a:avLst/>
          </a:prstGeom>
          <a:noFill/>
          <a:ln/>
        </p:spPr>
        <p:txBody>
          <a:bodyPr wrap="square"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Week 1 · Watchman's Posture</a:t>
            </a:r>
            <a:endParaRPr lang="en-US" sz="2000" dirty="0"/>
          </a:p>
        </p:txBody>
      </p:sp>
      <p:sp>
        <p:nvSpPr>
          <p:cNvPr id="13" name="Text 11"/>
          <p:cNvSpPr/>
          <p:nvPr/>
        </p:nvSpPr>
        <p:spPr>
          <a:xfrm>
            <a:off x="6446520" y="4434840"/>
            <a:ext cx="5029200" cy="548640"/>
          </a:xfrm>
          <a:prstGeom prst="rect">
            <a:avLst/>
          </a:prstGeom>
          <a:noFill/>
          <a:ln/>
        </p:spPr>
        <p:txBody>
          <a:bodyPr wrap="square" rtlCol="0" anchor="ctr"/>
          <a:lstStyle/>
          <a:p>
            <a:pPr indent="0" marL="0">
              <a:buNone/>
            </a:pPr>
            <a:r>
              <a:rPr lang="en-US" sz="1800" i="1" dirty="0">
                <a:solidFill>
                  <a:srgbClr val="FFFFFF"/>
                </a:solidFill>
                <a:latin typeface="Calibri" pitchFamily="34" charset="0"/>
                <a:ea typeface="Calibri" pitchFamily="34" charset="-122"/>
                <a:cs typeface="Calibri" pitchFamily="34" charset="-120"/>
              </a:rPr>
              <a:t>Ezekiel 33:1–7</a:t>
            </a:r>
            <a:endParaRPr lang="en-US" sz="1800" dirty="0"/>
          </a:p>
        </p:txBody>
      </p:sp>
      <p:sp>
        <p:nvSpPr>
          <p:cNvPr id="14" name="Text 12"/>
          <p:cNvSpPr/>
          <p:nvPr/>
        </p:nvSpPr>
        <p:spPr>
          <a:xfrm>
            <a:off x="6446520" y="5669280"/>
            <a:ext cx="5029200" cy="365760"/>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Read aloud at the open and the close.</a:t>
            </a:r>
            <a:endParaRPr lang="en-US" sz="1300" dirty="0"/>
          </a:p>
        </p:txBody>
      </p:sp>
      <p:sp>
        <p:nvSpPr>
          <p:cNvPr id="15" name="Text 13"/>
          <p:cNvSpPr/>
          <p:nvPr/>
        </p:nvSpPr>
        <p:spPr>
          <a:xfrm>
            <a:off x="548640" y="6492240"/>
            <a:ext cx="7315200" cy="274320"/>
          </a:xfrm>
          <a:prstGeom prst="rect">
            <a:avLst/>
          </a:prstGeom>
          <a:noFill/>
          <a:ln/>
        </p:spPr>
        <p:txBody>
          <a:bodyPr wrap="square" rtlCol="0" anchor="ctr"/>
          <a:lstStyle/>
          <a:p>
            <a:pPr indent="0" marL="0">
              <a:buNone/>
            </a:pPr>
            <a:r>
              <a:rPr lang="en-US" sz="1000" i="1" dirty="0">
                <a:solidFill>
                  <a:srgbClr val="5B6470"/>
                </a:solidFill>
                <a:latin typeface="Calibri" pitchFamily="34" charset="0"/>
                <a:ea typeface="Calibri" pitchFamily="34" charset="-122"/>
                <a:cs typeface="Calibri" pitchFamily="34" charset="-120"/>
              </a:rPr>
              <a:t>Week 1 · Watchman's Posture · Task 3</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B2A4A"/>
        </a:solidFill>
      </p:bgPr>
    </p:bg>
    <p:spTree>
      <p:nvGrpSpPr>
        <p:cNvPr id="1" name=""/>
        <p:cNvGrpSpPr/>
        <p:nvPr/>
      </p:nvGrpSpPr>
      <p:grpSpPr>
        <a:xfrm>
          <a:off x="0" y="0"/>
          <a:ext cx="0" cy="0"/>
          <a:chOff x="0" y="0"/>
          <a:chExt cx="0" cy="0"/>
        </a:xfrm>
      </p:grpSpPr>
      <p:sp>
        <p:nvSpPr>
          <p:cNvPr id="2" name="Text 0"/>
          <p:cNvSpPr/>
          <p:nvPr/>
        </p:nvSpPr>
        <p:spPr>
          <a:xfrm>
            <a:off x="548640" y="1463040"/>
            <a:ext cx="10972800" cy="457200"/>
          </a:xfrm>
          <a:prstGeom prst="rect">
            <a:avLst/>
          </a:prstGeom>
          <a:noFill/>
          <a:ln/>
        </p:spPr>
        <p:txBody>
          <a:bodyPr wrap="square" rtlCol="0" anchor="ctr"/>
          <a:lstStyle/>
          <a:p>
            <a:pPr indent="0" marL="0">
              <a:buNone/>
            </a:pPr>
            <a:r>
              <a:rPr lang="en-US" sz="1400" b="1" spc="500" kern="0" dirty="0">
                <a:solidFill>
                  <a:srgbClr val="CE8E31"/>
                </a:solidFill>
                <a:latin typeface="Calibri" pitchFamily="34" charset="0"/>
                <a:ea typeface="Calibri" pitchFamily="34" charset="-122"/>
                <a:cs typeface="Calibri" pitchFamily="34" charset="-120"/>
              </a:rPr>
              <a:t>WEEK 2  ·  BLOCK I — FOUNDATION</a:t>
            </a:r>
            <a:endParaRPr lang="en-US" sz="1400" dirty="0"/>
          </a:p>
        </p:txBody>
      </p:sp>
      <p:sp>
        <p:nvSpPr>
          <p:cNvPr id="3" name="Text 1"/>
          <p:cNvSpPr/>
          <p:nvPr/>
        </p:nvSpPr>
        <p:spPr>
          <a:xfrm>
            <a:off x="548640" y="1920240"/>
            <a:ext cx="11338560" cy="1371600"/>
          </a:xfrm>
          <a:prstGeom prst="rect">
            <a:avLst/>
          </a:prstGeom>
          <a:noFill/>
          <a:ln/>
        </p:spPr>
        <p:txBody>
          <a:bodyPr wrap="square" rtlCol="0" anchor="ctr"/>
          <a:lstStyle/>
          <a:p>
            <a:pPr indent="0" marL="0">
              <a:buNone/>
            </a:pPr>
            <a:r>
              <a:rPr lang="en-US" sz="5400" b="1" dirty="0">
                <a:solidFill>
                  <a:srgbClr val="FFFFFF"/>
                </a:solidFill>
                <a:latin typeface="Calibri" pitchFamily="34" charset="0"/>
                <a:ea typeface="Calibri" pitchFamily="34" charset="-122"/>
                <a:cs typeface="Calibri" pitchFamily="34" charset="-120"/>
              </a:rPr>
              <a:t>PROMPTING DISCIPLINE + VOICE MASTERY</a:t>
            </a:r>
            <a:endParaRPr lang="en-US" sz="5400" dirty="0"/>
          </a:p>
        </p:txBody>
      </p:sp>
      <p:sp>
        <p:nvSpPr>
          <p:cNvPr id="4" name="Shape 2"/>
          <p:cNvSpPr/>
          <p:nvPr/>
        </p:nvSpPr>
        <p:spPr>
          <a:xfrm>
            <a:off x="548640" y="3383280"/>
            <a:ext cx="1828800" cy="73152"/>
          </a:xfrm>
          <a:prstGeom prst="rect">
            <a:avLst/>
          </a:prstGeom>
          <a:solidFill>
            <a:srgbClr val="CE8E31"/>
          </a:solidFill>
          <a:ln w="12700">
            <a:solidFill>
              <a:srgbClr val="CE8E31"/>
            </a:solidFill>
            <a:prstDash val="solid"/>
          </a:ln>
        </p:spPr>
      </p:sp>
      <p:sp>
        <p:nvSpPr>
          <p:cNvPr id="5" name="Text 3"/>
          <p:cNvSpPr/>
          <p:nvPr/>
        </p:nvSpPr>
        <p:spPr>
          <a:xfrm>
            <a:off x="548640" y="3566160"/>
            <a:ext cx="10515600" cy="1097280"/>
          </a:xfrm>
          <a:prstGeom prst="rect">
            <a:avLst/>
          </a:prstGeom>
          <a:noFill/>
          <a:ln/>
        </p:spPr>
        <p:txBody>
          <a:bodyPr wrap="square" rtlCol="0" anchor="ctr"/>
          <a:lstStyle/>
          <a:p>
            <a:pPr indent="0" marL="0">
              <a:buNone/>
            </a:pPr>
            <a:r>
              <a:rPr lang="en-US" sz="2200" i="1" dirty="0">
                <a:solidFill>
                  <a:srgbClr val="94A3B8"/>
                </a:solidFill>
                <a:latin typeface="Calibri" pitchFamily="34" charset="0"/>
                <a:ea typeface="Calibri" pitchFamily="34" charset="-122"/>
                <a:cs typeface="Calibri" pitchFamily="34" charset="-120"/>
              </a:rPr>
              <a:t>The five-part prompt structure, and the dictation loop that turns a thirty-minute task into eight.</a:t>
            </a:r>
            <a:endParaRPr lang="en-US" sz="2200" dirty="0"/>
          </a:p>
        </p:txBody>
      </p:sp>
      <p:sp>
        <p:nvSpPr>
          <p:cNvPr id="6" name="Text 4"/>
          <p:cNvSpPr/>
          <p:nvPr/>
        </p:nvSpPr>
        <p:spPr>
          <a:xfrm>
            <a:off x="548640" y="5029200"/>
            <a:ext cx="10972800" cy="274320"/>
          </a:xfrm>
          <a:prstGeom prst="rect">
            <a:avLst/>
          </a:prstGeom>
          <a:noFill/>
          <a:ln/>
        </p:spPr>
        <p:txBody>
          <a:bodyPr wrap="square" rtlCol="0" anchor="ctr"/>
          <a:lstStyle/>
          <a:p>
            <a:pPr indent="0" marL="0">
              <a:buNone/>
            </a:pPr>
            <a:r>
              <a:rPr lang="en-US" sz="1000" b="1" spc="400" kern="0" dirty="0">
                <a:solidFill>
                  <a:srgbClr val="CE8E31"/>
                </a:solidFill>
                <a:latin typeface="Calibri" pitchFamily="34" charset="0"/>
                <a:ea typeface="Calibri" pitchFamily="34" charset="-122"/>
                <a:cs typeface="Calibri" pitchFamily="34" charset="-120"/>
              </a:rPr>
              <a:t>SCRIPTURE</a:t>
            </a:r>
            <a:endParaRPr lang="en-US" sz="1000" dirty="0"/>
          </a:p>
        </p:txBody>
      </p:sp>
      <p:sp>
        <p:nvSpPr>
          <p:cNvPr id="7" name="Text 5"/>
          <p:cNvSpPr/>
          <p:nvPr/>
        </p:nvSpPr>
        <p:spPr>
          <a:xfrm>
            <a:off x="548640" y="5303520"/>
            <a:ext cx="10972800" cy="457200"/>
          </a:xfrm>
          <a:prstGeom prst="rect">
            <a:avLst/>
          </a:prstGeom>
          <a:noFill/>
          <a:ln/>
        </p:spPr>
        <p:txBody>
          <a:bodyPr wrap="square" rtlCol="0" anchor="ctr"/>
          <a:lstStyle/>
          <a:p>
            <a:pPr indent="0" marL="0">
              <a:buNone/>
            </a:pPr>
            <a:r>
              <a:rPr lang="en-US" sz="2000" dirty="0">
                <a:solidFill>
                  <a:srgbClr val="FFFFFF"/>
                </a:solidFill>
                <a:latin typeface="Calibri" pitchFamily="34" charset="0"/>
                <a:ea typeface="Calibri" pitchFamily="34" charset="-122"/>
                <a:cs typeface="Calibri" pitchFamily="34" charset="-120"/>
              </a:rPr>
              <a:t>Proverbs 18:13</a:t>
            </a:r>
            <a:endParaRPr lang="en-US" sz="2000" dirty="0"/>
          </a:p>
        </p:txBody>
      </p:sp>
      <p:sp>
        <p:nvSpPr>
          <p:cNvPr id="8" name="Text 6"/>
          <p:cNvSpPr/>
          <p:nvPr/>
        </p:nvSpPr>
        <p:spPr>
          <a:xfrm>
            <a:off x="548640" y="6492240"/>
            <a:ext cx="7315200" cy="274320"/>
          </a:xfrm>
          <a:prstGeom prst="rect">
            <a:avLst/>
          </a:prstGeom>
          <a:noFill/>
          <a:ln/>
        </p:spPr>
        <p:txBody>
          <a:bodyPr wrap="square" rtlCol="0" anchor="ctr"/>
          <a:lstStyle/>
          <a:p>
            <a:pPr indent="0" marL="0">
              <a:buNone/>
            </a:pPr>
            <a:r>
              <a:rPr lang="en-US" sz="1000" i="1" dirty="0">
                <a:solidFill>
                  <a:srgbClr val="5B6470"/>
                </a:solidFill>
                <a:latin typeface="Calibri" pitchFamily="34" charset="0"/>
                <a:ea typeface="Calibri" pitchFamily="34" charset="-122"/>
                <a:cs typeface="Calibri" pitchFamily="34" charset="-120"/>
              </a:rPr>
              <a:t>Week 2 · Prompting Discipline + Voice Mastery</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0972800" cy="365760"/>
          </a:xfrm>
          <a:prstGeom prst="rect">
            <a:avLst/>
          </a:prstGeom>
          <a:noFill/>
          <a:ln/>
        </p:spPr>
        <p:txBody>
          <a:bodyPr wrap="square" rtlCol="0" anchor="ctr"/>
          <a:lstStyle/>
          <a:p>
            <a:pPr indent="0" marL="0">
              <a:buNone/>
            </a:pPr>
            <a:r>
              <a:rPr lang="en-US" sz="1100" b="1" spc="400" kern="0" dirty="0">
                <a:solidFill>
                  <a:srgbClr val="CE8E31"/>
                </a:solidFill>
                <a:latin typeface="Calibri" pitchFamily="34" charset="0"/>
                <a:ea typeface="Calibri" pitchFamily="34" charset="-122"/>
                <a:cs typeface="Calibri" pitchFamily="34" charset="-120"/>
              </a:rPr>
              <a:t>WEEK 2 · TASK 1 · MONDAY</a:t>
            </a:r>
            <a:endParaRPr lang="en-US" sz="1100" dirty="0"/>
          </a:p>
        </p:txBody>
      </p:sp>
      <p:sp>
        <p:nvSpPr>
          <p:cNvPr id="3" name="Text 1"/>
          <p:cNvSpPr/>
          <p:nvPr/>
        </p:nvSpPr>
        <p:spPr>
          <a:xfrm>
            <a:off x="548640" y="822960"/>
            <a:ext cx="11155680" cy="1280160"/>
          </a:xfrm>
          <a:prstGeom prst="rect">
            <a:avLst/>
          </a:prstGeom>
          <a:noFill/>
          <a:ln/>
        </p:spPr>
        <p:txBody>
          <a:bodyPr wrap="square" rtlCol="0" anchor="t"/>
          <a:lstStyle/>
          <a:p>
            <a:pPr indent="0" marL="0">
              <a:buNone/>
            </a:pPr>
            <a:r>
              <a:rPr lang="en-US" sz="3600" b="1" dirty="0">
                <a:solidFill>
                  <a:srgbClr val="1B2A4A"/>
                </a:solidFill>
                <a:latin typeface="Calibri" pitchFamily="34" charset="0"/>
                <a:ea typeface="Calibri" pitchFamily="34" charset="-122"/>
                <a:cs typeface="Calibri" pitchFamily="34" charset="-120"/>
              </a:rPr>
              <a:t>Anatomy of a Watchman's Prompt</a:t>
            </a:r>
            <a:endParaRPr lang="en-US" sz="3600" dirty="0"/>
          </a:p>
        </p:txBody>
      </p:sp>
      <p:sp>
        <p:nvSpPr>
          <p:cNvPr id="4" name="Text 2"/>
          <p:cNvSpPr/>
          <p:nvPr/>
        </p:nvSpPr>
        <p:spPr>
          <a:xfrm>
            <a:off x="548640" y="2103120"/>
            <a:ext cx="10972800" cy="731520"/>
          </a:xfrm>
          <a:prstGeom prst="rect">
            <a:avLst/>
          </a:prstGeom>
          <a:noFill/>
          <a:ln/>
        </p:spPr>
        <p:txBody>
          <a:bodyPr wrap="square" rtlCol="0" anchor="ctr"/>
          <a:lstStyle/>
          <a:p>
            <a:pPr indent="0" marL="0">
              <a:buNone/>
            </a:pPr>
            <a:r>
              <a:rPr lang="en-US" sz="1900" i="1" dirty="0">
                <a:solidFill>
                  <a:srgbClr val="5B6470"/>
                </a:solidFill>
                <a:latin typeface="Calibri" pitchFamily="34" charset="0"/>
                <a:ea typeface="Calibri" pitchFamily="34" charset="-122"/>
                <a:cs typeface="Calibri" pitchFamily="34" charset="-120"/>
              </a:rPr>
              <a:t>The five-part structure that turns a vague ask into a sharp answer.</a:t>
            </a:r>
            <a:endParaRPr lang="en-US" sz="1900" dirty="0"/>
          </a:p>
        </p:txBody>
      </p:sp>
      <p:sp>
        <p:nvSpPr>
          <p:cNvPr id="5" name="Shape 3"/>
          <p:cNvSpPr/>
          <p:nvPr/>
        </p:nvSpPr>
        <p:spPr>
          <a:xfrm>
            <a:off x="548640" y="3291840"/>
            <a:ext cx="5486400" cy="3017520"/>
          </a:xfrm>
          <a:prstGeom prst="rect">
            <a:avLst/>
          </a:prstGeom>
          <a:solidFill>
            <a:srgbClr val="F4F1EA"/>
          </a:solidFill>
          <a:ln w="12700">
            <a:solidFill>
              <a:srgbClr val="D8DCE2"/>
            </a:solidFill>
            <a:prstDash val="solid"/>
          </a:ln>
        </p:spPr>
      </p:sp>
      <p:sp>
        <p:nvSpPr>
          <p:cNvPr id="6" name="Shape 4"/>
          <p:cNvSpPr/>
          <p:nvPr/>
        </p:nvSpPr>
        <p:spPr>
          <a:xfrm>
            <a:off x="548640" y="3291840"/>
            <a:ext cx="73152" cy="3017520"/>
          </a:xfrm>
          <a:prstGeom prst="rect">
            <a:avLst/>
          </a:prstGeom>
          <a:solidFill>
            <a:srgbClr val="1B2A4A"/>
          </a:solidFill>
          <a:ln w="12700">
            <a:solidFill>
              <a:srgbClr val="1B2A4A"/>
            </a:solidFill>
            <a:prstDash val="solid"/>
          </a:ln>
        </p:spPr>
      </p:sp>
      <p:sp>
        <p:nvSpPr>
          <p:cNvPr id="7" name="Text 5"/>
          <p:cNvSpPr/>
          <p:nvPr/>
        </p:nvSpPr>
        <p:spPr>
          <a:xfrm>
            <a:off x="777240" y="3474720"/>
            <a:ext cx="5029200" cy="274320"/>
          </a:xfrm>
          <a:prstGeom prst="rect">
            <a:avLst/>
          </a:prstGeom>
          <a:noFill/>
          <a:ln/>
        </p:spPr>
        <p:txBody>
          <a:bodyPr wrap="square" rtlCol="0" anchor="ctr"/>
          <a:lstStyle/>
          <a:p>
            <a:pPr indent="0" marL="0">
              <a:buNone/>
            </a:pPr>
            <a:r>
              <a:rPr lang="en-US" sz="1100" b="1" spc="300" kern="0" dirty="0">
                <a:solidFill>
                  <a:srgbClr val="CE8E31"/>
                </a:solidFill>
                <a:latin typeface="Calibri" pitchFamily="34" charset="0"/>
                <a:ea typeface="Calibri" pitchFamily="34" charset="-122"/>
                <a:cs typeface="Calibri" pitchFamily="34" charset="-120"/>
              </a:rPr>
              <a:t>THE ACTION</a:t>
            </a:r>
            <a:endParaRPr lang="en-US" sz="1100" dirty="0"/>
          </a:p>
        </p:txBody>
      </p:sp>
      <p:sp>
        <p:nvSpPr>
          <p:cNvPr id="8" name="Text 6"/>
          <p:cNvSpPr/>
          <p:nvPr/>
        </p:nvSpPr>
        <p:spPr>
          <a:xfrm>
            <a:off x="777240" y="3794760"/>
            <a:ext cx="5029200" cy="1463040"/>
          </a:xfrm>
          <a:prstGeom prst="rect">
            <a:avLst/>
          </a:prstGeom>
          <a:noFill/>
          <a:ln/>
        </p:spPr>
        <p:txBody>
          <a:bodyPr wrap="square" rtlCol="0" anchor="ctr"/>
          <a:lstStyle/>
          <a:p>
            <a:pPr indent="0" marL="0">
              <a:buNone/>
            </a:pPr>
            <a:r>
              <a:rPr lang="en-US" sz="1600" dirty="0">
                <a:solidFill>
                  <a:srgbClr val="22272E"/>
                </a:solidFill>
                <a:latin typeface="Calibri" pitchFamily="34" charset="0"/>
                <a:ea typeface="Calibri" pitchFamily="34" charset="-122"/>
                <a:cs typeface="Calibri" pitchFamily="34" charset="-120"/>
              </a:rPr>
              <a:t>20–30 minutes. Open the task card. Run the checklist. Ship the artifact. React ✓ in the cohort channel.</a:t>
            </a:r>
            <a:endParaRPr lang="en-US" sz="1600" dirty="0"/>
          </a:p>
        </p:txBody>
      </p:sp>
      <p:sp>
        <p:nvSpPr>
          <p:cNvPr id="9" name="Text 7"/>
          <p:cNvSpPr/>
          <p:nvPr/>
        </p:nvSpPr>
        <p:spPr>
          <a:xfrm>
            <a:off x="777240" y="5669280"/>
            <a:ext cx="5029200" cy="457200"/>
          </a:xfrm>
          <a:prstGeom prst="rect">
            <a:avLst/>
          </a:prstGeom>
          <a:noFill/>
          <a:ln/>
        </p:spPr>
        <p:txBody>
          <a:bodyPr wrap="square" rtlCol="0" anchor="ctr"/>
          <a:lstStyle/>
          <a:p>
            <a:pPr indent="0" marL="0">
              <a:buNone/>
            </a:pPr>
            <a:r>
              <a:rPr lang="en-US" sz="1400" b="1" i="1" dirty="0">
                <a:solidFill>
                  <a:srgbClr val="1B2A4A"/>
                </a:solidFill>
                <a:latin typeface="Calibri" pitchFamily="34" charset="0"/>
                <a:ea typeface="Calibri" pitchFamily="34" charset="-122"/>
                <a:cs typeface="Calibri" pitchFamily="34" charset="-120"/>
              </a:rPr>
              <a:t>AI drafts. The watchman decides.</a:t>
            </a:r>
            <a:endParaRPr lang="en-US" sz="1400" dirty="0"/>
          </a:p>
        </p:txBody>
      </p:sp>
      <p:sp>
        <p:nvSpPr>
          <p:cNvPr id="10" name="Shape 8"/>
          <p:cNvSpPr/>
          <p:nvPr/>
        </p:nvSpPr>
        <p:spPr>
          <a:xfrm>
            <a:off x="6217920" y="3291840"/>
            <a:ext cx="5394960" cy="3017520"/>
          </a:xfrm>
          <a:prstGeom prst="rect">
            <a:avLst/>
          </a:prstGeom>
          <a:solidFill>
            <a:srgbClr val="CE8E31"/>
          </a:solidFill>
          <a:ln w="12700">
            <a:solidFill>
              <a:srgbClr val="CE8E31"/>
            </a:solidFill>
            <a:prstDash val="solid"/>
          </a:ln>
        </p:spPr>
      </p:sp>
      <p:sp>
        <p:nvSpPr>
          <p:cNvPr id="11" name="Text 9"/>
          <p:cNvSpPr/>
          <p:nvPr/>
        </p:nvSpPr>
        <p:spPr>
          <a:xfrm>
            <a:off x="6446520" y="3520440"/>
            <a:ext cx="5029200" cy="274320"/>
          </a:xfrm>
          <a:prstGeom prst="rect">
            <a:avLst/>
          </a:prstGeom>
          <a:noFill/>
          <a:ln/>
        </p:spPr>
        <p:txBody>
          <a:bodyPr wrap="square" rtlCol="0" anchor="ctr"/>
          <a:lstStyle/>
          <a:p>
            <a:pPr indent="0" marL="0">
              <a:buNone/>
            </a:pPr>
            <a:r>
              <a:rPr lang="en-US" sz="1100" b="1" spc="300" kern="0" dirty="0">
                <a:solidFill>
                  <a:srgbClr val="FFFFFF"/>
                </a:solidFill>
                <a:latin typeface="Calibri" pitchFamily="34" charset="0"/>
                <a:ea typeface="Calibri" pitchFamily="34" charset="-122"/>
                <a:cs typeface="Calibri" pitchFamily="34" charset="-120"/>
              </a:rPr>
              <a:t>SCRIPTURE ANCHOR</a:t>
            </a:r>
            <a:endParaRPr lang="en-US" sz="1100" dirty="0"/>
          </a:p>
        </p:txBody>
      </p:sp>
      <p:sp>
        <p:nvSpPr>
          <p:cNvPr id="12" name="Text 10"/>
          <p:cNvSpPr/>
          <p:nvPr/>
        </p:nvSpPr>
        <p:spPr>
          <a:xfrm>
            <a:off x="6446520" y="3840480"/>
            <a:ext cx="5029200" cy="502920"/>
          </a:xfrm>
          <a:prstGeom prst="rect">
            <a:avLst/>
          </a:prstGeom>
          <a:noFill/>
          <a:ln/>
        </p:spPr>
        <p:txBody>
          <a:bodyPr wrap="square"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Week 2 · Prompting Discipline + Voice Mastery</a:t>
            </a:r>
            <a:endParaRPr lang="en-US" sz="2000" dirty="0"/>
          </a:p>
        </p:txBody>
      </p:sp>
      <p:sp>
        <p:nvSpPr>
          <p:cNvPr id="13" name="Text 11"/>
          <p:cNvSpPr/>
          <p:nvPr/>
        </p:nvSpPr>
        <p:spPr>
          <a:xfrm>
            <a:off x="6446520" y="4434840"/>
            <a:ext cx="5029200" cy="548640"/>
          </a:xfrm>
          <a:prstGeom prst="rect">
            <a:avLst/>
          </a:prstGeom>
          <a:noFill/>
          <a:ln/>
        </p:spPr>
        <p:txBody>
          <a:bodyPr wrap="square" rtlCol="0" anchor="ctr"/>
          <a:lstStyle/>
          <a:p>
            <a:pPr indent="0" marL="0">
              <a:buNone/>
            </a:pPr>
            <a:r>
              <a:rPr lang="en-US" sz="1800" i="1" dirty="0">
                <a:solidFill>
                  <a:srgbClr val="FFFFFF"/>
                </a:solidFill>
                <a:latin typeface="Calibri" pitchFamily="34" charset="0"/>
                <a:ea typeface="Calibri" pitchFamily="34" charset="-122"/>
                <a:cs typeface="Calibri" pitchFamily="34" charset="-120"/>
              </a:rPr>
              <a:t>Proverbs 18:13</a:t>
            </a:r>
            <a:endParaRPr lang="en-US" sz="1800" dirty="0"/>
          </a:p>
        </p:txBody>
      </p:sp>
      <p:sp>
        <p:nvSpPr>
          <p:cNvPr id="14" name="Text 12"/>
          <p:cNvSpPr/>
          <p:nvPr/>
        </p:nvSpPr>
        <p:spPr>
          <a:xfrm>
            <a:off x="6446520" y="5669280"/>
            <a:ext cx="5029200" cy="365760"/>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Read aloud at the open and the close.</a:t>
            </a:r>
            <a:endParaRPr lang="en-US" sz="1300" dirty="0"/>
          </a:p>
        </p:txBody>
      </p:sp>
      <p:sp>
        <p:nvSpPr>
          <p:cNvPr id="15" name="Text 13"/>
          <p:cNvSpPr/>
          <p:nvPr/>
        </p:nvSpPr>
        <p:spPr>
          <a:xfrm>
            <a:off x="548640" y="6492240"/>
            <a:ext cx="7315200" cy="274320"/>
          </a:xfrm>
          <a:prstGeom prst="rect">
            <a:avLst/>
          </a:prstGeom>
          <a:noFill/>
          <a:ln/>
        </p:spPr>
        <p:txBody>
          <a:bodyPr wrap="square" rtlCol="0" anchor="ctr"/>
          <a:lstStyle/>
          <a:p>
            <a:pPr indent="0" marL="0">
              <a:buNone/>
            </a:pPr>
            <a:r>
              <a:rPr lang="en-US" sz="1000" i="1" dirty="0">
                <a:solidFill>
                  <a:srgbClr val="5B6470"/>
                </a:solidFill>
                <a:latin typeface="Calibri" pitchFamily="34" charset="0"/>
                <a:ea typeface="Calibri" pitchFamily="34" charset="-122"/>
                <a:cs typeface="Calibri" pitchFamily="34" charset="-120"/>
              </a:rPr>
              <a:t>Week 2 · Prompting Discipline + Voice Mastery · Task 1</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0972800" cy="365760"/>
          </a:xfrm>
          <a:prstGeom prst="rect">
            <a:avLst/>
          </a:prstGeom>
          <a:noFill/>
          <a:ln/>
        </p:spPr>
        <p:txBody>
          <a:bodyPr wrap="square" rtlCol="0" anchor="ctr"/>
          <a:lstStyle/>
          <a:p>
            <a:pPr indent="0" marL="0">
              <a:buNone/>
            </a:pPr>
            <a:r>
              <a:rPr lang="en-US" sz="1100" b="1" spc="400" kern="0" dirty="0">
                <a:solidFill>
                  <a:srgbClr val="CE8E31"/>
                </a:solidFill>
                <a:latin typeface="Calibri" pitchFamily="34" charset="0"/>
                <a:ea typeface="Calibri" pitchFamily="34" charset="-122"/>
                <a:cs typeface="Calibri" pitchFamily="34" charset="-120"/>
              </a:rPr>
              <a:t>WEEK 2 · TASK 2 · WEDNESDAY</a:t>
            </a:r>
            <a:endParaRPr lang="en-US" sz="1100" dirty="0"/>
          </a:p>
        </p:txBody>
      </p:sp>
      <p:sp>
        <p:nvSpPr>
          <p:cNvPr id="3" name="Text 1"/>
          <p:cNvSpPr/>
          <p:nvPr/>
        </p:nvSpPr>
        <p:spPr>
          <a:xfrm>
            <a:off x="548640" y="822960"/>
            <a:ext cx="11155680" cy="1280160"/>
          </a:xfrm>
          <a:prstGeom prst="rect">
            <a:avLst/>
          </a:prstGeom>
          <a:noFill/>
          <a:ln/>
        </p:spPr>
        <p:txBody>
          <a:bodyPr wrap="square" rtlCol="0" anchor="t"/>
          <a:lstStyle/>
          <a:p>
            <a:pPr indent="0" marL="0">
              <a:buNone/>
            </a:pPr>
            <a:r>
              <a:rPr lang="en-US" sz="3600" b="1" dirty="0">
                <a:solidFill>
                  <a:srgbClr val="1B2A4A"/>
                </a:solidFill>
                <a:latin typeface="Calibri" pitchFamily="34" charset="0"/>
                <a:ea typeface="Calibri" pitchFamily="34" charset="-122"/>
                <a:cs typeface="Calibri" pitchFamily="34" charset="-120"/>
              </a:rPr>
              <a:t>Voice Capture + Whisper Workflow</a:t>
            </a:r>
            <a:endParaRPr lang="en-US" sz="3600" dirty="0"/>
          </a:p>
        </p:txBody>
      </p:sp>
      <p:sp>
        <p:nvSpPr>
          <p:cNvPr id="4" name="Text 2"/>
          <p:cNvSpPr/>
          <p:nvPr/>
        </p:nvSpPr>
        <p:spPr>
          <a:xfrm>
            <a:off x="548640" y="2103120"/>
            <a:ext cx="10972800" cy="731520"/>
          </a:xfrm>
          <a:prstGeom prst="rect">
            <a:avLst/>
          </a:prstGeom>
          <a:noFill/>
          <a:ln/>
        </p:spPr>
        <p:txBody>
          <a:bodyPr wrap="square" rtlCol="0" anchor="ctr"/>
          <a:lstStyle/>
          <a:p>
            <a:pPr indent="0" marL="0">
              <a:buNone/>
            </a:pPr>
            <a:r>
              <a:rPr lang="en-US" sz="1900" i="1" dirty="0">
                <a:solidFill>
                  <a:srgbClr val="5B6470"/>
                </a:solidFill>
                <a:latin typeface="Calibri" pitchFamily="34" charset="0"/>
                <a:ea typeface="Calibri" pitchFamily="34" charset="-122"/>
                <a:cs typeface="Calibri" pitchFamily="34" charset="-120"/>
              </a:rPr>
              <a:t>Talk faster than you type. Build the dictation loop.</a:t>
            </a:r>
            <a:endParaRPr lang="en-US" sz="1900" dirty="0"/>
          </a:p>
        </p:txBody>
      </p:sp>
      <p:sp>
        <p:nvSpPr>
          <p:cNvPr id="5" name="Shape 3"/>
          <p:cNvSpPr/>
          <p:nvPr/>
        </p:nvSpPr>
        <p:spPr>
          <a:xfrm>
            <a:off x="548640" y="3291840"/>
            <a:ext cx="5486400" cy="3017520"/>
          </a:xfrm>
          <a:prstGeom prst="rect">
            <a:avLst/>
          </a:prstGeom>
          <a:solidFill>
            <a:srgbClr val="F4F1EA"/>
          </a:solidFill>
          <a:ln w="12700">
            <a:solidFill>
              <a:srgbClr val="D8DCE2"/>
            </a:solidFill>
            <a:prstDash val="solid"/>
          </a:ln>
        </p:spPr>
      </p:sp>
      <p:sp>
        <p:nvSpPr>
          <p:cNvPr id="6" name="Shape 4"/>
          <p:cNvSpPr/>
          <p:nvPr/>
        </p:nvSpPr>
        <p:spPr>
          <a:xfrm>
            <a:off x="548640" y="3291840"/>
            <a:ext cx="73152" cy="3017520"/>
          </a:xfrm>
          <a:prstGeom prst="rect">
            <a:avLst/>
          </a:prstGeom>
          <a:solidFill>
            <a:srgbClr val="1B2A4A"/>
          </a:solidFill>
          <a:ln w="12700">
            <a:solidFill>
              <a:srgbClr val="1B2A4A"/>
            </a:solidFill>
            <a:prstDash val="solid"/>
          </a:ln>
        </p:spPr>
      </p:sp>
      <p:sp>
        <p:nvSpPr>
          <p:cNvPr id="7" name="Text 5"/>
          <p:cNvSpPr/>
          <p:nvPr/>
        </p:nvSpPr>
        <p:spPr>
          <a:xfrm>
            <a:off x="777240" y="3474720"/>
            <a:ext cx="5029200" cy="274320"/>
          </a:xfrm>
          <a:prstGeom prst="rect">
            <a:avLst/>
          </a:prstGeom>
          <a:noFill/>
          <a:ln/>
        </p:spPr>
        <p:txBody>
          <a:bodyPr wrap="square" rtlCol="0" anchor="ctr"/>
          <a:lstStyle/>
          <a:p>
            <a:pPr indent="0" marL="0">
              <a:buNone/>
            </a:pPr>
            <a:r>
              <a:rPr lang="en-US" sz="1100" b="1" spc="300" kern="0" dirty="0">
                <a:solidFill>
                  <a:srgbClr val="CE8E31"/>
                </a:solidFill>
                <a:latin typeface="Calibri" pitchFamily="34" charset="0"/>
                <a:ea typeface="Calibri" pitchFamily="34" charset="-122"/>
                <a:cs typeface="Calibri" pitchFamily="34" charset="-120"/>
              </a:rPr>
              <a:t>THE ACTION</a:t>
            </a:r>
            <a:endParaRPr lang="en-US" sz="1100" dirty="0"/>
          </a:p>
        </p:txBody>
      </p:sp>
      <p:sp>
        <p:nvSpPr>
          <p:cNvPr id="8" name="Text 6"/>
          <p:cNvSpPr/>
          <p:nvPr/>
        </p:nvSpPr>
        <p:spPr>
          <a:xfrm>
            <a:off x="777240" y="3794760"/>
            <a:ext cx="5029200" cy="1463040"/>
          </a:xfrm>
          <a:prstGeom prst="rect">
            <a:avLst/>
          </a:prstGeom>
          <a:noFill/>
          <a:ln/>
        </p:spPr>
        <p:txBody>
          <a:bodyPr wrap="square" rtlCol="0" anchor="ctr"/>
          <a:lstStyle/>
          <a:p>
            <a:pPr indent="0" marL="0">
              <a:buNone/>
            </a:pPr>
            <a:r>
              <a:rPr lang="en-US" sz="1600" dirty="0">
                <a:solidFill>
                  <a:srgbClr val="22272E"/>
                </a:solidFill>
                <a:latin typeface="Calibri" pitchFamily="34" charset="0"/>
                <a:ea typeface="Calibri" pitchFamily="34" charset="-122"/>
                <a:cs typeface="Calibri" pitchFamily="34" charset="-120"/>
              </a:rPr>
              <a:t>20–30 minutes. Open the task card. Run the checklist. Ship the artifact. React ✓ in the cohort channel.</a:t>
            </a:r>
            <a:endParaRPr lang="en-US" sz="1600" dirty="0"/>
          </a:p>
        </p:txBody>
      </p:sp>
      <p:sp>
        <p:nvSpPr>
          <p:cNvPr id="9" name="Text 7"/>
          <p:cNvSpPr/>
          <p:nvPr/>
        </p:nvSpPr>
        <p:spPr>
          <a:xfrm>
            <a:off x="777240" y="5669280"/>
            <a:ext cx="5029200" cy="457200"/>
          </a:xfrm>
          <a:prstGeom prst="rect">
            <a:avLst/>
          </a:prstGeom>
          <a:noFill/>
          <a:ln/>
        </p:spPr>
        <p:txBody>
          <a:bodyPr wrap="square" rtlCol="0" anchor="ctr"/>
          <a:lstStyle/>
          <a:p>
            <a:pPr indent="0" marL="0">
              <a:buNone/>
            </a:pPr>
            <a:r>
              <a:rPr lang="en-US" sz="1400" b="1" i="1" dirty="0">
                <a:solidFill>
                  <a:srgbClr val="1B2A4A"/>
                </a:solidFill>
                <a:latin typeface="Calibri" pitchFamily="34" charset="0"/>
                <a:ea typeface="Calibri" pitchFamily="34" charset="-122"/>
                <a:cs typeface="Calibri" pitchFamily="34" charset="-120"/>
              </a:rPr>
              <a:t>AI drafts. The watchman decides.</a:t>
            </a:r>
            <a:endParaRPr lang="en-US" sz="1400" dirty="0"/>
          </a:p>
        </p:txBody>
      </p:sp>
      <p:sp>
        <p:nvSpPr>
          <p:cNvPr id="10" name="Shape 8"/>
          <p:cNvSpPr/>
          <p:nvPr/>
        </p:nvSpPr>
        <p:spPr>
          <a:xfrm>
            <a:off x="6217920" y="3291840"/>
            <a:ext cx="5394960" cy="3017520"/>
          </a:xfrm>
          <a:prstGeom prst="rect">
            <a:avLst/>
          </a:prstGeom>
          <a:solidFill>
            <a:srgbClr val="CE8E31"/>
          </a:solidFill>
          <a:ln w="12700">
            <a:solidFill>
              <a:srgbClr val="CE8E31"/>
            </a:solidFill>
            <a:prstDash val="solid"/>
          </a:ln>
        </p:spPr>
      </p:sp>
      <p:sp>
        <p:nvSpPr>
          <p:cNvPr id="11" name="Text 9"/>
          <p:cNvSpPr/>
          <p:nvPr/>
        </p:nvSpPr>
        <p:spPr>
          <a:xfrm>
            <a:off x="6446520" y="3520440"/>
            <a:ext cx="5029200" cy="274320"/>
          </a:xfrm>
          <a:prstGeom prst="rect">
            <a:avLst/>
          </a:prstGeom>
          <a:noFill/>
          <a:ln/>
        </p:spPr>
        <p:txBody>
          <a:bodyPr wrap="square" rtlCol="0" anchor="ctr"/>
          <a:lstStyle/>
          <a:p>
            <a:pPr indent="0" marL="0">
              <a:buNone/>
            </a:pPr>
            <a:r>
              <a:rPr lang="en-US" sz="1100" b="1" spc="300" kern="0" dirty="0">
                <a:solidFill>
                  <a:srgbClr val="FFFFFF"/>
                </a:solidFill>
                <a:latin typeface="Calibri" pitchFamily="34" charset="0"/>
                <a:ea typeface="Calibri" pitchFamily="34" charset="-122"/>
                <a:cs typeface="Calibri" pitchFamily="34" charset="-120"/>
              </a:rPr>
              <a:t>SCRIPTURE ANCHOR</a:t>
            </a:r>
            <a:endParaRPr lang="en-US" sz="1100" dirty="0"/>
          </a:p>
        </p:txBody>
      </p:sp>
      <p:sp>
        <p:nvSpPr>
          <p:cNvPr id="12" name="Text 10"/>
          <p:cNvSpPr/>
          <p:nvPr/>
        </p:nvSpPr>
        <p:spPr>
          <a:xfrm>
            <a:off x="6446520" y="3840480"/>
            <a:ext cx="5029200" cy="502920"/>
          </a:xfrm>
          <a:prstGeom prst="rect">
            <a:avLst/>
          </a:prstGeom>
          <a:noFill/>
          <a:ln/>
        </p:spPr>
        <p:txBody>
          <a:bodyPr wrap="square"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Week 2 · Prompting Discipline + Voice Mastery</a:t>
            </a:r>
            <a:endParaRPr lang="en-US" sz="2000" dirty="0"/>
          </a:p>
        </p:txBody>
      </p:sp>
      <p:sp>
        <p:nvSpPr>
          <p:cNvPr id="13" name="Text 11"/>
          <p:cNvSpPr/>
          <p:nvPr/>
        </p:nvSpPr>
        <p:spPr>
          <a:xfrm>
            <a:off x="6446520" y="4434840"/>
            <a:ext cx="5029200" cy="548640"/>
          </a:xfrm>
          <a:prstGeom prst="rect">
            <a:avLst/>
          </a:prstGeom>
          <a:noFill/>
          <a:ln/>
        </p:spPr>
        <p:txBody>
          <a:bodyPr wrap="square" rtlCol="0" anchor="ctr"/>
          <a:lstStyle/>
          <a:p>
            <a:pPr indent="0" marL="0">
              <a:buNone/>
            </a:pPr>
            <a:r>
              <a:rPr lang="en-US" sz="1800" i="1" dirty="0">
                <a:solidFill>
                  <a:srgbClr val="FFFFFF"/>
                </a:solidFill>
                <a:latin typeface="Calibri" pitchFamily="34" charset="0"/>
                <a:ea typeface="Calibri" pitchFamily="34" charset="-122"/>
                <a:cs typeface="Calibri" pitchFamily="34" charset="-120"/>
              </a:rPr>
              <a:t>Proverbs 18:13</a:t>
            </a:r>
            <a:endParaRPr lang="en-US" sz="1800" dirty="0"/>
          </a:p>
        </p:txBody>
      </p:sp>
      <p:sp>
        <p:nvSpPr>
          <p:cNvPr id="14" name="Text 12"/>
          <p:cNvSpPr/>
          <p:nvPr/>
        </p:nvSpPr>
        <p:spPr>
          <a:xfrm>
            <a:off x="6446520" y="5669280"/>
            <a:ext cx="5029200" cy="365760"/>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Read aloud at the open and the close.</a:t>
            </a:r>
            <a:endParaRPr lang="en-US" sz="1300" dirty="0"/>
          </a:p>
        </p:txBody>
      </p:sp>
      <p:sp>
        <p:nvSpPr>
          <p:cNvPr id="15" name="Text 13"/>
          <p:cNvSpPr/>
          <p:nvPr/>
        </p:nvSpPr>
        <p:spPr>
          <a:xfrm>
            <a:off x="548640" y="6492240"/>
            <a:ext cx="7315200" cy="274320"/>
          </a:xfrm>
          <a:prstGeom prst="rect">
            <a:avLst/>
          </a:prstGeom>
          <a:noFill/>
          <a:ln/>
        </p:spPr>
        <p:txBody>
          <a:bodyPr wrap="square" rtlCol="0" anchor="ctr"/>
          <a:lstStyle/>
          <a:p>
            <a:pPr indent="0" marL="0">
              <a:buNone/>
            </a:pPr>
            <a:r>
              <a:rPr lang="en-US" sz="1000" i="1" dirty="0">
                <a:solidFill>
                  <a:srgbClr val="5B6470"/>
                </a:solidFill>
                <a:latin typeface="Calibri" pitchFamily="34" charset="0"/>
                <a:ea typeface="Calibri" pitchFamily="34" charset="-122"/>
                <a:cs typeface="Calibri" pitchFamily="34" charset="-120"/>
              </a:rPr>
              <a:t>Week 2 · Prompting Discipline + Voice Mastery · Task 2</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0972800" cy="365760"/>
          </a:xfrm>
          <a:prstGeom prst="rect">
            <a:avLst/>
          </a:prstGeom>
          <a:noFill/>
          <a:ln/>
        </p:spPr>
        <p:txBody>
          <a:bodyPr wrap="square" rtlCol="0" anchor="ctr"/>
          <a:lstStyle/>
          <a:p>
            <a:pPr indent="0" marL="0">
              <a:buNone/>
            </a:pPr>
            <a:r>
              <a:rPr lang="en-US" sz="1100" b="1" spc="400" kern="0" dirty="0">
                <a:solidFill>
                  <a:srgbClr val="CE8E31"/>
                </a:solidFill>
                <a:latin typeface="Calibri" pitchFamily="34" charset="0"/>
                <a:ea typeface="Calibri" pitchFamily="34" charset="-122"/>
                <a:cs typeface="Calibri" pitchFamily="34" charset="-120"/>
              </a:rPr>
              <a:t>WEEK 2 · TASK 3 · FRIDAY</a:t>
            </a:r>
            <a:endParaRPr lang="en-US" sz="1100" dirty="0"/>
          </a:p>
        </p:txBody>
      </p:sp>
      <p:sp>
        <p:nvSpPr>
          <p:cNvPr id="3" name="Text 1"/>
          <p:cNvSpPr/>
          <p:nvPr/>
        </p:nvSpPr>
        <p:spPr>
          <a:xfrm>
            <a:off x="548640" y="822960"/>
            <a:ext cx="11155680" cy="1280160"/>
          </a:xfrm>
          <a:prstGeom prst="rect">
            <a:avLst/>
          </a:prstGeom>
          <a:noFill/>
          <a:ln/>
        </p:spPr>
        <p:txBody>
          <a:bodyPr wrap="square" rtlCol="0" anchor="t"/>
          <a:lstStyle/>
          <a:p>
            <a:pPr indent="0" marL="0">
              <a:buNone/>
            </a:pPr>
            <a:r>
              <a:rPr lang="en-US" sz="3600" b="1" dirty="0">
                <a:solidFill>
                  <a:srgbClr val="1B2A4A"/>
                </a:solidFill>
                <a:latin typeface="Calibri" pitchFamily="34" charset="0"/>
                <a:ea typeface="Calibri" pitchFamily="34" charset="-122"/>
                <a:cs typeface="Calibri" pitchFamily="34" charset="-120"/>
              </a:rPr>
              <a:t>The Watchman's Audit (Weekly Rhythm)</a:t>
            </a:r>
            <a:endParaRPr lang="en-US" sz="3600" dirty="0"/>
          </a:p>
        </p:txBody>
      </p:sp>
      <p:sp>
        <p:nvSpPr>
          <p:cNvPr id="4" name="Text 2"/>
          <p:cNvSpPr/>
          <p:nvPr/>
        </p:nvSpPr>
        <p:spPr>
          <a:xfrm>
            <a:off x="548640" y="2103120"/>
            <a:ext cx="10972800" cy="731520"/>
          </a:xfrm>
          <a:prstGeom prst="rect">
            <a:avLst/>
          </a:prstGeom>
          <a:noFill/>
          <a:ln/>
        </p:spPr>
        <p:txBody>
          <a:bodyPr wrap="square" rtlCol="0" anchor="ctr"/>
          <a:lstStyle/>
          <a:p>
            <a:pPr indent="0" marL="0">
              <a:buNone/>
            </a:pPr>
            <a:r>
              <a:rPr lang="en-US" sz="1900" i="1" dirty="0">
                <a:solidFill>
                  <a:srgbClr val="5B6470"/>
                </a:solidFill>
                <a:latin typeface="Calibri" pitchFamily="34" charset="0"/>
                <a:ea typeface="Calibri" pitchFamily="34" charset="-122"/>
                <a:cs typeface="Calibri" pitchFamily="34" charset="-120"/>
              </a:rPr>
              <a:t>Saturday afternoon. AI summarizes the week. You set one anchor.</a:t>
            </a:r>
            <a:endParaRPr lang="en-US" sz="1900" dirty="0"/>
          </a:p>
        </p:txBody>
      </p:sp>
      <p:sp>
        <p:nvSpPr>
          <p:cNvPr id="5" name="Shape 3"/>
          <p:cNvSpPr/>
          <p:nvPr/>
        </p:nvSpPr>
        <p:spPr>
          <a:xfrm>
            <a:off x="548640" y="3291840"/>
            <a:ext cx="5486400" cy="3017520"/>
          </a:xfrm>
          <a:prstGeom prst="rect">
            <a:avLst/>
          </a:prstGeom>
          <a:solidFill>
            <a:srgbClr val="F4F1EA"/>
          </a:solidFill>
          <a:ln w="12700">
            <a:solidFill>
              <a:srgbClr val="D8DCE2"/>
            </a:solidFill>
            <a:prstDash val="solid"/>
          </a:ln>
        </p:spPr>
      </p:sp>
      <p:sp>
        <p:nvSpPr>
          <p:cNvPr id="6" name="Shape 4"/>
          <p:cNvSpPr/>
          <p:nvPr/>
        </p:nvSpPr>
        <p:spPr>
          <a:xfrm>
            <a:off x="548640" y="3291840"/>
            <a:ext cx="73152" cy="3017520"/>
          </a:xfrm>
          <a:prstGeom prst="rect">
            <a:avLst/>
          </a:prstGeom>
          <a:solidFill>
            <a:srgbClr val="1B2A4A"/>
          </a:solidFill>
          <a:ln w="12700">
            <a:solidFill>
              <a:srgbClr val="1B2A4A"/>
            </a:solidFill>
            <a:prstDash val="solid"/>
          </a:ln>
        </p:spPr>
      </p:sp>
      <p:sp>
        <p:nvSpPr>
          <p:cNvPr id="7" name="Text 5"/>
          <p:cNvSpPr/>
          <p:nvPr/>
        </p:nvSpPr>
        <p:spPr>
          <a:xfrm>
            <a:off x="777240" y="3474720"/>
            <a:ext cx="5029200" cy="274320"/>
          </a:xfrm>
          <a:prstGeom prst="rect">
            <a:avLst/>
          </a:prstGeom>
          <a:noFill/>
          <a:ln/>
        </p:spPr>
        <p:txBody>
          <a:bodyPr wrap="square" rtlCol="0" anchor="ctr"/>
          <a:lstStyle/>
          <a:p>
            <a:pPr indent="0" marL="0">
              <a:buNone/>
            </a:pPr>
            <a:r>
              <a:rPr lang="en-US" sz="1100" b="1" spc="300" kern="0" dirty="0">
                <a:solidFill>
                  <a:srgbClr val="CE8E31"/>
                </a:solidFill>
                <a:latin typeface="Calibri" pitchFamily="34" charset="0"/>
                <a:ea typeface="Calibri" pitchFamily="34" charset="-122"/>
                <a:cs typeface="Calibri" pitchFamily="34" charset="-120"/>
              </a:rPr>
              <a:t>THE ACTION</a:t>
            </a:r>
            <a:endParaRPr lang="en-US" sz="1100" dirty="0"/>
          </a:p>
        </p:txBody>
      </p:sp>
      <p:sp>
        <p:nvSpPr>
          <p:cNvPr id="8" name="Text 6"/>
          <p:cNvSpPr/>
          <p:nvPr/>
        </p:nvSpPr>
        <p:spPr>
          <a:xfrm>
            <a:off x="777240" y="3794760"/>
            <a:ext cx="5029200" cy="1463040"/>
          </a:xfrm>
          <a:prstGeom prst="rect">
            <a:avLst/>
          </a:prstGeom>
          <a:noFill/>
          <a:ln/>
        </p:spPr>
        <p:txBody>
          <a:bodyPr wrap="square" rtlCol="0" anchor="ctr"/>
          <a:lstStyle/>
          <a:p>
            <a:pPr indent="0" marL="0">
              <a:buNone/>
            </a:pPr>
            <a:r>
              <a:rPr lang="en-US" sz="1600" dirty="0">
                <a:solidFill>
                  <a:srgbClr val="22272E"/>
                </a:solidFill>
                <a:latin typeface="Calibri" pitchFamily="34" charset="0"/>
                <a:ea typeface="Calibri" pitchFamily="34" charset="-122"/>
                <a:cs typeface="Calibri" pitchFamily="34" charset="-120"/>
              </a:rPr>
              <a:t>20–30 minutes. Open the task card. Run the checklist. Ship the artifact. React ✓ in the cohort channel.</a:t>
            </a:r>
            <a:endParaRPr lang="en-US" sz="1600" dirty="0"/>
          </a:p>
        </p:txBody>
      </p:sp>
      <p:sp>
        <p:nvSpPr>
          <p:cNvPr id="9" name="Text 7"/>
          <p:cNvSpPr/>
          <p:nvPr/>
        </p:nvSpPr>
        <p:spPr>
          <a:xfrm>
            <a:off x="777240" y="5669280"/>
            <a:ext cx="5029200" cy="457200"/>
          </a:xfrm>
          <a:prstGeom prst="rect">
            <a:avLst/>
          </a:prstGeom>
          <a:noFill/>
          <a:ln/>
        </p:spPr>
        <p:txBody>
          <a:bodyPr wrap="square" rtlCol="0" anchor="ctr"/>
          <a:lstStyle/>
          <a:p>
            <a:pPr indent="0" marL="0">
              <a:buNone/>
            </a:pPr>
            <a:r>
              <a:rPr lang="en-US" sz="1400" b="1" i="1" dirty="0">
                <a:solidFill>
                  <a:srgbClr val="1B2A4A"/>
                </a:solidFill>
                <a:latin typeface="Calibri" pitchFamily="34" charset="0"/>
                <a:ea typeface="Calibri" pitchFamily="34" charset="-122"/>
                <a:cs typeface="Calibri" pitchFamily="34" charset="-120"/>
              </a:rPr>
              <a:t>AI drafts. The watchman decides.</a:t>
            </a:r>
            <a:endParaRPr lang="en-US" sz="1400" dirty="0"/>
          </a:p>
        </p:txBody>
      </p:sp>
      <p:sp>
        <p:nvSpPr>
          <p:cNvPr id="10" name="Shape 8"/>
          <p:cNvSpPr/>
          <p:nvPr/>
        </p:nvSpPr>
        <p:spPr>
          <a:xfrm>
            <a:off x="6217920" y="3291840"/>
            <a:ext cx="5394960" cy="3017520"/>
          </a:xfrm>
          <a:prstGeom prst="rect">
            <a:avLst/>
          </a:prstGeom>
          <a:solidFill>
            <a:srgbClr val="CE8E31"/>
          </a:solidFill>
          <a:ln w="12700">
            <a:solidFill>
              <a:srgbClr val="CE8E31"/>
            </a:solidFill>
            <a:prstDash val="solid"/>
          </a:ln>
        </p:spPr>
      </p:sp>
      <p:sp>
        <p:nvSpPr>
          <p:cNvPr id="11" name="Text 9"/>
          <p:cNvSpPr/>
          <p:nvPr/>
        </p:nvSpPr>
        <p:spPr>
          <a:xfrm>
            <a:off x="6446520" y="3520440"/>
            <a:ext cx="5029200" cy="274320"/>
          </a:xfrm>
          <a:prstGeom prst="rect">
            <a:avLst/>
          </a:prstGeom>
          <a:noFill/>
          <a:ln/>
        </p:spPr>
        <p:txBody>
          <a:bodyPr wrap="square" rtlCol="0" anchor="ctr"/>
          <a:lstStyle/>
          <a:p>
            <a:pPr indent="0" marL="0">
              <a:buNone/>
            </a:pPr>
            <a:r>
              <a:rPr lang="en-US" sz="1100" b="1" spc="300" kern="0" dirty="0">
                <a:solidFill>
                  <a:srgbClr val="FFFFFF"/>
                </a:solidFill>
                <a:latin typeface="Calibri" pitchFamily="34" charset="0"/>
                <a:ea typeface="Calibri" pitchFamily="34" charset="-122"/>
                <a:cs typeface="Calibri" pitchFamily="34" charset="-120"/>
              </a:rPr>
              <a:t>SCRIPTURE ANCHOR</a:t>
            </a:r>
            <a:endParaRPr lang="en-US" sz="1100" dirty="0"/>
          </a:p>
        </p:txBody>
      </p:sp>
      <p:sp>
        <p:nvSpPr>
          <p:cNvPr id="12" name="Text 10"/>
          <p:cNvSpPr/>
          <p:nvPr/>
        </p:nvSpPr>
        <p:spPr>
          <a:xfrm>
            <a:off x="6446520" y="3840480"/>
            <a:ext cx="5029200" cy="502920"/>
          </a:xfrm>
          <a:prstGeom prst="rect">
            <a:avLst/>
          </a:prstGeom>
          <a:noFill/>
          <a:ln/>
        </p:spPr>
        <p:txBody>
          <a:bodyPr wrap="square"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Week 2 · Prompting Discipline + Voice Mastery</a:t>
            </a:r>
            <a:endParaRPr lang="en-US" sz="2000" dirty="0"/>
          </a:p>
        </p:txBody>
      </p:sp>
      <p:sp>
        <p:nvSpPr>
          <p:cNvPr id="13" name="Text 11"/>
          <p:cNvSpPr/>
          <p:nvPr/>
        </p:nvSpPr>
        <p:spPr>
          <a:xfrm>
            <a:off x="6446520" y="4434840"/>
            <a:ext cx="5029200" cy="548640"/>
          </a:xfrm>
          <a:prstGeom prst="rect">
            <a:avLst/>
          </a:prstGeom>
          <a:noFill/>
          <a:ln/>
        </p:spPr>
        <p:txBody>
          <a:bodyPr wrap="square" rtlCol="0" anchor="ctr"/>
          <a:lstStyle/>
          <a:p>
            <a:pPr indent="0" marL="0">
              <a:buNone/>
            </a:pPr>
            <a:r>
              <a:rPr lang="en-US" sz="1800" i="1" dirty="0">
                <a:solidFill>
                  <a:srgbClr val="FFFFFF"/>
                </a:solidFill>
                <a:latin typeface="Calibri" pitchFamily="34" charset="0"/>
                <a:ea typeface="Calibri" pitchFamily="34" charset="-122"/>
                <a:cs typeface="Calibri" pitchFamily="34" charset="-120"/>
              </a:rPr>
              <a:t>Proverbs 18:13</a:t>
            </a:r>
            <a:endParaRPr lang="en-US" sz="1800" dirty="0"/>
          </a:p>
        </p:txBody>
      </p:sp>
      <p:sp>
        <p:nvSpPr>
          <p:cNvPr id="14" name="Text 12"/>
          <p:cNvSpPr/>
          <p:nvPr/>
        </p:nvSpPr>
        <p:spPr>
          <a:xfrm>
            <a:off x="6446520" y="5669280"/>
            <a:ext cx="5029200" cy="365760"/>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Read aloud at the open and the close.</a:t>
            </a:r>
            <a:endParaRPr lang="en-US" sz="1300" dirty="0"/>
          </a:p>
        </p:txBody>
      </p:sp>
      <p:sp>
        <p:nvSpPr>
          <p:cNvPr id="15" name="Text 13"/>
          <p:cNvSpPr/>
          <p:nvPr/>
        </p:nvSpPr>
        <p:spPr>
          <a:xfrm>
            <a:off x="548640" y="6492240"/>
            <a:ext cx="7315200" cy="274320"/>
          </a:xfrm>
          <a:prstGeom prst="rect">
            <a:avLst/>
          </a:prstGeom>
          <a:noFill/>
          <a:ln/>
        </p:spPr>
        <p:txBody>
          <a:bodyPr wrap="square" rtlCol="0" anchor="ctr"/>
          <a:lstStyle/>
          <a:p>
            <a:pPr indent="0" marL="0">
              <a:buNone/>
            </a:pPr>
            <a:r>
              <a:rPr lang="en-US" sz="1000" i="1" dirty="0">
                <a:solidFill>
                  <a:srgbClr val="5B6470"/>
                </a:solidFill>
                <a:latin typeface="Calibri" pitchFamily="34" charset="0"/>
                <a:ea typeface="Calibri" pitchFamily="34" charset="-122"/>
                <a:cs typeface="Calibri" pitchFamily="34" charset="-120"/>
              </a:rPr>
              <a:t>Week 2 · Prompting Discipline + Voice Mastery · Task 3</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B2A4A"/>
        </a:solidFill>
      </p:bgPr>
    </p:bg>
    <p:spTree>
      <p:nvGrpSpPr>
        <p:cNvPr id="1" name=""/>
        <p:cNvGrpSpPr/>
        <p:nvPr/>
      </p:nvGrpSpPr>
      <p:grpSpPr>
        <a:xfrm>
          <a:off x="0" y="0"/>
          <a:ext cx="0" cy="0"/>
          <a:chOff x="0" y="0"/>
          <a:chExt cx="0" cy="0"/>
        </a:xfrm>
      </p:grpSpPr>
      <p:sp>
        <p:nvSpPr>
          <p:cNvPr id="2" name="Text 0"/>
          <p:cNvSpPr/>
          <p:nvPr/>
        </p:nvSpPr>
        <p:spPr>
          <a:xfrm>
            <a:off x="548640" y="1463040"/>
            <a:ext cx="10972800" cy="457200"/>
          </a:xfrm>
          <a:prstGeom prst="rect">
            <a:avLst/>
          </a:prstGeom>
          <a:noFill/>
          <a:ln/>
        </p:spPr>
        <p:txBody>
          <a:bodyPr wrap="square" rtlCol="0" anchor="ctr"/>
          <a:lstStyle/>
          <a:p>
            <a:pPr indent="0" marL="0">
              <a:buNone/>
            </a:pPr>
            <a:r>
              <a:rPr lang="en-US" sz="1400" b="1" spc="500" kern="0" dirty="0">
                <a:solidFill>
                  <a:srgbClr val="B8966B"/>
                </a:solidFill>
                <a:latin typeface="Calibri" pitchFamily="34" charset="0"/>
                <a:ea typeface="Calibri" pitchFamily="34" charset="-122"/>
                <a:cs typeface="Calibri" pitchFamily="34" charset="-120"/>
              </a:rPr>
              <a:t>WEEK 3  ·  BLOCK II — HOME MASTERY</a:t>
            </a:r>
            <a:endParaRPr lang="en-US" sz="1400" dirty="0"/>
          </a:p>
        </p:txBody>
      </p:sp>
      <p:sp>
        <p:nvSpPr>
          <p:cNvPr id="3" name="Text 1"/>
          <p:cNvSpPr/>
          <p:nvPr/>
        </p:nvSpPr>
        <p:spPr>
          <a:xfrm>
            <a:off x="548640" y="1920240"/>
            <a:ext cx="11338560" cy="1371600"/>
          </a:xfrm>
          <a:prstGeom prst="rect">
            <a:avLst/>
          </a:prstGeom>
          <a:noFill/>
          <a:ln/>
        </p:spPr>
        <p:txBody>
          <a:bodyPr wrap="square" rtlCol="0" anchor="ctr"/>
          <a:lstStyle/>
          <a:p>
            <a:pPr indent="0" marL="0">
              <a:buNone/>
            </a:pPr>
            <a:r>
              <a:rPr lang="en-US" sz="5400" b="1" dirty="0">
                <a:solidFill>
                  <a:srgbClr val="FFFFFF"/>
                </a:solidFill>
                <a:latin typeface="Calibri" pitchFamily="34" charset="0"/>
                <a:ea typeface="Calibri" pitchFamily="34" charset="-122"/>
                <a:cs typeface="Calibri" pitchFamily="34" charset="-120"/>
              </a:rPr>
              <a:t>HOME FOUNDATIONS</a:t>
            </a:r>
            <a:endParaRPr lang="en-US" sz="5400" dirty="0"/>
          </a:p>
        </p:txBody>
      </p:sp>
      <p:sp>
        <p:nvSpPr>
          <p:cNvPr id="4" name="Shape 2"/>
          <p:cNvSpPr/>
          <p:nvPr/>
        </p:nvSpPr>
        <p:spPr>
          <a:xfrm>
            <a:off x="548640" y="3383280"/>
            <a:ext cx="1828800" cy="73152"/>
          </a:xfrm>
          <a:prstGeom prst="rect">
            <a:avLst/>
          </a:prstGeom>
          <a:solidFill>
            <a:srgbClr val="B8966B"/>
          </a:solidFill>
          <a:ln w="12700">
            <a:solidFill>
              <a:srgbClr val="B8966B"/>
            </a:solidFill>
            <a:prstDash val="solid"/>
          </a:ln>
        </p:spPr>
      </p:sp>
      <p:sp>
        <p:nvSpPr>
          <p:cNvPr id="5" name="Text 3"/>
          <p:cNvSpPr/>
          <p:nvPr/>
        </p:nvSpPr>
        <p:spPr>
          <a:xfrm>
            <a:off x="548640" y="3566160"/>
            <a:ext cx="10515600" cy="1097280"/>
          </a:xfrm>
          <a:prstGeom prst="rect">
            <a:avLst/>
          </a:prstGeom>
          <a:noFill/>
          <a:ln/>
        </p:spPr>
        <p:txBody>
          <a:bodyPr wrap="square" rtlCol="0" anchor="ctr"/>
          <a:lstStyle/>
          <a:p>
            <a:pPr indent="0" marL="0">
              <a:buNone/>
            </a:pPr>
            <a:r>
              <a:rPr lang="en-US" sz="2200" i="1" dirty="0">
                <a:solidFill>
                  <a:srgbClr val="94A3B8"/>
                </a:solidFill>
                <a:latin typeface="Calibri" pitchFamily="34" charset="0"/>
                <a:ea typeface="Calibri" pitchFamily="34" charset="-122"/>
                <a:cs typeface="Calibri" pitchFamily="34" charset="-120"/>
              </a:rPr>
              <a:t>A short wife audit, a five-year vision rewritten in your own words, and one hard conversation actually shipped.</a:t>
            </a:r>
            <a:endParaRPr lang="en-US" sz="2200" dirty="0"/>
          </a:p>
        </p:txBody>
      </p:sp>
      <p:sp>
        <p:nvSpPr>
          <p:cNvPr id="6" name="Text 4"/>
          <p:cNvSpPr/>
          <p:nvPr/>
        </p:nvSpPr>
        <p:spPr>
          <a:xfrm>
            <a:off x="548640" y="5029200"/>
            <a:ext cx="10972800" cy="274320"/>
          </a:xfrm>
          <a:prstGeom prst="rect">
            <a:avLst/>
          </a:prstGeom>
          <a:noFill/>
          <a:ln/>
        </p:spPr>
        <p:txBody>
          <a:bodyPr wrap="square" rtlCol="0" anchor="ctr"/>
          <a:lstStyle/>
          <a:p>
            <a:pPr indent="0" marL="0">
              <a:buNone/>
            </a:pPr>
            <a:r>
              <a:rPr lang="en-US" sz="1000" b="1" spc="400" kern="0" dirty="0">
                <a:solidFill>
                  <a:srgbClr val="CE8E31"/>
                </a:solidFill>
                <a:latin typeface="Calibri" pitchFamily="34" charset="0"/>
                <a:ea typeface="Calibri" pitchFamily="34" charset="-122"/>
                <a:cs typeface="Calibri" pitchFamily="34" charset="-120"/>
              </a:rPr>
              <a:t>SCRIPTURE</a:t>
            </a:r>
            <a:endParaRPr lang="en-US" sz="1000" dirty="0"/>
          </a:p>
        </p:txBody>
      </p:sp>
      <p:sp>
        <p:nvSpPr>
          <p:cNvPr id="7" name="Text 5"/>
          <p:cNvSpPr/>
          <p:nvPr/>
        </p:nvSpPr>
        <p:spPr>
          <a:xfrm>
            <a:off x="548640" y="5303520"/>
            <a:ext cx="10972800" cy="457200"/>
          </a:xfrm>
          <a:prstGeom prst="rect">
            <a:avLst/>
          </a:prstGeom>
          <a:noFill/>
          <a:ln/>
        </p:spPr>
        <p:txBody>
          <a:bodyPr wrap="square" rtlCol="0" anchor="ctr"/>
          <a:lstStyle/>
          <a:p>
            <a:pPr indent="0" marL="0">
              <a:buNone/>
            </a:pPr>
            <a:r>
              <a:rPr lang="en-US" sz="2000" dirty="0">
                <a:solidFill>
                  <a:srgbClr val="FFFFFF"/>
                </a:solidFill>
                <a:latin typeface="Calibri" pitchFamily="34" charset="0"/>
                <a:ea typeface="Calibri" pitchFamily="34" charset="-122"/>
                <a:cs typeface="Calibri" pitchFamily="34" charset="-120"/>
              </a:rPr>
              <a:t>Ephesians 5:25</a:t>
            </a:r>
            <a:endParaRPr lang="en-US" sz="2000" dirty="0"/>
          </a:p>
        </p:txBody>
      </p:sp>
      <p:sp>
        <p:nvSpPr>
          <p:cNvPr id="8" name="Text 6"/>
          <p:cNvSpPr/>
          <p:nvPr/>
        </p:nvSpPr>
        <p:spPr>
          <a:xfrm>
            <a:off x="548640" y="6492240"/>
            <a:ext cx="7315200" cy="274320"/>
          </a:xfrm>
          <a:prstGeom prst="rect">
            <a:avLst/>
          </a:prstGeom>
          <a:noFill/>
          <a:ln/>
        </p:spPr>
        <p:txBody>
          <a:bodyPr wrap="square" rtlCol="0" anchor="ctr"/>
          <a:lstStyle/>
          <a:p>
            <a:pPr indent="0" marL="0">
              <a:buNone/>
            </a:pPr>
            <a:r>
              <a:rPr lang="en-US" sz="1000" i="1" dirty="0">
                <a:solidFill>
                  <a:srgbClr val="5B6470"/>
                </a:solidFill>
                <a:latin typeface="Calibri" pitchFamily="34" charset="0"/>
                <a:ea typeface="Calibri" pitchFamily="34" charset="-122"/>
                <a:cs typeface="Calibri" pitchFamily="34" charset="-120"/>
              </a:rPr>
              <a:t>Week 3 · Home Foundations</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0972800" cy="365760"/>
          </a:xfrm>
          <a:prstGeom prst="rect">
            <a:avLst/>
          </a:prstGeom>
          <a:noFill/>
          <a:ln/>
        </p:spPr>
        <p:txBody>
          <a:bodyPr wrap="square" rtlCol="0" anchor="ctr"/>
          <a:lstStyle/>
          <a:p>
            <a:pPr indent="0" marL="0">
              <a:buNone/>
            </a:pPr>
            <a:r>
              <a:rPr lang="en-US" sz="1100" b="1" spc="400" kern="0" dirty="0">
                <a:solidFill>
                  <a:srgbClr val="B8966B"/>
                </a:solidFill>
                <a:latin typeface="Calibri" pitchFamily="34" charset="0"/>
                <a:ea typeface="Calibri" pitchFamily="34" charset="-122"/>
                <a:cs typeface="Calibri" pitchFamily="34" charset="-120"/>
              </a:rPr>
              <a:t>WEEK 3 · TASK 1 · MONDAY</a:t>
            </a:r>
            <a:endParaRPr lang="en-US" sz="1100" dirty="0"/>
          </a:p>
        </p:txBody>
      </p:sp>
      <p:sp>
        <p:nvSpPr>
          <p:cNvPr id="3" name="Text 1"/>
          <p:cNvSpPr/>
          <p:nvPr/>
        </p:nvSpPr>
        <p:spPr>
          <a:xfrm>
            <a:off x="548640" y="822960"/>
            <a:ext cx="11155680" cy="1280160"/>
          </a:xfrm>
          <a:prstGeom prst="rect">
            <a:avLst/>
          </a:prstGeom>
          <a:noFill/>
          <a:ln/>
        </p:spPr>
        <p:txBody>
          <a:bodyPr wrap="square" rtlCol="0" anchor="t"/>
          <a:lstStyle/>
          <a:p>
            <a:pPr indent="0" marL="0">
              <a:buNone/>
            </a:pPr>
            <a:r>
              <a:rPr lang="en-US" sz="3600" b="1" dirty="0">
                <a:solidFill>
                  <a:srgbClr val="1B2A4A"/>
                </a:solidFill>
                <a:latin typeface="Calibri" pitchFamily="34" charset="0"/>
                <a:ea typeface="Calibri" pitchFamily="34" charset="-122"/>
                <a:cs typeface="Calibri" pitchFamily="34" charset="-120"/>
              </a:rPr>
              <a:t>The 5-Minute Wife Audit</a:t>
            </a:r>
            <a:endParaRPr lang="en-US" sz="3600" dirty="0"/>
          </a:p>
        </p:txBody>
      </p:sp>
      <p:sp>
        <p:nvSpPr>
          <p:cNvPr id="4" name="Text 2"/>
          <p:cNvSpPr/>
          <p:nvPr/>
        </p:nvSpPr>
        <p:spPr>
          <a:xfrm>
            <a:off x="548640" y="2103120"/>
            <a:ext cx="10972800" cy="731520"/>
          </a:xfrm>
          <a:prstGeom prst="rect">
            <a:avLst/>
          </a:prstGeom>
          <a:noFill/>
          <a:ln/>
        </p:spPr>
        <p:txBody>
          <a:bodyPr wrap="square" rtlCol="0" anchor="ctr"/>
          <a:lstStyle/>
          <a:p>
            <a:pPr indent="0" marL="0">
              <a:buNone/>
            </a:pPr>
            <a:r>
              <a:rPr lang="en-US" sz="1900" i="1" dirty="0">
                <a:solidFill>
                  <a:srgbClr val="5B6470"/>
                </a:solidFill>
                <a:latin typeface="Calibri" pitchFamily="34" charset="0"/>
                <a:ea typeface="Calibri" pitchFamily="34" charset="-122"/>
                <a:cs typeface="Calibri" pitchFamily="34" charset="-120"/>
              </a:rPr>
              <a:t>A clean look at how you've actually been showing up.</a:t>
            </a:r>
            <a:endParaRPr lang="en-US" sz="1900" dirty="0"/>
          </a:p>
        </p:txBody>
      </p:sp>
      <p:sp>
        <p:nvSpPr>
          <p:cNvPr id="5" name="Shape 3"/>
          <p:cNvSpPr/>
          <p:nvPr/>
        </p:nvSpPr>
        <p:spPr>
          <a:xfrm>
            <a:off x="548640" y="3291840"/>
            <a:ext cx="5486400" cy="3017520"/>
          </a:xfrm>
          <a:prstGeom prst="rect">
            <a:avLst/>
          </a:prstGeom>
          <a:solidFill>
            <a:srgbClr val="F4F1EA"/>
          </a:solidFill>
          <a:ln w="12700">
            <a:solidFill>
              <a:srgbClr val="D8DCE2"/>
            </a:solidFill>
            <a:prstDash val="solid"/>
          </a:ln>
        </p:spPr>
      </p:sp>
      <p:sp>
        <p:nvSpPr>
          <p:cNvPr id="6" name="Shape 4"/>
          <p:cNvSpPr/>
          <p:nvPr/>
        </p:nvSpPr>
        <p:spPr>
          <a:xfrm>
            <a:off x="548640" y="3291840"/>
            <a:ext cx="73152" cy="3017520"/>
          </a:xfrm>
          <a:prstGeom prst="rect">
            <a:avLst/>
          </a:prstGeom>
          <a:solidFill>
            <a:srgbClr val="1B2A4A"/>
          </a:solidFill>
          <a:ln w="12700">
            <a:solidFill>
              <a:srgbClr val="1B2A4A"/>
            </a:solidFill>
            <a:prstDash val="solid"/>
          </a:ln>
        </p:spPr>
      </p:sp>
      <p:sp>
        <p:nvSpPr>
          <p:cNvPr id="7" name="Text 5"/>
          <p:cNvSpPr/>
          <p:nvPr/>
        </p:nvSpPr>
        <p:spPr>
          <a:xfrm>
            <a:off x="777240" y="3474720"/>
            <a:ext cx="5029200" cy="274320"/>
          </a:xfrm>
          <a:prstGeom prst="rect">
            <a:avLst/>
          </a:prstGeom>
          <a:noFill/>
          <a:ln/>
        </p:spPr>
        <p:txBody>
          <a:bodyPr wrap="square" rtlCol="0" anchor="ctr"/>
          <a:lstStyle/>
          <a:p>
            <a:pPr indent="0" marL="0">
              <a:buNone/>
            </a:pPr>
            <a:r>
              <a:rPr lang="en-US" sz="1100" b="1" spc="300" kern="0" dirty="0">
                <a:solidFill>
                  <a:srgbClr val="CE8E31"/>
                </a:solidFill>
                <a:latin typeface="Calibri" pitchFamily="34" charset="0"/>
                <a:ea typeface="Calibri" pitchFamily="34" charset="-122"/>
                <a:cs typeface="Calibri" pitchFamily="34" charset="-120"/>
              </a:rPr>
              <a:t>THE ACTION</a:t>
            </a:r>
            <a:endParaRPr lang="en-US" sz="1100" dirty="0"/>
          </a:p>
        </p:txBody>
      </p:sp>
      <p:sp>
        <p:nvSpPr>
          <p:cNvPr id="8" name="Text 6"/>
          <p:cNvSpPr/>
          <p:nvPr/>
        </p:nvSpPr>
        <p:spPr>
          <a:xfrm>
            <a:off x="777240" y="3794760"/>
            <a:ext cx="5029200" cy="1463040"/>
          </a:xfrm>
          <a:prstGeom prst="rect">
            <a:avLst/>
          </a:prstGeom>
          <a:noFill/>
          <a:ln/>
        </p:spPr>
        <p:txBody>
          <a:bodyPr wrap="square" rtlCol="0" anchor="ctr"/>
          <a:lstStyle/>
          <a:p>
            <a:pPr indent="0" marL="0">
              <a:buNone/>
            </a:pPr>
            <a:r>
              <a:rPr lang="en-US" sz="1600" dirty="0">
                <a:solidFill>
                  <a:srgbClr val="22272E"/>
                </a:solidFill>
                <a:latin typeface="Calibri" pitchFamily="34" charset="0"/>
                <a:ea typeface="Calibri" pitchFamily="34" charset="-122"/>
                <a:cs typeface="Calibri" pitchFamily="34" charset="-120"/>
              </a:rPr>
              <a:t>20–30 minutes. Open the task card. Run the checklist. Ship the artifact. React ✓ in the cohort channel.</a:t>
            </a:r>
            <a:endParaRPr lang="en-US" sz="1600" dirty="0"/>
          </a:p>
        </p:txBody>
      </p:sp>
      <p:sp>
        <p:nvSpPr>
          <p:cNvPr id="9" name="Text 7"/>
          <p:cNvSpPr/>
          <p:nvPr/>
        </p:nvSpPr>
        <p:spPr>
          <a:xfrm>
            <a:off x="777240" y="5669280"/>
            <a:ext cx="5029200" cy="457200"/>
          </a:xfrm>
          <a:prstGeom prst="rect">
            <a:avLst/>
          </a:prstGeom>
          <a:noFill/>
          <a:ln/>
        </p:spPr>
        <p:txBody>
          <a:bodyPr wrap="square" rtlCol="0" anchor="ctr"/>
          <a:lstStyle/>
          <a:p>
            <a:pPr indent="0" marL="0">
              <a:buNone/>
            </a:pPr>
            <a:r>
              <a:rPr lang="en-US" sz="1400" b="1" i="1" dirty="0">
                <a:solidFill>
                  <a:srgbClr val="1B2A4A"/>
                </a:solidFill>
                <a:latin typeface="Calibri" pitchFamily="34" charset="0"/>
                <a:ea typeface="Calibri" pitchFamily="34" charset="-122"/>
                <a:cs typeface="Calibri" pitchFamily="34" charset="-120"/>
              </a:rPr>
              <a:t>AI drafts. The watchman decides.</a:t>
            </a:r>
            <a:endParaRPr lang="en-US" sz="1400" dirty="0"/>
          </a:p>
        </p:txBody>
      </p:sp>
      <p:sp>
        <p:nvSpPr>
          <p:cNvPr id="10" name="Shape 8"/>
          <p:cNvSpPr/>
          <p:nvPr/>
        </p:nvSpPr>
        <p:spPr>
          <a:xfrm>
            <a:off x="6217920" y="3291840"/>
            <a:ext cx="5394960" cy="3017520"/>
          </a:xfrm>
          <a:prstGeom prst="rect">
            <a:avLst/>
          </a:prstGeom>
          <a:solidFill>
            <a:srgbClr val="B8966B"/>
          </a:solidFill>
          <a:ln w="12700">
            <a:solidFill>
              <a:srgbClr val="B8966B"/>
            </a:solidFill>
            <a:prstDash val="solid"/>
          </a:ln>
        </p:spPr>
      </p:sp>
      <p:sp>
        <p:nvSpPr>
          <p:cNvPr id="11" name="Text 9"/>
          <p:cNvSpPr/>
          <p:nvPr/>
        </p:nvSpPr>
        <p:spPr>
          <a:xfrm>
            <a:off x="6446520" y="3520440"/>
            <a:ext cx="5029200" cy="274320"/>
          </a:xfrm>
          <a:prstGeom prst="rect">
            <a:avLst/>
          </a:prstGeom>
          <a:noFill/>
          <a:ln/>
        </p:spPr>
        <p:txBody>
          <a:bodyPr wrap="square" rtlCol="0" anchor="ctr"/>
          <a:lstStyle/>
          <a:p>
            <a:pPr indent="0" marL="0">
              <a:buNone/>
            </a:pPr>
            <a:r>
              <a:rPr lang="en-US" sz="1100" b="1" spc="300" kern="0" dirty="0">
                <a:solidFill>
                  <a:srgbClr val="FFFFFF"/>
                </a:solidFill>
                <a:latin typeface="Calibri" pitchFamily="34" charset="0"/>
                <a:ea typeface="Calibri" pitchFamily="34" charset="-122"/>
                <a:cs typeface="Calibri" pitchFamily="34" charset="-120"/>
              </a:rPr>
              <a:t>SCRIPTURE ANCHOR</a:t>
            </a:r>
            <a:endParaRPr lang="en-US" sz="1100" dirty="0"/>
          </a:p>
        </p:txBody>
      </p:sp>
      <p:sp>
        <p:nvSpPr>
          <p:cNvPr id="12" name="Text 10"/>
          <p:cNvSpPr/>
          <p:nvPr/>
        </p:nvSpPr>
        <p:spPr>
          <a:xfrm>
            <a:off x="6446520" y="3840480"/>
            <a:ext cx="5029200" cy="502920"/>
          </a:xfrm>
          <a:prstGeom prst="rect">
            <a:avLst/>
          </a:prstGeom>
          <a:noFill/>
          <a:ln/>
        </p:spPr>
        <p:txBody>
          <a:bodyPr wrap="square"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Week 3 · Home Foundations</a:t>
            </a:r>
            <a:endParaRPr lang="en-US" sz="2000" dirty="0"/>
          </a:p>
        </p:txBody>
      </p:sp>
      <p:sp>
        <p:nvSpPr>
          <p:cNvPr id="13" name="Text 11"/>
          <p:cNvSpPr/>
          <p:nvPr/>
        </p:nvSpPr>
        <p:spPr>
          <a:xfrm>
            <a:off x="6446520" y="4434840"/>
            <a:ext cx="5029200" cy="548640"/>
          </a:xfrm>
          <a:prstGeom prst="rect">
            <a:avLst/>
          </a:prstGeom>
          <a:noFill/>
          <a:ln/>
        </p:spPr>
        <p:txBody>
          <a:bodyPr wrap="square" rtlCol="0" anchor="ctr"/>
          <a:lstStyle/>
          <a:p>
            <a:pPr indent="0" marL="0">
              <a:buNone/>
            </a:pPr>
            <a:r>
              <a:rPr lang="en-US" sz="1800" i="1" dirty="0">
                <a:solidFill>
                  <a:srgbClr val="FFFFFF"/>
                </a:solidFill>
                <a:latin typeface="Calibri" pitchFamily="34" charset="0"/>
                <a:ea typeface="Calibri" pitchFamily="34" charset="-122"/>
                <a:cs typeface="Calibri" pitchFamily="34" charset="-120"/>
              </a:rPr>
              <a:t>Ephesians 5:25</a:t>
            </a:r>
            <a:endParaRPr lang="en-US" sz="1800" dirty="0"/>
          </a:p>
        </p:txBody>
      </p:sp>
      <p:sp>
        <p:nvSpPr>
          <p:cNvPr id="14" name="Text 12"/>
          <p:cNvSpPr/>
          <p:nvPr/>
        </p:nvSpPr>
        <p:spPr>
          <a:xfrm>
            <a:off x="6446520" y="5669280"/>
            <a:ext cx="5029200" cy="365760"/>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Read aloud at the open and the close.</a:t>
            </a:r>
            <a:endParaRPr lang="en-US" sz="1300" dirty="0"/>
          </a:p>
        </p:txBody>
      </p:sp>
      <p:sp>
        <p:nvSpPr>
          <p:cNvPr id="15" name="Text 13"/>
          <p:cNvSpPr/>
          <p:nvPr/>
        </p:nvSpPr>
        <p:spPr>
          <a:xfrm>
            <a:off x="548640" y="6492240"/>
            <a:ext cx="7315200" cy="274320"/>
          </a:xfrm>
          <a:prstGeom prst="rect">
            <a:avLst/>
          </a:prstGeom>
          <a:noFill/>
          <a:ln/>
        </p:spPr>
        <p:txBody>
          <a:bodyPr wrap="square" rtlCol="0" anchor="ctr"/>
          <a:lstStyle/>
          <a:p>
            <a:pPr indent="0" marL="0">
              <a:buNone/>
            </a:pPr>
            <a:r>
              <a:rPr lang="en-US" sz="1000" i="1" dirty="0">
                <a:solidFill>
                  <a:srgbClr val="5B6470"/>
                </a:solidFill>
                <a:latin typeface="Calibri" pitchFamily="34" charset="0"/>
                <a:ea typeface="Calibri" pitchFamily="34" charset="-122"/>
                <a:cs typeface="Calibri" pitchFamily="34" charset="-120"/>
              </a:rPr>
              <a:t>Week 3 · Home Foundations · Task 1</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0972800" cy="365760"/>
          </a:xfrm>
          <a:prstGeom prst="rect">
            <a:avLst/>
          </a:prstGeom>
          <a:noFill/>
          <a:ln/>
        </p:spPr>
        <p:txBody>
          <a:bodyPr wrap="square" rtlCol="0" anchor="ctr"/>
          <a:lstStyle/>
          <a:p>
            <a:pPr indent="0" marL="0">
              <a:buNone/>
            </a:pPr>
            <a:r>
              <a:rPr lang="en-US" sz="1100" b="1" spc="400" kern="0" dirty="0">
                <a:solidFill>
                  <a:srgbClr val="B8966B"/>
                </a:solidFill>
                <a:latin typeface="Calibri" pitchFamily="34" charset="0"/>
                <a:ea typeface="Calibri" pitchFamily="34" charset="-122"/>
                <a:cs typeface="Calibri" pitchFamily="34" charset="-120"/>
              </a:rPr>
              <a:t>WEEK 3 · TASK 2 · WEDNESDAY</a:t>
            </a:r>
            <a:endParaRPr lang="en-US" sz="1100" dirty="0"/>
          </a:p>
        </p:txBody>
      </p:sp>
      <p:sp>
        <p:nvSpPr>
          <p:cNvPr id="3" name="Text 1"/>
          <p:cNvSpPr/>
          <p:nvPr/>
        </p:nvSpPr>
        <p:spPr>
          <a:xfrm>
            <a:off x="548640" y="822960"/>
            <a:ext cx="11155680" cy="1280160"/>
          </a:xfrm>
          <a:prstGeom prst="rect">
            <a:avLst/>
          </a:prstGeom>
          <a:noFill/>
          <a:ln/>
        </p:spPr>
        <p:txBody>
          <a:bodyPr wrap="square" rtlCol="0" anchor="t"/>
          <a:lstStyle/>
          <a:p>
            <a:pPr indent="0" marL="0">
              <a:buNone/>
            </a:pPr>
            <a:r>
              <a:rPr lang="en-US" sz="3600" b="1" dirty="0">
                <a:solidFill>
                  <a:srgbClr val="1B2A4A"/>
                </a:solidFill>
                <a:latin typeface="Calibri" pitchFamily="34" charset="0"/>
                <a:ea typeface="Calibri" pitchFamily="34" charset="-122"/>
                <a:cs typeface="Calibri" pitchFamily="34" charset="-120"/>
              </a:rPr>
              <a:t>Write Your 5-Year Watchman's Vision</a:t>
            </a:r>
            <a:endParaRPr lang="en-US" sz="3600" dirty="0"/>
          </a:p>
        </p:txBody>
      </p:sp>
      <p:sp>
        <p:nvSpPr>
          <p:cNvPr id="4" name="Text 2"/>
          <p:cNvSpPr/>
          <p:nvPr/>
        </p:nvSpPr>
        <p:spPr>
          <a:xfrm>
            <a:off x="548640" y="2103120"/>
            <a:ext cx="10972800" cy="731520"/>
          </a:xfrm>
          <a:prstGeom prst="rect">
            <a:avLst/>
          </a:prstGeom>
          <a:noFill/>
          <a:ln/>
        </p:spPr>
        <p:txBody>
          <a:bodyPr wrap="square" rtlCol="0" anchor="ctr"/>
          <a:lstStyle/>
          <a:p>
            <a:pPr indent="0" marL="0">
              <a:buNone/>
            </a:pPr>
            <a:r>
              <a:rPr lang="en-US" sz="1900" i="1" dirty="0">
                <a:solidFill>
                  <a:srgbClr val="5B6470"/>
                </a:solidFill>
                <a:latin typeface="Calibri" pitchFamily="34" charset="0"/>
                <a:ea typeface="Calibri" pitchFamily="34" charset="-122"/>
                <a:cs typeface="Calibri" pitchFamily="34" charset="-120"/>
              </a:rPr>
              <a:t>One paragraph each: marriage, fathering, body, money, spirit.</a:t>
            </a:r>
            <a:endParaRPr lang="en-US" sz="1900" dirty="0"/>
          </a:p>
        </p:txBody>
      </p:sp>
      <p:sp>
        <p:nvSpPr>
          <p:cNvPr id="5" name="Shape 3"/>
          <p:cNvSpPr/>
          <p:nvPr/>
        </p:nvSpPr>
        <p:spPr>
          <a:xfrm>
            <a:off x="548640" y="3291840"/>
            <a:ext cx="5486400" cy="3017520"/>
          </a:xfrm>
          <a:prstGeom prst="rect">
            <a:avLst/>
          </a:prstGeom>
          <a:solidFill>
            <a:srgbClr val="F4F1EA"/>
          </a:solidFill>
          <a:ln w="12700">
            <a:solidFill>
              <a:srgbClr val="D8DCE2"/>
            </a:solidFill>
            <a:prstDash val="solid"/>
          </a:ln>
        </p:spPr>
      </p:sp>
      <p:sp>
        <p:nvSpPr>
          <p:cNvPr id="6" name="Shape 4"/>
          <p:cNvSpPr/>
          <p:nvPr/>
        </p:nvSpPr>
        <p:spPr>
          <a:xfrm>
            <a:off x="548640" y="3291840"/>
            <a:ext cx="73152" cy="3017520"/>
          </a:xfrm>
          <a:prstGeom prst="rect">
            <a:avLst/>
          </a:prstGeom>
          <a:solidFill>
            <a:srgbClr val="1B2A4A"/>
          </a:solidFill>
          <a:ln w="12700">
            <a:solidFill>
              <a:srgbClr val="1B2A4A"/>
            </a:solidFill>
            <a:prstDash val="solid"/>
          </a:ln>
        </p:spPr>
      </p:sp>
      <p:sp>
        <p:nvSpPr>
          <p:cNvPr id="7" name="Text 5"/>
          <p:cNvSpPr/>
          <p:nvPr/>
        </p:nvSpPr>
        <p:spPr>
          <a:xfrm>
            <a:off x="777240" y="3474720"/>
            <a:ext cx="5029200" cy="274320"/>
          </a:xfrm>
          <a:prstGeom prst="rect">
            <a:avLst/>
          </a:prstGeom>
          <a:noFill/>
          <a:ln/>
        </p:spPr>
        <p:txBody>
          <a:bodyPr wrap="square" rtlCol="0" anchor="ctr"/>
          <a:lstStyle/>
          <a:p>
            <a:pPr indent="0" marL="0">
              <a:buNone/>
            </a:pPr>
            <a:r>
              <a:rPr lang="en-US" sz="1100" b="1" spc="300" kern="0" dirty="0">
                <a:solidFill>
                  <a:srgbClr val="CE8E31"/>
                </a:solidFill>
                <a:latin typeface="Calibri" pitchFamily="34" charset="0"/>
                <a:ea typeface="Calibri" pitchFamily="34" charset="-122"/>
                <a:cs typeface="Calibri" pitchFamily="34" charset="-120"/>
              </a:rPr>
              <a:t>THE ACTION</a:t>
            </a:r>
            <a:endParaRPr lang="en-US" sz="1100" dirty="0"/>
          </a:p>
        </p:txBody>
      </p:sp>
      <p:sp>
        <p:nvSpPr>
          <p:cNvPr id="8" name="Text 6"/>
          <p:cNvSpPr/>
          <p:nvPr/>
        </p:nvSpPr>
        <p:spPr>
          <a:xfrm>
            <a:off x="777240" y="3794760"/>
            <a:ext cx="5029200" cy="1463040"/>
          </a:xfrm>
          <a:prstGeom prst="rect">
            <a:avLst/>
          </a:prstGeom>
          <a:noFill/>
          <a:ln/>
        </p:spPr>
        <p:txBody>
          <a:bodyPr wrap="square" rtlCol="0" anchor="ctr"/>
          <a:lstStyle/>
          <a:p>
            <a:pPr indent="0" marL="0">
              <a:buNone/>
            </a:pPr>
            <a:r>
              <a:rPr lang="en-US" sz="1600" dirty="0">
                <a:solidFill>
                  <a:srgbClr val="22272E"/>
                </a:solidFill>
                <a:latin typeface="Calibri" pitchFamily="34" charset="0"/>
                <a:ea typeface="Calibri" pitchFamily="34" charset="-122"/>
                <a:cs typeface="Calibri" pitchFamily="34" charset="-120"/>
              </a:rPr>
              <a:t>20–30 minutes. Open the task card. Run the checklist. Ship the artifact. React ✓ in the cohort channel.</a:t>
            </a:r>
            <a:endParaRPr lang="en-US" sz="1600" dirty="0"/>
          </a:p>
        </p:txBody>
      </p:sp>
      <p:sp>
        <p:nvSpPr>
          <p:cNvPr id="9" name="Text 7"/>
          <p:cNvSpPr/>
          <p:nvPr/>
        </p:nvSpPr>
        <p:spPr>
          <a:xfrm>
            <a:off x="777240" y="5669280"/>
            <a:ext cx="5029200" cy="457200"/>
          </a:xfrm>
          <a:prstGeom prst="rect">
            <a:avLst/>
          </a:prstGeom>
          <a:noFill/>
          <a:ln/>
        </p:spPr>
        <p:txBody>
          <a:bodyPr wrap="square" rtlCol="0" anchor="ctr"/>
          <a:lstStyle/>
          <a:p>
            <a:pPr indent="0" marL="0">
              <a:buNone/>
            </a:pPr>
            <a:r>
              <a:rPr lang="en-US" sz="1400" b="1" i="1" dirty="0">
                <a:solidFill>
                  <a:srgbClr val="1B2A4A"/>
                </a:solidFill>
                <a:latin typeface="Calibri" pitchFamily="34" charset="0"/>
                <a:ea typeface="Calibri" pitchFamily="34" charset="-122"/>
                <a:cs typeface="Calibri" pitchFamily="34" charset="-120"/>
              </a:rPr>
              <a:t>AI drafts. The watchman decides.</a:t>
            </a:r>
            <a:endParaRPr lang="en-US" sz="1400" dirty="0"/>
          </a:p>
        </p:txBody>
      </p:sp>
      <p:sp>
        <p:nvSpPr>
          <p:cNvPr id="10" name="Shape 8"/>
          <p:cNvSpPr/>
          <p:nvPr/>
        </p:nvSpPr>
        <p:spPr>
          <a:xfrm>
            <a:off x="6217920" y="3291840"/>
            <a:ext cx="5394960" cy="3017520"/>
          </a:xfrm>
          <a:prstGeom prst="rect">
            <a:avLst/>
          </a:prstGeom>
          <a:solidFill>
            <a:srgbClr val="B8966B"/>
          </a:solidFill>
          <a:ln w="12700">
            <a:solidFill>
              <a:srgbClr val="B8966B"/>
            </a:solidFill>
            <a:prstDash val="solid"/>
          </a:ln>
        </p:spPr>
      </p:sp>
      <p:sp>
        <p:nvSpPr>
          <p:cNvPr id="11" name="Text 9"/>
          <p:cNvSpPr/>
          <p:nvPr/>
        </p:nvSpPr>
        <p:spPr>
          <a:xfrm>
            <a:off x="6446520" y="3520440"/>
            <a:ext cx="5029200" cy="274320"/>
          </a:xfrm>
          <a:prstGeom prst="rect">
            <a:avLst/>
          </a:prstGeom>
          <a:noFill/>
          <a:ln/>
        </p:spPr>
        <p:txBody>
          <a:bodyPr wrap="square" rtlCol="0" anchor="ctr"/>
          <a:lstStyle/>
          <a:p>
            <a:pPr indent="0" marL="0">
              <a:buNone/>
            </a:pPr>
            <a:r>
              <a:rPr lang="en-US" sz="1100" b="1" spc="300" kern="0" dirty="0">
                <a:solidFill>
                  <a:srgbClr val="FFFFFF"/>
                </a:solidFill>
                <a:latin typeface="Calibri" pitchFamily="34" charset="0"/>
                <a:ea typeface="Calibri" pitchFamily="34" charset="-122"/>
                <a:cs typeface="Calibri" pitchFamily="34" charset="-120"/>
              </a:rPr>
              <a:t>SCRIPTURE ANCHOR</a:t>
            </a:r>
            <a:endParaRPr lang="en-US" sz="1100" dirty="0"/>
          </a:p>
        </p:txBody>
      </p:sp>
      <p:sp>
        <p:nvSpPr>
          <p:cNvPr id="12" name="Text 10"/>
          <p:cNvSpPr/>
          <p:nvPr/>
        </p:nvSpPr>
        <p:spPr>
          <a:xfrm>
            <a:off x="6446520" y="3840480"/>
            <a:ext cx="5029200" cy="502920"/>
          </a:xfrm>
          <a:prstGeom prst="rect">
            <a:avLst/>
          </a:prstGeom>
          <a:noFill/>
          <a:ln/>
        </p:spPr>
        <p:txBody>
          <a:bodyPr wrap="square"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Week 3 · Home Foundations</a:t>
            </a:r>
            <a:endParaRPr lang="en-US" sz="2000" dirty="0"/>
          </a:p>
        </p:txBody>
      </p:sp>
      <p:sp>
        <p:nvSpPr>
          <p:cNvPr id="13" name="Text 11"/>
          <p:cNvSpPr/>
          <p:nvPr/>
        </p:nvSpPr>
        <p:spPr>
          <a:xfrm>
            <a:off x="6446520" y="4434840"/>
            <a:ext cx="5029200" cy="548640"/>
          </a:xfrm>
          <a:prstGeom prst="rect">
            <a:avLst/>
          </a:prstGeom>
          <a:noFill/>
          <a:ln/>
        </p:spPr>
        <p:txBody>
          <a:bodyPr wrap="square" rtlCol="0" anchor="ctr"/>
          <a:lstStyle/>
          <a:p>
            <a:pPr indent="0" marL="0">
              <a:buNone/>
            </a:pPr>
            <a:r>
              <a:rPr lang="en-US" sz="1800" i="1" dirty="0">
                <a:solidFill>
                  <a:srgbClr val="FFFFFF"/>
                </a:solidFill>
                <a:latin typeface="Calibri" pitchFamily="34" charset="0"/>
                <a:ea typeface="Calibri" pitchFamily="34" charset="-122"/>
                <a:cs typeface="Calibri" pitchFamily="34" charset="-120"/>
              </a:rPr>
              <a:t>Ephesians 5:25</a:t>
            </a:r>
            <a:endParaRPr lang="en-US" sz="1800" dirty="0"/>
          </a:p>
        </p:txBody>
      </p:sp>
      <p:sp>
        <p:nvSpPr>
          <p:cNvPr id="14" name="Text 12"/>
          <p:cNvSpPr/>
          <p:nvPr/>
        </p:nvSpPr>
        <p:spPr>
          <a:xfrm>
            <a:off x="6446520" y="5669280"/>
            <a:ext cx="5029200" cy="365760"/>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Read aloud at the open and the close.</a:t>
            </a:r>
            <a:endParaRPr lang="en-US" sz="1300" dirty="0"/>
          </a:p>
        </p:txBody>
      </p:sp>
      <p:sp>
        <p:nvSpPr>
          <p:cNvPr id="15" name="Text 13"/>
          <p:cNvSpPr/>
          <p:nvPr/>
        </p:nvSpPr>
        <p:spPr>
          <a:xfrm>
            <a:off x="548640" y="6492240"/>
            <a:ext cx="7315200" cy="274320"/>
          </a:xfrm>
          <a:prstGeom prst="rect">
            <a:avLst/>
          </a:prstGeom>
          <a:noFill/>
          <a:ln/>
        </p:spPr>
        <p:txBody>
          <a:bodyPr wrap="square" rtlCol="0" anchor="ctr"/>
          <a:lstStyle/>
          <a:p>
            <a:pPr indent="0" marL="0">
              <a:buNone/>
            </a:pPr>
            <a:r>
              <a:rPr lang="en-US" sz="1000" i="1" dirty="0">
                <a:solidFill>
                  <a:srgbClr val="5B6470"/>
                </a:solidFill>
                <a:latin typeface="Calibri" pitchFamily="34" charset="0"/>
                <a:ea typeface="Calibri" pitchFamily="34" charset="-122"/>
                <a:cs typeface="Calibri" pitchFamily="34" charset="-120"/>
              </a:rPr>
              <a:t>Week 3 · Home Foundations · Task 2</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0972800" cy="365760"/>
          </a:xfrm>
          <a:prstGeom prst="rect">
            <a:avLst/>
          </a:prstGeom>
          <a:noFill/>
          <a:ln/>
        </p:spPr>
        <p:txBody>
          <a:bodyPr wrap="square" rtlCol="0" anchor="ctr"/>
          <a:lstStyle/>
          <a:p>
            <a:pPr indent="0" marL="0">
              <a:buNone/>
            </a:pPr>
            <a:r>
              <a:rPr lang="en-US" sz="1100" b="1" spc="400" kern="0" dirty="0">
                <a:solidFill>
                  <a:srgbClr val="B8966B"/>
                </a:solidFill>
                <a:latin typeface="Calibri" pitchFamily="34" charset="0"/>
                <a:ea typeface="Calibri" pitchFamily="34" charset="-122"/>
                <a:cs typeface="Calibri" pitchFamily="34" charset="-120"/>
              </a:rPr>
              <a:t>WEEK 3 · TASK 3 · FRIDAY</a:t>
            </a:r>
            <a:endParaRPr lang="en-US" sz="1100" dirty="0"/>
          </a:p>
        </p:txBody>
      </p:sp>
      <p:sp>
        <p:nvSpPr>
          <p:cNvPr id="3" name="Text 1"/>
          <p:cNvSpPr/>
          <p:nvPr/>
        </p:nvSpPr>
        <p:spPr>
          <a:xfrm>
            <a:off x="548640" y="822960"/>
            <a:ext cx="11155680" cy="1280160"/>
          </a:xfrm>
          <a:prstGeom prst="rect">
            <a:avLst/>
          </a:prstGeom>
          <a:noFill/>
          <a:ln/>
        </p:spPr>
        <p:txBody>
          <a:bodyPr wrap="square" rtlCol="0" anchor="t"/>
          <a:lstStyle/>
          <a:p>
            <a:pPr indent="0" marL="0">
              <a:buNone/>
            </a:pPr>
            <a:r>
              <a:rPr lang="en-US" sz="3600" b="1" dirty="0">
                <a:solidFill>
                  <a:srgbClr val="1B2A4A"/>
                </a:solidFill>
                <a:latin typeface="Calibri" pitchFamily="34" charset="0"/>
                <a:ea typeface="Calibri" pitchFamily="34" charset="-122"/>
                <a:cs typeface="Calibri" pitchFamily="34" charset="-120"/>
              </a:rPr>
              <a:t>Prep One Hard Conversation</a:t>
            </a:r>
            <a:endParaRPr lang="en-US" sz="3600" dirty="0"/>
          </a:p>
        </p:txBody>
      </p:sp>
      <p:sp>
        <p:nvSpPr>
          <p:cNvPr id="4" name="Text 2"/>
          <p:cNvSpPr/>
          <p:nvPr/>
        </p:nvSpPr>
        <p:spPr>
          <a:xfrm>
            <a:off x="548640" y="2103120"/>
            <a:ext cx="10972800" cy="731520"/>
          </a:xfrm>
          <a:prstGeom prst="rect">
            <a:avLst/>
          </a:prstGeom>
          <a:noFill/>
          <a:ln/>
        </p:spPr>
        <p:txBody>
          <a:bodyPr wrap="square" rtlCol="0" anchor="ctr"/>
          <a:lstStyle/>
          <a:p>
            <a:pPr indent="0" marL="0">
              <a:buNone/>
            </a:pPr>
            <a:r>
              <a:rPr lang="en-US" sz="1900" i="1" dirty="0">
                <a:solidFill>
                  <a:srgbClr val="5B6470"/>
                </a:solidFill>
                <a:latin typeface="Calibri" pitchFamily="34" charset="0"/>
                <a:ea typeface="Calibri" pitchFamily="34" charset="-122"/>
                <a:cs typeface="Calibri" pitchFamily="34" charset="-120"/>
              </a:rPr>
              <a:t>AI prepares the watchman. The watchman shows up.</a:t>
            </a:r>
            <a:endParaRPr lang="en-US" sz="1900" dirty="0"/>
          </a:p>
        </p:txBody>
      </p:sp>
      <p:sp>
        <p:nvSpPr>
          <p:cNvPr id="5" name="Shape 3"/>
          <p:cNvSpPr/>
          <p:nvPr/>
        </p:nvSpPr>
        <p:spPr>
          <a:xfrm>
            <a:off x="548640" y="3291840"/>
            <a:ext cx="5486400" cy="3017520"/>
          </a:xfrm>
          <a:prstGeom prst="rect">
            <a:avLst/>
          </a:prstGeom>
          <a:solidFill>
            <a:srgbClr val="F4F1EA"/>
          </a:solidFill>
          <a:ln w="12700">
            <a:solidFill>
              <a:srgbClr val="D8DCE2"/>
            </a:solidFill>
            <a:prstDash val="solid"/>
          </a:ln>
        </p:spPr>
      </p:sp>
      <p:sp>
        <p:nvSpPr>
          <p:cNvPr id="6" name="Shape 4"/>
          <p:cNvSpPr/>
          <p:nvPr/>
        </p:nvSpPr>
        <p:spPr>
          <a:xfrm>
            <a:off x="548640" y="3291840"/>
            <a:ext cx="73152" cy="3017520"/>
          </a:xfrm>
          <a:prstGeom prst="rect">
            <a:avLst/>
          </a:prstGeom>
          <a:solidFill>
            <a:srgbClr val="1B2A4A"/>
          </a:solidFill>
          <a:ln w="12700">
            <a:solidFill>
              <a:srgbClr val="1B2A4A"/>
            </a:solidFill>
            <a:prstDash val="solid"/>
          </a:ln>
        </p:spPr>
      </p:sp>
      <p:sp>
        <p:nvSpPr>
          <p:cNvPr id="7" name="Text 5"/>
          <p:cNvSpPr/>
          <p:nvPr/>
        </p:nvSpPr>
        <p:spPr>
          <a:xfrm>
            <a:off x="777240" y="3474720"/>
            <a:ext cx="5029200" cy="274320"/>
          </a:xfrm>
          <a:prstGeom prst="rect">
            <a:avLst/>
          </a:prstGeom>
          <a:noFill/>
          <a:ln/>
        </p:spPr>
        <p:txBody>
          <a:bodyPr wrap="square" rtlCol="0" anchor="ctr"/>
          <a:lstStyle/>
          <a:p>
            <a:pPr indent="0" marL="0">
              <a:buNone/>
            </a:pPr>
            <a:r>
              <a:rPr lang="en-US" sz="1100" b="1" spc="300" kern="0" dirty="0">
                <a:solidFill>
                  <a:srgbClr val="CE8E31"/>
                </a:solidFill>
                <a:latin typeface="Calibri" pitchFamily="34" charset="0"/>
                <a:ea typeface="Calibri" pitchFamily="34" charset="-122"/>
                <a:cs typeface="Calibri" pitchFamily="34" charset="-120"/>
              </a:rPr>
              <a:t>THE ACTION</a:t>
            </a:r>
            <a:endParaRPr lang="en-US" sz="1100" dirty="0"/>
          </a:p>
        </p:txBody>
      </p:sp>
      <p:sp>
        <p:nvSpPr>
          <p:cNvPr id="8" name="Text 6"/>
          <p:cNvSpPr/>
          <p:nvPr/>
        </p:nvSpPr>
        <p:spPr>
          <a:xfrm>
            <a:off x="777240" y="3794760"/>
            <a:ext cx="5029200" cy="1463040"/>
          </a:xfrm>
          <a:prstGeom prst="rect">
            <a:avLst/>
          </a:prstGeom>
          <a:noFill/>
          <a:ln/>
        </p:spPr>
        <p:txBody>
          <a:bodyPr wrap="square" rtlCol="0" anchor="ctr"/>
          <a:lstStyle/>
          <a:p>
            <a:pPr indent="0" marL="0">
              <a:buNone/>
            </a:pPr>
            <a:r>
              <a:rPr lang="en-US" sz="1600" dirty="0">
                <a:solidFill>
                  <a:srgbClr val="22272E"/>
                </a:solidFill>
                <a:latin typeface="Calibri" pitchFamily="34" charset="0"/>
                <a:ea typeface="Calibri" pitchFamily="34" charset="-122"/>
                <a:cs typeface="Calibri" pitchFamily="34" charset="-120"/>
              </a:rPr>
              <a:t>20–30 minutes. Open the task card. Run the checklist. Ship the artifact. React ✓ in the cohort channel.</a:t>
            </a:r>
            <a:endParaRPr lang="en-US" sz="1600" dirty="0"/>
          </a:p>
        </p:txBody>
      </p:sp>
      <p:sp>
        <p:nvSpPr>
          <p:cNvPr id="9" name="Text 7"/>
          <p:cNvSpPr/>
          <p:nvPr/>
        </p:nvSpPr>
        <p:spPr>
          <a:xfrm>
            <a:off x="777240" y="5669280"/>
            <a:ext cx="5029200" cy="457200"/>
          </a:xfrm>
          <a:prstGeom prst="rect">
            <a:avLst/>
          </a:prstGeom>
          <a:noFill/>
          <a:ln/>
        </p:spPr>
        <p:txBody>
          <a:bodyPr wrap="square" rtlCol="0" anchor="ctr"/>
          <a:lstStyle/>
          <a:p>
            <a:pPr indent="0" marL="0">
              <a:buNone/>
            </a:pPr>
            <a:r>
              <a:rPr lang="en-US" sz="1400" b="1" i="1" dirty="0">
                <a:solidFill>
                  <a:srgbClr val="1B2A4A"/>
                </a:solidFill>
                <a:latin typeface="Calibri" pitchFamily="34" charset="0"/>
                <a:ea typeface="Calibri" pitchFamily="34" charset="-122"/>
                <a:cs typeface="Calibri" pitchFamily="34" charset="-120"/>
              </a:rPr>
              <a:t>AI drafts. The watchman decides.</a:t>
            </a:r>
            <a:endParaRPr lang="en-US" sz="1400" dirty="0"/>
          </a:p>
        </p:txBody>
      </p:sp>
      <p:sp>
        <p:nvSpPr>
          <p:cNvPr id="10" name="Shape 8"/>
          <p:cNvSpPr/>
          <p:nvPr/>
        </p:nvSpPr>
        <p:spPr>
          <a:xfrm>
            <a:off x="6217920" y="3291840"/>
            <a:ext cx="5394960" cy="3017520"/>
          </a:xfrm>
          <a:prstGeom prst="rect">
            <a:avLst/>
          </a:prstGeom>
          <a:solidFill>
            <a:srgbClr val="B8966B"/>
          </a:solidFill>
          <a:ln w="12700">
            <a:solidFill>
              <a:srgbClr val="B8966B"/>
            </a:solidFill>
            <a:prstDash val="solid"/>
          </a:ln>
        </p:spPr>
      </p:sp>
      <p:sp>
        <p:nvSpPr>
          <p:cNvPr id="11" name="Text 9"/>
          <p:cNvSpPr/>
          <p:nvPr/>
        </p:nvSpPr>
        <p:spPr>
          <a:xfrm>
            <a:off x="6446520" y="3520440"/>
            <a:ext cx="5029200" cy="274320"/>
          </a:xfrm>
          <a:prstGeom prst="rect">
            <a:avLst/>
          </a:prstGeom>
          <a:noFill/>
          <a:ln/>
        </p:spPr>
        <p:txBody>
          <a:bodyPr wrap="square" rtlCol="0" anchor="ctr"/>
          <a:lstStyle/>
          <a:p>
            <a:pPr indent="0" marL="0">
              <a:buNone/>
            </a:pPr>
            <a:r>
              <a:rPr lang="en-US" sz="1100" b="1" spc="300" kern="0" dirty="0">
                <a:solidFill>
                  <a:srgbClr val="FFFFFF"/>
                </a:solidFill>
                <a:latin typeface="Calibri" pitchFamily="34" charset="0"/>
                <a:ea typeface="Calibri" pitchFamily="34" charset="-122"/>
                <a:cs typeface="Calibri" pitchFamily="34" charset="-120"/>
              </a:rPr>
              <a:t>SCRIPTURE ANCHOR</a:t>
            </a:r>
            <a:endParaRPr lang="en-US" sz="1100" dirty="0"/>
          </a:p>
        </p:txBody>
      </p:sp>
      <p:sp>
        <p:nvSpPr>
          <p:cNvPr id="12" name="Text 10"/>
          <p:cNvSpPr/>
          <p:nvPr/>
        </p:nvSpPr>
        <p:spPr>
          <a:xfrm>
            <a:off x="6446520" y="3840480"/>
            <a:ext cx="5029200" cy="502920"/>
          </a:xfrm>
          <a:prstGeom prst="rect">
            <a:avLst/>
          </a:prstGeom>
          <a:noFill/>
          <a:ln/>
        </p:spPr>
        <p:txBody>
          <a:bodyPr wrap="square"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Week 3 · Home Foundations</a:t>
            </a:r>
            <a:endParaRPr lang="en-US" sz="2000" dirty="0"/>
          </a:p>
        </p:txBody>
      </p:sp>
      <p:sp>
        <p:nvSpPr>
          <p:cNvPr id="13" name="Text 11"/>
          <p:cNvSpPr/>
          <p:nvPr/>
        </p:nvSpPr>
        <p:spPr>
          <a:xfrm>
            <a:off x="6446520" y="4434840"/>
            <a:ext cx="5029200" cy="548640"/>
          </a:xfrm>
          <a:prstGeom prst="rect">
            <a:avLst/>
          </a:prstGeom>
          <a:noFill/>
          <a:ln/>
        </p:spPr>
        <p:txBody>
          <a:bodyPr wrap="square" rtlCol="0" anchor="ctr"/>
          <a:lstStyle/>
          <a:p>
            <a:pPr indent="0" marL="0">
              <a:buNone/>
            </a:pPr>
            <a:r>
              <a:rPr lang="en-US" sz="1800" i="1" dirty="0">
                <a:solidFill>
                  <a:srgbClr val="FFFFFF"/>
                </a:solidFill>
                <a:latin typeface="Calibri" pitchFamily="34" charset="0"/>
                <a:ea typeface="Calibri" pitchFamily="34" charset="-122"/>
                <a:cs typeface="Calibri" pitchFamily="34" charset="-120"/>
              </a:rPr>
              <a:t>Ephesians 5:25</a:t>
            </a:r>
            <a:endParaRPr lang="en-US" sz="1800" dirty="0"/>
          </a:p>
        </p:txBody>
      </p:sp>
      <p:sp>
        <p:nvSpPr>
          <p:cNvPr id="14" name="Text 12"/>
          <p:cNvSpPr/>
          <p:nvPr/>
        </p:nvSpPr>
        <p:spPr>
          <a:xfrm>
            <a:off x="6446520" y="5669280"/>
            <a:ext cx="5029200" cy="365760"/>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Read aloud at the open and the close.</a:t>
            </a:r>
            <a:endParaRPr lang="en-US" sz="1300" dirty="0"/>
          </a:p>
        </p:txBody>
      </p:sp>
      <p:sp>
        <p:nvSpPr>
          <p:cNvPr id="15" name="Text 13"/>
          <p:cNvSpPr/>
          <p:nvPr/>
        </p:nvSpPr>
        <p:spPr>
          <a:xfrm>
            <a:off x="548640" y="6492240"/>
            <a:ext cx="7315200" cy="274320"/>
          </a:xfrm>
          <a:prstGeom prst="rect">
            <a:avLst/>
          </a:prstGeom>
          <a:noFill/>
          <a:ln/>
        </p:spPr>
        <p:txBody>
          <a:bodyPr wrap="square" rtlCol="0" anchor="ctr"/>
          <a:lstStyle/>
          <a:p>
            <a:pPr indent="0" marL="0">
              <a:buNone/>
            </a:pPr>
            <a:r>
              <a:rPr lang="en-US" sz="1000" i="1" dirty="0">
                <a:solidFill>
                  <a:srgbClr val="5B6470"/>
                </a:solidFill>
                <a:latin typeface="Calibri" pitchFamily="34" charset="0"/>
                <a:ea typeface="Calibri" pitchFamily="34" charset="-122"/>
                <a:cs typeface="Calibri" pitchFamily="34" charset="-120"/>
              </a:rPr>
              <a:t>Week 3 · Home Foundations · Task 3</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B2A4A"/>
        </a:solidFill>
      </p:bgPr>
    </p:bg>
    <p:spTree>
      <p:nvGrpSpPr>
        <p:cNvPr id="1" name=""/>
        <p:cNvGrpSpPr/>
        <p:nvPr/>
      </p:nvGrpSpPr>
      <p:grpSpPr>
        <a:xfrm>
          <a:off x="0" y="0"/>
          <a:ext cx="0" cy="0"/>
          <a:chOff x="0" y="0"/>
          <a:chExt cx="0" cy="0"/>
        </a:xfrm>
      </p:grpSpPr>
      <p:sp>
        <p:nvSpPr>
          <p:cNvPr id="2" name="Text 0"/>
          <p:cNvSpPr/>
          <p:nvPr/>
        </p:nvSpPr>
        <p:spPr>
          <a:xfrm>
            <a:off x="548640" y="1463040"/>
            <a:ext cx="10972800" cy="457200"/>
          </a:xfrm>
          <a:prstGeom prst="rect">
            <a:avLst/>
          </a:prstGeom>
          <a:noFill/>
          <a:ln/>
        </p:spPr>
        <p:txBody>
          <a:bodyPr wrap="square" rtlCol="0" anchor="ctr"/>
          <a:lstStyle/>
          <a:p>
            <a:pPr indent="0" marL="0">
              <a:buNone/>
            </a:pPr>
            <a:r>
              <a:rPr lang="en-US" sz="1400" b="1" spc="500" kern="0" dirty="0">
                <a:solidFill>
                  <a:srgbClr val="B8966B"/>
                </a:solidFill>
                <a:latin typeface="Calibri" pitchFamily="34" charset="0"/>
                <a:ea typeface="Calibri" pitchFamily="34" charset="-122"/>
                <a:cs typeface="Calibri" pitchFamily="34" charset="-120"/>
              </a:rPr>
              <a:t>WEEK 4  ·  BLOCK II — HOME MASTERY</a:t>
            </a:r>
            <a:endParaRPr lang="en-US" sz="1400" dirty="0"/>
          </a:p>
        </p:txBody>
      </p:sp>
      <p:sp>
        <p:nvSpPr>
          <p:cNvPr id="3" name="Text 1"/>
          <p:cNvSpPr/>
          <p:nvPr/>
        </p:nvSpPr>
        <p:spPr>
          <a:xfrm>
            <a:off x="548640" y="1920240"/>
            <a:ext cx="11338560" cy="1371600"/>
          </a:xfrm>
          <a:prstGeom prst="rect">
            <a:avLst/>
          </a:prstGeom>
          <a:noFill/>
          <a:ln/>
        </p:spPr>
        <p:txBody>
          <a:bodyPr wrap="square" rtlCol="0" anchor="ctr"/>
          <a:lstStyle/>
          <a:p>
            <a:pPr indent="0" marL="0">
              <a:buNone/>
            </a:pPr>
            <a:r>
              <a:rPr lang="en-US" sz="5400" b="1" dirty="0">
                <a:solidFill>
                  <a:srgbClr val="FFFFFF"/>
                </a:solidFill>
                <a:latin typeface="Calibri" pitchFamily="34" charset="0"/>
                <a:ea typeface="Calibri" pitchFamily="34" charset="-122"/>
                <a:cs typeface="Calibri" pitchFamily="34" charset="-120"/>
              </a:rPr>
              <a:t>HOME SYSTEMS &amp; STEWARDSHIP</a:t>
            </a:r>
            <a:endParaRPr lang="en-US" sz="5400" dirty="0"/>
          </a:p>
        </p:txBody>
      </p:sp>
      <p:sp>
        <p:nvSpPr>
          <p:cNvPr id="4" name="Shape 2"/>
          <p:cNvSpPr/>
          <p:nvPr/>
        </p:nvSpPr>
        <p:spPr>
          <a:xfrm>
            <a:off x="548640" y="3383280"/>
            <a:ext cx="1828800" cy="73152"/>
          </a:xfrm>
          <a:prstGeom prst="rect">
            <a:avLst/>
          </a:prstGeom>
          <a:solidFill>
            <a:srgbClr val="B8966B"/>
          </a:solidFill>
          <a:ln w="12700">
            <a:solidFill>
              <a:srgbClr val="B8966B"/>
            </a:solidFill>
            <a:prstDash val="solid"/>
          </a:ln>
        </p:spPr>
      </p:sp>
      <p:sp>
        <p:nvSpPr>
          <p:cNvPr id="5" name="Text 3"/>
          <p:cNvSpPr/>
          <p:nvPr/>
        </p:nvSpPr>
        <p:spPr>
          <a:xfrm>
            <a:off x="548640" y="3566160"/>
            <a:ext cx="10515600" cy="1097280"/>
          </a:xfrm>
          <a:prstGeom prst="rect">
            <a:avLst/>
          </a:prstGeom>
          <a:noFill/>
          <a:ln/>
        </p:spPr>
        <p:txBody>
          <a:bodyPr wrap="square" rtlCol="0" anchor="ctr"/>
          <a:lstStyle/>
          <a:p>
            <a:pPr indent="0" marL="0">
              <a:buNone/>
            </a:pPr>
            <a:r>
              <a:rPr lang="en-US" sz="2200" i="1" dirty="0">
                <a:solidFill>
                  <a:srgbClr val="94A3B8"/>
                </a:solidFill>
                <a:latin typeface="Calibri" pitchFamily="34" charset="0"/>
                <a:ea typeface="Calibri" pitchFamily="34" charset="-122"/>
                <a:cs typeface="Calibri" pitchFamily="34" charset="-120"/>
              </a:rPr>
              <a:t>A family AI policy your kids help write, a household rhythm posted where everyone can see it, and a legacy plan started.</a:t>
            </a:r>
            <a:endParaRPr lang="en-US" sz="2200" dirty="0"/>
          </a:p>
        </p:txBody>
      </p:sp>
      <p:sp>
        <p:nvSpPr>
          <p:cNvPr id="6" name="Text 4"/>
          <p:cNvSpPr/>
          <p:nvPr/>
        </p:nvSpPr>
        <p:spPr>
          <a:xfrm>
            <a:off x="548640" y="5029200"/>
            <a:ext cx="10972800" cy="274320"/>
          </a:xfrm>
          <a:prstGeom prst="rect">
            <a:avLst/>
          </a:prstGeom>
          <a:noFill/>
          <a:ln/>
        </p:spPr>
        <p:txBody>
          <a:bodyPr wrap="square" rtlCol="0" anchor="ctr"/>
          <a:lstStyle/>
          <a:p>
            <a:pPr indent="0" marL="0">
              <a:buNone/>
            </a:pPr>
            <a:r>
              <a:rPr lang="en-US" sz="1000" b="1" spc="400" kern="0" dirty="0">
                <a:solidFill>
                  <a:srgbClr val="CE8E31"/>
                </a:solidFill>
                <a:latin typeface="Calibri" pitchFamily="34" charset="0"/>
                <a:ea typeface="Calibri" pitchFamily="34" charset="-122"/>
                <a:cs typeface="Calibri" pitchFamily="34" charset="-120"/>
              </a:rPr>
              <a:t>SCRIPTURE</a:t>
            </a:r>
            <a:endParaRPr lang="en-US" sz="1000" dirty="0"/>
          </a:p>
        </p:txBody>
      </p:sp>
      <p:sp>
        <p:nvSpPr>
          <p:cNvPr id="7" name="Text 5"/>
          <p:cNvSpPr/>
          <p:nvPr/>
        </p:nvSpPr>
        <p:spPr>
          <a:xfrm>
            <a:off x="548640" y="5303520"/>
            <a:ext cx="10972800" cy="457200"/>
          </a:xfrm>
          <a:prstGeom prst="rect">
            <a:avLst/>
          </a:prstGeom>
          <a:noFill/>
          <a:ln/>
        </p:spPr>
        <p:txBody>
          <a:bodyPr wrap="square" rtlCol="0" anchor="ctr"/>
          <a:lstStyle/>
          <a:p>
            <a:pPr indent="0" marL="0">
              <a:buNone/>
            </a:pPr>
            <a:r>
              <a:rPr lang="en-US" sz="2000" dirty="0">
                <a:solidFill>
                  <a:srgbClr val="FFFFFF"/>
                </a:solidFill>
                <a:latin typeface="Calibri" pitchFamily="34" charset="0"/>
                <a:ea typeface="Calibri" pitchFamily="34" charset="-122"/>
                <a:cs typeface="Calibri" pitchFamily="34" charset="-120"/>
              </a:rPr>
              <a:t>1 Timothy 3:4–5</a:t>
            </a:r>
            <a:endParaRPr lang="en-US" sz="2000" dirty="0"/>
          </a:p>
        </p:txBody>
      </p:sp>
      <p:sp>
        <p:nvSpPr>
          <p:cNvPr id="8" name="Text 6"/>
          <p:cNvSpPr/>
          <p:nvPr/>
        </p:nvSpPr>
        <p:spPr>
          <a:xfrm>
            <a:off x="548640" y="6492240"/>
            <a:ext cx="7315200" cy="274320"/>
          </a:xfrm>
          <a:prstGeom prst="rect">
            <a:avLst/>
          </a:prstGeom>
          <a:noFill/>
          <a:ln/>
        </p:spPr>
        <p:txBody>
          <a:bodyPr wrap="square" rtlCol="0" anchor="ctr"/>
          <a:lstStyle/>
          <a:p>
            <a:pPr indent="0" marL="0">
              <a:buNone/>
            </a:pPr>
            <a:r>
              <a:rPr lang="en-US" sz="1000" i="1" dirty="0">
                <a:solidFill>
                  <a:srgbClr val="5B6470"/>
                </a:solidFill>
                <a:latin typeface="Calibri" pitchFamily="34" charset="0"/>
                <a:ea typeface="Calibri" pitchFamily="34" charset="-122"/>
                <a:cs typeface="Calibri" pitchFamily="34" charset="-120"/>
              </a:rPr>
              <a:t>Week 4 · Home Systems &amp; Stewardship</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0972800" cy="365760"/>
          </a:xfrm>
          <a:prstGeom prst="rect">
            <a:avLst/>
          </a:prstGeom>
          <a:noFill/>
          <a:ln/>
        </p:spPr>
        <p:txBody>
          <a:bodyPr wrap="square" rtlCol="0" anchor="ctr"/>
          <a:lstStyle/>
          <a:p>
            <a:pPr indent="0" marL="0">
              <a:buNone/>
            </a:pPr>
            <a:r>
              <a:rPr lang="en-US" sz="1100" b="1" spc="400" kern="0" dirty="0">
                <a:solidFill>
                  <a:srgbClr val="B8966B"/>
                </a:solidFill>
                <a:latin typeface="Calibri" pitchFamily="34" charset="0"/>
                <a:ea typeface="Calibri" pitchFamily="34" charset="-122"/>
                <a:cs typeface="Calibri" pitchFamily="34" charset="-120"/>
              </a:rPr>
              <a:t>WEEK 4 · TASK 1 · MONDAY</a:t>
            </a:r>
            <a:endParaRPr lang="en-US" sz="1100" dirty="0"/>
          </a:p>
        </p:txBody>
      </p:sp>
      <p:sp>
        <p:nvSpPr>
          <p:cNvPr id="3" name="Text 1"/>
          <p:cNvSpPr/>
          <p:nvPr/>
        </p:nvSpPr>
        <p:spPr>
          <a:xfrm>
            <a:off x="548640" y="822960"/>
            <a:ext cx="11155680" cy="1280160"/>
          </a:xfrm>
          <a:prstGeom prst="rect">
            <a:avLst/>
          </a:prstGeom>
          <a:noFill/>
          <a:ln/>
        </p:spPr>
        <p:txBody>
          <a:bodyPr wrap="square" rtlCol="0" anchor="t"/>
          <a:lstStyle/>
          <a:p>
            <a:pPr indent="0" marL="0">
              <a:buNone/>
            </a:pPr>
            <a:r>
              <a:rPr lang="en-US" sz="3600" b="1" dirty="0">
                <a:solidFill>
                  <a:srgbClr val="1B2A4A"/>
                </a:solidFill>
                <a:latin typeface="Calibri" pitchFamily="34" charset="0"/>
                <a:ea typeface="Calibri" pitchFamily="34" charset="-122"/>
                <a:cs typeface="Calibri" pitchFamily="34" charset="-120"/>
              </a:rPr>
              <a:t>Family AI Policy + Friday Devotion Generator</a:t>
            </a:r>
            <a:endParaRPr lang="en-US" sz="3600" dirty="0"/>
          </a:p>
        </p:txBody>
      </p:sp>
      <p:sp>
        <p:nvSpPr>
          <p:cNvPr id="4" name="Text 2"/>
          <p:cNvSpPr/>
          <p:nvPr/>
        </p:nvSpPr>
        <p:spPr>
          <a:xfrm>
            <a:off x="548640" y="2103120"/>
            <a:ext cx="10972800" cy="731520"/>
          </a:xfrm>
          <a:prstGeom prst="rect">
            <a:avLst/>
          </a:prstGeom>
          <a:noFill/>
          <a:ln/>
        </p:spPr>
        <p:txBody>
          <a:bodyPr wrap="square" rtlCol="0" anchor="ctr"/>
          <a:lstStyle/>
          <a:p>
            <a:pPr indent="0" marL="0">
              <a:buNone/>
            </a:pPr>
            <a:r>
              <a:rPr lang="en-US" sz="1900" i="1" dirty="0">
                <a:solidFill>
                  <a:srgbClr val="5B6470"/>
                </a:solidFill>
                <a:latin typeface="Calibri" pitchFamily="34" charset="0"/>
                <a:ea typeface="Calibri" pitchFamily="34" charset="-122"/>
                <a:cs typeface="Calibri" pitchFamily="34" charset="-120"/>
              </a:rPr>
              <a:t>Write the policy WITH your kids. Then generate this Friday's devo.</a:t>
            </a:r>
            <a:endParaRPr lang="en-US" sz="1900" dirty="0"/>
          </a:p>
        </p:txBody>
      </p:sp>
      <p:sp>
        <p:nvSpPr>
          <p:cNvPr id="5" name="Shape 3"/>
          <p:cNvSpPr/>
          <p:nvPr/>
        </p:nvSpPr>
        <p:spPr>
          <a:xfrm>
            <a:off x="548640" y="3291840"/>
            <a:ext cx="5486400" cy="3017520"/>
          </a:xfrm>
          <a:prstGeom prst="rect">
            <a:avLst/>
          </a:prstGeom>
          <a:solidFill>
            <a:srgbClr val="F4F1EA"/>
          </a:solidFill>
          <a:ln w="12700">
            <a:solidFill>
              <a:srgbClr val="D8DCE2"/>
            </a:solidFill>
            <a:prstDash val="solid"/>
          </a:ln>
        </p:spPr>
      </p:sp>
      <p:sp>
        <p:nvSpPr>
          <p:cNvPr id="6" name="Shape 4"/>
          <p:cNvSpPr/>
          <p:nvPr/>
        </p:nvSpPr>
        <p:spPr>
          <a:xfrm>
            <a:off x="548640" y="3291840"/>
            <a:ext cx="73152" cy="3017520"/>
          </a:xfrm>
          <a:prstGeom prst="rect">
            <a:avLst/>
          </a:prstGeom>
          <a:solidFill>
            <a:srgbClr val="1B2A4A"/>
          </a:solidFill>
          <a:ln w="12700">
            <a:solidFill>
              <a:srgbClr val="1B2A4A"/>
            </a:solidFill>
            <a:prstDash val="solid"/>
          </a:ln>
        </p:spPr>
      </p:sp>
      <p:sp>
        <p:nvSpPr>
          <p:cNvPr id="7" name="Text 5"/>
          <p:cNvSpPr/>
          <p:nvPr/>
        </p:nvSpPr>
        <p:spPr>
          <a:xfrm>
            <a:off x="777240" y="3474720"/>
            <a:ext cx="5029200" cy="274320"/>
          </a:xfrm>
          <a:prstGeom prst="rect">
            <a:avLst/>
          </a:prstGeom>
          <a:noFill/>
          <a:ln/>
        </p:spPr>
        <p:txBody>
          <a:bodyPr wrap="square" rtlCol="0" anchor="ctr"/>
          <a:lstStyle/>
          <a:p>
            <a:pPr indent="0" marL="0">
              <a:buNone/>
            </a:pPr>
            <a:r>
              <a:rPr lang="en-US" sz="1100" b="1" spc="300" kern="0" dirty="0">
                <a:solidFill>
                  <a:srgbClr val="CE8E31"/>
                </a:solidFill>
                <a:latin typeface="Calibri" pitchFamily="34" charset="0"/>
                <a:ea typeface="Calibri" pitchFamily="34" charset="-122"/>
                <a:cs typeface="Calibri" pitchFamily="34" charset="-120"/>
              </a:rPr>
              <a:t>THE ACTION</a:t>
            </a:r>
            <a:endParaRPr lang="en-US" sz="1100" dirty="0"/>
          </a:p>
        </p:txBody>
      </p:sp>
      <p:sp>
        <p:nvSpPr>
          <p:cNvPr id="8" name="Text 6"/>
          <p:cNvSpPr/>
          <p:nvPr/>
        </p:nvSpPr>
        <p:spPr>
          <a:xfrm>
            <a:off x="777240" y="3794760"/>
            <a:ext cx="5029200" cy="1463040"/>
          </a:xfrm>
          <a:prstGeom prst="rect">
            <a:avLst/>
          </a:prstGeom>
          <a:noFill/>
          <a:ln/>
        </p:spPr>
        <p:txBody>
          <a:bodyPr wrap="square" rtlCol="0" anchor="ctr"/>
          <a:lstStyle/>
          <a:p>
            <a:pPr indent="0" marL="0">
              <a:buNone/>
            </a:pPr>
            <a:r>
              <a:rPr lang="en-US" sz="1600" dirty="0">
                <a:solidFill>
                  <a:srgbClr val="22272E"/>
                </a:solidFill>
                <a:latin typeface="Calibri" pitchFamily="34" charset="0"/>
                <a:ea typeface="Calibri" pitchFamily="34" charset="-122"/>
                <a:cs typeface="Calibri" pitchFamily="34" charset="-120"/>
              </a:rPr>
              <a:t>20–30 minutes. Open the task card. Run the checklist. Ship the artifact. React ✓ in the cohort channel.</a:t>
            </a:r>
            <a:endParaRPr lang="en-US" sz="1600" dirty="0"/>
          </a:p>
        </p:txBody>
      </p:sp>
      <p:sp>
        <p:nvSpPr>
          <p:cNvPr id="9" name="Text 7"/>
          <p:cNvSpPr/>
          <p:nvPr/>
        </p:nvSpPr>
        <p:spPr>
          <a:xfrm>
            <a:off x="777240" y="5669280"/>
            <a:ext cx="5029200" cy="457200"/>
          </a:xfrm>
          <a:prstGeom prst="rect">
            <a:avLst/>
          </a:prstGeom>
          <a:noFill/>
          <a:ln/>
        </p:spPr>
        <p:txBody>
          <a:bodyPr wrap="square" rtlCol="0" anchor="ctr"/>
          <a:lstStyle/>
          <a:p>
            <a:pPr indent="0" marL="0">
              <a:buNone/>
            </a:pPr>
            <a:r>
              <a:rPr lang="en-US" sz="1400" b="1" i="1" dirty="0">
                <a:solidFill>
                  <a:srgbClr val="1B2A4A"/>
                </a:solidFill>
                <a:latin typeface="Calibri" pitchFamily="34" charset="0"/>
                <a:ea typeface="Calibri" pitchFamily="34" charset="-122"/>
                <a:cs typeface="Calibri" pitchFamily="34" charset="-120"/>
              </a:rPr>
              <a:t>AI drafts. The watchman decides.</a:t>
            </a:r>
            <a:endParaRPr lang="en-US" sz="1400" dirty="0"/>
          </a:p>
        </p:txBody>
      </p:sp>
      <p:sp>
        <p:nvSpPr>
          <p:cNvPr id="10" name="Shape 8"/>
          <p:cNvSpPr/>
          <p:nvPr/>
        </p:nvSpPr>
        <p:spPr>
          <a:xfrm>
            <a:off x="6217920" y="3291840"/>
            <a:ext cx="5394960" cy="3017520"/>
          </a:xfrm>
          <a:prstGeom prst="rect">
            <a:avLst/>
          </a:prstGeom>
          <a:solidFill>
            <a:srgbClr val="B8966B"/>
          </a:solidFill>
          <a:ln w="12700">
            <a:solidFill>
              <a:srgbClr val="B8966B"/>
            </a:solidFill>
            <a:prstDash val="solid"/>
          </a:ln>
        </p:spPr>
      </p:sp>
      <p:sp>
        <p:nvSpPr>
          <p:cNvPr id="11" name="Text 9"/>
          <p:cNvSpPr/>
          <p:nvPr/>
        </p:nvSpPr>
        <p:spPr>
          <a:xfrm>
            <a:off x="6446520" y="3520440"/>
            <a:ext cx="5029200" cy="274320"/>
          </a:xfrm>
          <a:prstGeom prst="rect">
            <a:avLst/>
          </a:prstGeom>
          <a:noFill/>
          <a:ln/>
        </p:spPr>
        <p:txBody>
          <a:bodyPr wrap="square" rtlCol="0" anchor="ctr"/>
          <a:lstStyle/>
          <a:p>
            <a:pPr indent="0" marL="0">
              <a:buNone/>
            </a:pPr>
            <a:r>
              <a:rPr lang="en-US" sz="1100" b="1" spc="300" kern="0" dirty="0">
                <a:solidFill>
                  <a:srgbClr val="FFFFFF"/>
                </a:solidFill>
                <a:latin typeface="Calibri" pitchFamily="34" charset="0"/>
                <a:ea typeface="Calibri" pitchFamily="34" charset="-122"/>
                <a:cs typeface="Calibri" pitchFamily="34" charset="-120"/>
              </a:rPr>
              <a:t>SCRIPTURE ANCHOR</a:t>
            </a:r>
            <a:endParaRPr lang="en-US" sz="1100" dirty="0"/>
          </a:p>
        </p:txBody>
      </p:sp>
      <p:sp>
        <p:nvSpPr>
          <p:cNvPr id="12" name="Text 10"/>
          <p:cNvSpPr/>
          <p:nvPr/>
        </p:nvSpPr>
        <p:spPr>
          <a:xfrm>
            <a:off x="6446520" y="3840480"/>
            <a:ext cx="5029200" cy="502920"/>
          </a:xfrm>
          <a:prstGeom prst="rect">
            <a:avLst/>
          </a:prstGeom>
          <a:noFill/>
          <a:ln/>
        </p:spPr>
        <p:txBody>
          <a:bodyPr wrap="square"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Week 4 · Home Systems &amp; Stewardship</a:t>
            </a:r>
            <a:endParaRPr lang="en-US" sz="2000" dirty="0"/>
          </a:p>
        </p:txBody>
      </p:sp>
      <p:sp>
        <p:nvSpPr>
          <p:cNvPr id="13" name="Text 11"/>
          <p:cNvSpPr/>
          <p:nvPr/>
        </p:nvSpPr>
        <p:spPr>
          <a:xfrm>
            <a:off x="6446520" y="4434840"/>
            <a:ext cx="5029200" cy="548640"/>
          </a:xfrm>
          <a:prstGeom prst="rect">
            <a:avLst/>
          </a:prstGeom>
          <a:noFill/>
          <a:ln/>
        </p:spPr>
        <p:txBody>
          <a:bodyPr wrap="square" rtlCol="0" anchor="ctr"/>
          <a:lstStyle/>
          <a:p>
            <a:pPr indent="0" marL="0">
              <a:buNone/>
            </a:pPr>
            <a:r>
              <a:rPr lang="en-US" sz="1800" i="1" dirty="0">
                <a:solidFill>
                  <a:srgbClr val="FFFFFF"/>
                </a:solidFill>
                <a:latin typeface="Calibri" pitchFamily="34" charset="0"/>
                <a:ea typeface="Calibri" pitchFamily="34" charset="-122"/>
                <a:cs typeface="Calibri" pitchFamily="34" charset="-120"/>
              </a:rPr>
              <a:t>1 Timothy 3:4–5</a:t>
            </a:r>
            <a:endParaRPr lang="en-US" sz="1800" dirty="0"/>
          </a:p>
        </p:txBody>
      </p:sp>
      <p:sp>
        <p:nvSpPr>
          <p:cNvPr id="14" name="Text 12"/>
          <p:cNvSpPr/>
          <p:nvPr/>
        </p:nvSpPr>
        <p:spPr>
          <a:xfrm>
            <a:off x="6446520" y="5669280"/>
            <a:ext cx="5029200" cy="365760"/>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Read aloud at the open and the close.</a:t>
            </a:r>
            <a:endParaRPr lang="en-US" sz="1300" dirty="0"/>
          </a:p>
        </p:txBody>
      </p:sp>
      <p:sp>
        <p:nvSpPr>
          <p:cNvPr id="15" name="Text 13"/>
          <p:cNvSpPr/>
          <p:nvPr/>
        </p:nvSpPr>
        <p:spPr>
          <a:xfrm>
            <a:off x="548640" y="6492240"/>
            <a:ext cx="7315200" cy="274320"/>
          </a:xfrm>
          <a:prstGeom prst="rect">
            <a:avLst/>
          </a:prstGeom>
          <a:noFill/>
          <a:ln/>
        </p:spPr>
        <p:txBody>
          <a:bodyPr wrap="square" rtlCol="0" anchor="ctr"/>
          <a:lstStyle/>
          <a:p>
            <a:pPr indent="0" marL="0">
              <a:buNone/>
            </a:pPr>
            <a:r>
              <a:rPr lang="en-US" sz="1000" i="1" dirty="0">
                <a:solidFill>
                  <a:srgbClr val="5B6470"/>
                </a:solidFill>
                <a:latin typeface="Calibri" pitchFamily="34" charset="0"/>
                <a:ea typeface="Calibri" pitchFamily="34" charset="-122"/>
                <a:cs typeface="Calibri" pitchFamily="34" charset="-120"/>
              </a:rPr>
              <a:t>Week 4 · Home Systems &amp; Stewardship · Task 1</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0972800" cy="365760"/>
          </a:xfrm>
          <a:prstGeom prst="rect">
            <a:avLst/>
          </a:prstGeom>
          <a:noFill/>
          <a:ln/>
        </p:spPr>
        <p:txBody>
          <a:bodyPr wrap="square" rtlCol="0" anchor="ctr"/>
          <a:lstStyle/>
          <a:p>
            <a:pPr indent="0" marL="0">
              <a:buNone/>
            </a:pPr>
            <a:r>
              <a:rPr lang="en-US" sz="1100" b="1" spc="400" kern="0" dirty="0">
                <a:solidFill>
                  <a:srgbClr val="B8966B"/>
                </a:solidFill>
                <a:latin typeface="Calibri" pitchFamily="34" charset="0"/>
                <a:ea typeface="Calibri" pitchFamily="34" charset="-122"/>
                <a:cs typeface="Calibri" pitchFamily="34" charset="-120"/>
              </a:rPr>
              <a:t>WEEK 4 · TASK 2 · WEDNESDAY</a:t>
            </a:r>
            <a:endParaRPr lang="en-US" sz="1100" dirty="0"/>
          </a:p>
        </p:txBody>
      </p:sp>
      <p:sp>
        <p:nvSpPr>
          <p:cNvPr id="3" name="Text 1"/>
          <p:cNvSpPr/>
          <p:nvPr/>
        </p:nvSpPr>
        <p:spPr>
          <a:xfrm>
            <a:off x="548640" y="822960"/>
            <a:ext cx="11155680" cy="1280160"/>
          </a:xfrm>
          <a:prstGeom prst="rect">
            <a:avLst/>
          </a:prstGeom>
          <a:noFill/>
          <a:ln/>
        </p:spPr>
        <p:txBody>
          <a:bodyPr wrap="square" rtlCol="0" anchor="t"/>
          <a:lstStyle/>
          <a:p>
            <a:pPr indent="0" marL="0">
              <a:buNone/>
            </a:pPr>
            <a:r>
              <a:rPr lang="en-US" sz="3600" b="1" dirty="0">
                <a:solidFill>
                  <a:srgbClr val="1B2A4A"/>
                </a:solidFill>
                <a:latin typeface="Calibri" pitchFamily="34" charset="0"/>
                <a:ea typeface="Calibri" pitchFamily="34" charset="-122"/>
                <a:cs typeface="Calibri" pitchFamily="34" charset="-120"/>
              </a:rPr>
              <a:t>Family Rhythm Asset</a:t>
            </a:r>
            <a:endParaRPr lang="en-US" sz="3600" dirty="0"/>
          </a:p>
        </p:txBody>
      </p:sp>
      <p:sp>
        <p:nvSpPr>
          <p:cNvPr id="4" name="Text 2"/>
          <p:cNvSpPr/>
          <p:nvPr/>
        </p:nvSpPr>
        <p:spPr>
          <a:xfrm>
            <a:off x="548640" y="2103120"/>
            <a:ext cx="10972800" cy="731520"/>
          </a:xfrm>
          <a:prstGeom prst="rect">
            <a:avLst/>
          </a:prstGeom>
          <a:noFill/>
          <a:ln/>
        </p:spPr>
        <p:txBody>
          <a:bodyPr wrap="square" rtlCol="0" anchor="ctr"/>
          <a:lstStyle/>
          <a:p>
            <a:pPr indent="0" marL="0">
              <a:buNone/>
            </a:pPr>
            <a:r>
              <a:rPr lang="en-US" sz="1900" i="1" dirty="0">
                <a:solidFill>
                  <a:srgbClr val="5B6470"/>
                </a:solidFill>
                <a:latin typeface="Calibri" pitchFamily="34" charset="0"/>
                <a:ea typeface="Calibri" pitchFamily="34" charset="-122"/>
                <a:cs typeface="Calibri" pitchFamily="34" charset="-120"/>
              </a:rPr>
              <a:t>A cadence map for the household. AI drafts; you iterate; you post it.</a:t>
            </a:r>
            <a:endParaRPr lang="en-US" sz="1900" dirty="0"/>
          </a:p>
        </p:txBody>
      </p:sp>
      <p:sp>
        <p:nvSpPr>
          <p:cNvPr id="5" name="Shape 3"/>
          <p:cNvSpPr/>
          <p:nvPr/>
        </p:nvSpPr>
        <p:spPr>
          <a:xfrm>
            <a:off x="548640" y="3291840"/>
            <a:ext cx="5486400" cy="3017520"/>
          </a:xfrm>
          <a:prstGeom prst="rect">
            <a:avLst/>
          </a:prstGeom>
          <a:solidFill>
            <a:srgbClr val="F4F1EA"/>
          </a:solidFill>
          <a:ln w="12700">
            <a:solidFill>
              <a:srgbClr val="D8DCE2"/>
            </a:solidFill>
            <a:prstDash val="solid"/>
          </a:ln>
        </p:spPr>
      </p:sp>
      <p:sp>
        <p:nvSpPr>
          <p:cNvPr id="6" name="Shape 4"/>
          <p:cNvSpPr/>
          <p:nvPr/>
        </p:nvSpPr>
        <p:spPr>
          <a:xfrm>
            <a:off x="548640" y="3291840"/>
            <a:ext cx="73152" cy="3017520"/>
          </a:xfrm>
          <a:prstGeom prst="rect">
            <a:avLst/>
          </a:prstGeom>
          <a:solidFill>
            <a:srgbClr val="1B2A4A"/>
          </a:solidFill>
          <a:ln w="12700">
            <a:solidFill>
              <a:srgbClr val="1B2A4A"/>
            </a:solidFill>
            <a:prstDash val="solid"/>
          </a:ln>
        </p:spPr>
      </p:sp>
      <p:sp>
        <p:nvSpPr>
          <p:cNvPr id="7" name="Text 5"/>
          <p:cNvSpPr/>
          <p:nvPr/>
        </p:nvSpPr>
        <p:spPr>
          <a:xfrm>
            <a:off x="777240" y="3474720"/>
            <a:ext cx="5029200" cy="274320"/>
          </a:xfrm>
          <a:prstGeom prst="rect">
            <a:avLst/>
          </a:prstGeom>
          <a:noFill/>
          <a:ln/>
        </p:spPr>
        <p:txBody>
          <a:bodyPr wrap="square" rtlCol="0" anchor="ctr"/>
          <a:lstStyle/>
          <a:p>
            <a:pPr indent="0" marL="0">
              <a:buNone/>
            </a:pPr>
            <a:r>
              <a:rPr lang="en-US" sz="1100" b="1" spc="300" kern="0" dirty="0">
                <a:solidFill>
                  <a:srgbClr val="CE8E31"/>
                </a:solidFill>
                <a:latin typeface="Calibri" pitchFamily="34" charset="0"/>
                <a:ea typeface="Calibri" pitchFamily="34" charset="-122"/>
                <a:cs typeface="Calibri" pitchFamily="34" charset="-120"/>
              </a:rPr>
              <a:t>THE ACTION</a:t>
            </a:r>
            <a:endParaRPr lang="en-US" sz="1100" dirty="0"/>
          </a:p>
        </p:txBody>
      </p:sp>
      <p:sp>
        <p:nvSpPr>
          <p:cNvPr id="8" name="Text 6"/>
          <p:cNvSpPr/>
          <p:nvPr/>
        </p:nvSpPr>
        <p:spPr>
          <a:xfrm>
            <a:off x="777240" y="3794760"/>
            <a:ext cx="5029200" cy="1463040"/>
          </a:xfrm>
          <a:prstGeom prst="rect">
            <a:avLst/>
          </a:prstGeom>
          <a:noFill/>
          <a:ln/>
        </p:spPr>
        <p:txBody>
          <a:bodyPr wrap="square" rtlCol="0" anchor="ctr"/>
          <a:lstStyle/>
          <a:p>
            <a:pPr indent="0" marL="0">
              <a:buNone/>
            </a:pPr>
            <a:r>
              <a:rPr lang="en-US" sz="1600" dirty="0">
                <a:solidFill>
                  <a:srgbClr val="22272E"/>
                </a:solidFill>
                <a:latin typeface="Calibri" pitchFamily="34" charset="0"/>
                <a:ea typeface="Calibri" pitchFamily="34" charset="-122"/>
                <a:cs typeface="Calibri" pitchFamily="34" charset="-120"/>
              </a:rPr>
              <a:t>20–30 minutes. Open the task card. Run the checklist. Ship the artifact. React ✓ in the cohort channel.</a:t>
            </a:r>
            <a:endParaRPr lang="en-US" sz="1600" dirty="0"/>
          </a:p>
        </p:txBody>
      </p:sp>
      <p:sp>
        <p:nvSpPr>
          <p:cNvPr id="9" name="Text 7"/>
          <p:cNvSpPr/>
          <p:nvPr/>
        </p:nvSpPr>
        <p:spPr>
          <a:xfrm>
            <a:off x="777240" y="5669280"/>
            <a:ext cx="5029200" cy="457200"/>
          </a:xfrm>
          <a:prstGeom prst="rect">
            <a:avLst/>
          </a:prstGeom>
          <a:noFill/>
          <a:ln/>
        </p:spPr>
        <p:txBody>
          <a:bodyPr wrap="square" rtlCol="0" anchor="ctr"/>
          <a:lstStyle/>
          <a:p>
            <a:pPr indent="0" marL="0">
              <a:buNone/>
            </a:pPr>
            <a:r>
              <a:rPr lang="en-US" sz="1400" b="1" i="1" dirty="0">
                <a:solidFill>
                  <a:srgbClr val="1B2A4A"/>
                </a:solidFill>
                <a:latin typeface="Calibri" pitchFamily="34" charset="0"/>
                <a:ea typeface="Calibri" pitchFamily="34" charset="-122"/>
                <a:cs typeface="Calibri" pitchFamily="34" charset="-120"/>
              </a:rPr>
              <a:t>AI drafts. The watchman decides.</a:t>
            </a:r>
            <a:endParaRPr lang="en-US" sz="1400" dirty="0"/>
          </a:p>
        </p:txBody>
      </p:sp>
      <p:sp>
        <p:nvSpPr>
          <p:cNvPr id="10" name="Shape 8"/>
          <p:cNvSpPr/>
          <p:nvPr/>
        </p:nvSpPr>
        <p:spPr>
          <a:xfrm>
            <a:off x="6217920" y="3291840"/>
            <a:ext cx="5394960" cy="3017520"/>
          </a:xfrm>
          <a:prstGeom prst="rect">
            <a:avLst/>
          </a:prstGeom>
          <a:solidFill>
            <a:srgbClr val="B8966B"/>
          </a:solidFill>
          <a:ln w="12700">
            <a:solidFill>
              <a:srgbClr val="B8966B"/>
            </a:solidFill>
            <a:prstDash val="solid"/>
          </a:ln>
        </p:spPr>
      </p:sp>
      <p:sp>
        <p:nvSpPr>
          <p:cNvPr id="11" name="Text 9"/>
          <p:cNvSpPr/>
          <p:nvPr/>
        </p:nvSpPr>
        <p:spPr>
          <a:xfrm>
            <a:off x="6446520" y="3520440"/>
            <a:ext cx="5029200" cy="274320"/>
          </a:xfrm>
          <a:prstGeom prst="rect">
            <a:avLst/>
          </a:prstGeom>
          <a:noFill/>
          <a:ln/>
        </p:spPr>
        <p:txBody>
          <a:bodyPr wrap="square" rtlCol="0" anchor="ctr"/>
          <a:lstStyle/>
          <a:p>
            <a:pPr indent="0" marL="0">
              <a:buNone/>
            </a:pPr>
            <a:r>
              <a:rPr lang="en-US" sz="1100" b="1" spc="300" kern="0" dirty="0">
                <a:solidFill>
                  <a:srgbClr val="FFFFFF"/>
                </a:solidFill>
                <a:latin typeface="Calibri" pitchFamily="34" charset="0"/>
                <a:ea typeface="Calibri" pitchFamily="34" charset="-122"/>
                <a:cs typeface="Calibri" pitchFamily="34" charset="-120"/>
              </a:rPr>
              <a:t>SCRIPTURE ANCHOR</a:t>
            </a:r>
            <a:endParaRPr lang="en-US" sz="1100" dirty="0"/>
          </a:p>
        </p:txBody>
      </p:sp>
      <p:sp>
        <p:nvSpPr>
          <p:cNvPr id="12" name="Text 10"/>
          <p:cNvSpPr/>
          <p:nvPr/>
        </p:nvSpPr>
        <p:spPr>
          <a:xfrm>
            <a:off x="6446520" y="3840480"/>
            <a:ext cx="5029200" cy="502920"/>
          </a:xfrm>
          <a:prstGeom prst="rect">
            <a:avLst/>
          </a:prstGeom>
          <a:noFill/>
          <a:ln/>
        </p:spPr>
        <p:txBody>
          <a:bodyPr wrap="square"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Week 4 · Home Systems &amp; Stewardship</a:t>
            </a:r>
            <a:endParaRPr lang="en-US" sz="2000" dirty="0"/>
          </a:p>
        </p:txBody>
      </p:sp>
      <p:sp>
        <p:nvSpPr>
          <p:cNvPr id="13" name="Text 11"/>
          <p:cNvSpPr/>
          <p:nvPr/>
        </p:nvSpPr>
        <p:spPr>
          <a:xfrm>
            <a:off x="6446520" y="4434840"/>
            <a:ext cx="5029200" cy="548640"/>
          </a:xfrm>
          <a:prstGeom prst="rect">
            <a:avLst/>
          </a:prstGeom>
          <a:noFill/>
          <a:ln/>
        </p:spPr>
        <p:txBody>
          <a:bodyPr wrap="square" rtlCol="0" anchor="ctr"/>
          <a:lstStyle/>
          <a:p>
            <a:pPr indent="0" marL="0">
              <a:buNone/>
            </a:pPr>
            <a:r>
              <a:rPr lang="en-US" sz="1800" i="1" dirty="0">
                <a:solidFill>
                  <a:srgbClr val="FFFFFF"/>
                </a:solidFill>
                <a:latin typeface="Calibri" pitchFamily="34" charset="0"/>
                <a:ea typeface="Calibri" pitchFamily="34" charset="-122"/>
                <a:cs typeface="Calibri" pitchFamily="34" charset="-120"/>
              </a:rPr>
              <a:t>1 Timothy 3:4–5</a:t>
            </a:r>
            <a:endParaRPr lang="en-US" sz="1800" dirty="0"/>
          </a:p>
        </p:txBody>
      </p:sp>
      <p:sp>
        <p:nvSpPr>
          <p:cNvPr id="14" name="Text 12"/>
          <p:cNvSpPr/>
          <p:nvPr/>
        </p:nvSpPr>
        <p:spPr>
          <a:xfrm>
            <a:off x="6446520" y="5669280"/>
            <a:ext cx="5029200" cy="365760"/>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Read aloud at the open and the close.</a:t>
            </a:r>
            <a:endParaRPr lang="en-US" sz="1300" dirty="0"/>
          </a:p>
        </p:txBody>
      </p:sp>
      <p:sp>
        <p:nvSpPr>
          <p:cNvPr id="15" name="Text 13"/>
          <p:cNvSpPr/>
          <p:nvPr/>
        </p:nvSpPr>
        <p:spPr>
          <a:xfrm>
            <a:off x="548640" y="6492240"/>
            <a:ext cx="7315200" cy="274320"/>
          </a:xfrm>
          <a:prstGeom prst="rect">
            <a:avLst/>
          </a:prstGeom>
          <a:noFill/>
          <a:ln/>
        </p:spPr>
        <p:txBody>
          <a:bodyPr wrap="square" rtlCol="0" anchor="ctr"/>
          <a:lstStyle/>
          <a:p>
            <a:pPr indent="0" marL="0">
              <a:buNone/>
            </a:pPr>
            <a:r>
              <a:rPr lang="en-US" sz="1000" i="1" dirty="0">
                <a:solidFill>
                  <a:srgbClr val="5B6470"/>
                </a:solidFill>
                <a:latin typeface="Calibri" pitchFamily="34" charset="0"/>
                <a:ea typeface="Calibri" pitchFamily="34" charset="-122"/>
                <a:cs typeface="Calibri" pitchFamily="34" charset="-120"/>
              </a:rPr>
              <a:t>Week 4 · Home Systems &amp; Stewardship · Task 2</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0972800" cy="365760"/>
          </a:xfrm>
          <a:prstGeom prst="rect">
            <a:avLst/>
          </a:prstGeom>
          <a:noFill/>
          <a:ln/>
        </p:spPr>
        <p:txBody>
          <a:bodyPr wrap="square" rtlCol="0" anchor="ctr"/>
          <a:lstStyle/>
          <a:p>
            <a:pPr indent="0" marL="0">
              <a:buNone/>
            </a:pPr>
            <a:r>
              <a:rPr lang="en-US" sz="1100" b="1" spc="400" kern="0" dirty="0">
                <a:solidFill>
                  <a:srgbClr val="B8966B"/>
                </a:solidFill>
                <a:latin typeface="Calibri" pitchFamily="34" charset="0"/>
                <a:ea typeface="Calibri" pitchFamily="34" charset="-122"/>
                <a:cs typeface="Calibri" pitchFamily="34" charset="-120"/>
              </a:rPr>
              <a:t>WEEK 4 · TASK 3 · FRIDAY</a:t>
            </a:r>
            <a:endParaRPr lang="en-US" sz="1100" dirty="0"/>
          </a:p>
        </p:txBody>
      </p:sp>
      <p:sp>
        <p:nvSpPr>
          <p:cNvPr id="3" name="Text 1"/>
          <p:cNvSpPr/>
          <p:nvPr/>
        </p:nvSpPr>
        <p:spPr>
          <a:xfrm>
            <a:off x="548640" y="822960"/>
            <a:ext cx="11155680" cy="1280160"/>
          </a:xfrm>
          <a:prstGeom prst="rect">
            <a:avLst/>
          </a:prstGeom>
          <a:noFill/>
          <a:ln/>
        </p:spPr>
        <p:txBody>
          <a:bodyPr wrap="square" rtlCol="0" anchor="t"/>
          <a:lstStyle/>
          <a:p>
            <a:pPr indent="0" marL="0">
              <a:buNone/>
            </a:pPr>
            <a:r>
              <a:rPr lang="en-US" sz="3600" b="1" dirty="0">
                <a:solidFill>
                  <a:srgbClr val="1B2A4A"/>
                </a:solidFill>
                <a:latin typeface="Calibri" pitchFamily="34" charset="0"/>
                <a:ea typeface="Calibri" pitchFamily="34" charset="-122"/>
                <a:cs typeface="Calibri" pitchFamily="34" charset="-120"/>
              </a:rPr>
              <a:t>Legacy Plan Starter</a:t>
            </a:r>
            <a:endParaRPr lang="en-US" sz="3600" dirty="0"/>
          </a:p>
        </p:txBody>
      </p:sp>
      <p:sp>
        <p:nvSpPr>
          <p:cNvPr id="4" name="Text 2"/>
          <p:cNvSpPr/>
          <p:nvPr/>
        </p:nvSpPr>
        <p:spPr>
          <a:xfrm>
            <a:off x="548640" y="2103120"/>
            <a:ext cx="10972800" cy="731520"/>
          </a:xfrm>
          <a:prstGeom prst="rect">
            <a:avLst/>
          </a:prstGeom>
          <a:noFill/>
          <a:ln/>
        </p:spPr>
        <p:txBody>
          <a:bodyPr wrap="square" rtlCol="0" anchor="ctr"/>
          <a:lstStyle/>
          <a:p>
            <a:pPr indent="0" marL="0">
              <a:buNone/>
            </a:pPr>
            <a:r>
              <a:rPr lang="en-US" sz="1900" i="1" dirty="0">
                <a:solidFill>
                  <a:srgbClr val="5B6470"/>
                </a:solidFill>
                <a:latin typeface="Calibri" pitchFamily="34" charset="0"/>
                <a:ea typeface="Calibri" pitchFamily="34" charset="-122"/>
                <a:cs typeface="Calibri" pitchFamily="34" charset="-120"/>
              </a:rPr>
              <a:t>Will, beneficiaries, the letter your family opens if you're gone.</a:t>
            </a:r>
            <a:endParaRPr lang="en-US" sz="1900" dirty="0"/>
          </a:p>
        </p:txBody>
      </p:sp>
      <p:sp>
        <p:nvSpPr>
          <p:cNvPr id="5" name="Shape 3"/>
          <p:cNvSpPr/>
          <p:nvPr/>
        </p:nvSpPr>
        <p:spPr>
          <a:xfrm>
            <a:off x="548640" y="3291840"/>
            <a:ext cx="5486400" cy="3017520"/>
          </a:xfrm>
          <a:prstGeom prst="rect">
            <a:avLst/>
          </a:prstGeom>
          <a:solidFill>
            <a:srgbClr val="F4F1EA"/>
          </a:solidFill>
          <a:ln w="12700">
            <a:solidFill>
              <a:srgbClr val="D8DCE2"/>
            </a:solidFill>
            <a:prstDash val="solid"/>
          </a:ln>
        </p:spPr>
      </p:sp>
      <p:sp>
        <p:nvSpPr>
          <p:cNvPr id="6" name="Shape 4"/>
          <p:cNvSpPr/>
          <p:nvPr/>
        </p:nvSpPr>
        <p:spPr>
          <a:xfrm>
            <a:off x="548640" y="3291840"/>
            <a:ext cx="73152" cy="3017520"/>
          </a:xfrm>
          <a:prstGeom prst="rect">
            <a:avLst/>
          </a:prstGeom>
          <a:solidFill>
            <a:srgbClr val="1B2A4A"/>
          </a:solidFill>
          <a:ln w="12700">
            <a:solidFill>
              <a:srgbClr val="1B2A4A"/>
            </a:solidFill>
            <a:prstDash val="solid"/>
          </a:ln>
        </p:spPr>
      </p:sp>
      <p:sp>
        <p:nvSpPr>
          <p:cNvPr id="7" name="Text 5"/>
          <p:cNvSpPr/>
          <p:nvPr/>
        </p:nvSpPr>
        <p:spPr>
          <a:xfrm>
            <a:off x="777240" y="3474720"/>
            <a:ext cx="5029200" cy="274320"/>
          </a:xfrm>
          <a:prstGeom prst="rect">
            <a:avLst/>
          </a:prstGeom>
          <a:noFill/>
          <a:ln/>
        </p:spPr>
        <p:txBody>
          <a:bodyPr wrap="square" rtlCol="0" anchor="ctr"/>
          <a:lstStyle/>
          <a:p>
            <a:pPr indent="0" marL="0">
              <a:buNone/>
            </a:pPr>
            <a:r>
              <a:rPr lang="en-US" sz="1100" b="1" spc="300" kern="0" dirty="0">
                <a:solidFill>
                  <a:srgbClr val="CE8E31"/>
                </a:solidFill>
                <a:latin typeface="Calibri" pitchFamily="34" charset="0"/>
                <a:ea typeface="Calibri" pitchFamily="34" charset="-122"/>
                <a:cs typeface="Calibri" pitchFamily="34" charset="-120"/>
              </a:rPr>
              <a:t>THE ACTION</a:t>
            </a:r>
            <a:endParaRPr lang="en-US" sz="1100" dirty="0"/>
          </a:p>
        </p:txBody>
      </p:sp>
      <p:sp>
        <p:nvSpPr>
          <p:cNvPr id="8" name="Text 6"/>
          <p:cNvSpPr/>
          <p:nvPr/>
        </p:nvSpPr>
        <p:spPr>
          <a:xfrm>
            <a:off x="777240" y="3794760"/>
            <a:ext cx="5029200" cy="1463040"/>
          </a:xfrm>
          <a:prstGeom prst="rect">
            <a:avLst/>
          </a:prstGeom>
          <a:noFill/>
          <a:ln/>
        </p:spPr>
        <p:txBody>
          <a:bodyPr wrap="square" rtlCol="0" anchor="ctr"/>
          <a:lstStyle/>
          <a:p>
            <a:pPr indent="0" marL="0">
              <a:buNone/>
            </a:pPr>
            <a:r>
              <a:rPr lang="en-US" sz="1600" dirty="0">
                <a:solidFill>
                  <a:srgbClr val="22272E"/>
                </a:solidFill>
                <a:latin typeface="Calibri" pitchFamily="34" charset="0"/>
                <a:ea typeface="Calibri" pitchFamily="34" charset="-122"/>
                <a:cs typeface="Calibri" pitchFamily="34" charset="-120"/>
              </a:rPr>
              <a:t>20–30 minutes. Open the task card. Run the checklist. Ship the artifact. React ✓ in the cohort channel.</a:t>
            </a:r>
            <a:endParaRPr lang="en-US" sz="1600" dirty="0"/>
          </a:p>
        </p:txBody>
      </p:sp>
      <p:sp>
        <p:nvSpPr>
          <p:cNvPr id="9" name="Text 7"/>
          <p:cNvSpPr/>
          <p:nvPr/>
        </p:nvSpPr>
        <p:spPr>
          <a:xfrm>
            <a:off x="777240" y="5669280"/>
            <a:ext cx="5029200" cy="457200"/>
          </a:xfrm>
          <a:prstGeom prst="rect">
            <a:avLst/>
          </a:prstGeom>
          <a:noFill/>
          <a:ln/>
        </p:spPr>
        <p:txBody>
          <a:bodyPr wrap="square" rtlCol="0" anchor="ctr"/>
          <a:lstStyle/>
          <a:p>
            <a:pPr indent="0" marL="0">
              <a:buNone/>
            </a:pPr>
            <a:r>
              <a:rPr lang="en-US" sz="1400" b="1" i="1" dirty="0">
                <a:solidFill>
                  <a:srgbClr val="1B2A4A"/>
                </a:solidFill>
                <a:latin typeface="Calibri" pitchFamily="34" charset="0"/>
                <a:ea typeface="Calibri" pitchFamily="34" charset="-122"/>
                <a:cs typeface="Calibri" pitchFamily="34" charset="-120"/>
              </a:rPr>
              <a:t>AI drafts. The watchman decides.</a:t>
            </a:r>
            <a:endParaRPr lang="en-US" sz="1400" dirty="0"/>
          </a:p>
        </p:txBody>
      </p:sp>
      <p:sp>
        <p:nvSpPr>
          <p:cNvPr id="10" name="Shape 8"/>
          <p:cNvSpPr/>
          <p:nvPr/>
        </p:nvSpPr>
        <p:spPr>
          <a:xfrm>
            <a:off x="6217920" y="3291840"/>
            <a:ext cx="5394960" cy="3017520"/>
          </a:xfrm>
          <a:prstGeom prst="rect">
            <a:avLst/>
          </a:prstGeom>
          <a:solidFill>
            <a:srgbClr val="B8966B"/>
          </a:solidFill>
          <a:ln w="12700">
            <a:solidFill>
              <a:srgbClr val="B8966B"/>
            </a:solidFill>
            <a:prstDash val="solid"/>
          </a:ln>
        </p:spPr>
      </p:sp>
      <p:sp>
        <p:nvSpPr>
          <p:cNvPr id="11" name="Text 9"/>
          <p:cNvSpPr/>
          <p:nvPr/>
        </p:nvSpPr>
        <p:spPr>
          <a:xfrm>
            <a:off x="6446520" y="3520440"/>
            <a:ext cx="5029200" cy="274320"/>
          </a:xfrm>
          <a:prstGeom prst="rect">
            <a:avLst/>
          </a:prstGeom>
          <a:noFill/>
          <a:ln/>
        </p:spPr>
        <p:txBody>
          <a:bodyPr wrap="square" rtlCol="0" anchor="ctr"/>
          <a:lstStyle/>
          <a:p>
            <a:pPr indent="0" marL="0">
              <a:buNone/>
            </a:pPr>
            <a:r>
              <a:rPr lang="en-US" sz="1100" b="1" spc="300" kern="0" dirty="0">
                <a:solidFill>
                  <a:srgbClr val="FFFFFF"/>
                </a:solidFill>
                <a:latin typeface="Calibri" pitchFamily="34" charset="0"/>
                <a:ea typeface="Calibri" pitchFamily="34" charset="-122"/>
                <a:cs typeface="Calibri" pitchFamily="34" charset="-120"/>
              </a:rPr>
              <a:t>SCRIPTURE ANCHOR</a:t>
            </a:r>
            <a:endParaRPr lang="en-US" sz="1100" dirty="0"/>
          </a:p>
        </p:txBody>
      </p:sp>
      <p:sp>
        <p:nvSpPr>
          <p:cNvPr id="12" name="Text 10"/>
          <p:cNvSpPr/>
          <p:nvPr/>
        </p:nvSpPr>
        <p:spPr>
          <a:xfrm>
            <a:off x="6446520" y="3840480"/>
            <a:ext cx="5029200" cy="502920"/>
          </a:xfrm>
          <a:prstGeom prst="rect">
            <a:avLst/>
          </a:prstGeom>
          <a:noFill/>
          <a:ln/>
        </p:spPr>
        <p:txBody>
          <a:bodyPr wrap="square"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Week 4 · Home Systems &amp; Stewardship</a:t>
            </a:r>
            <a:endParaRPr lang="en-US" sz="2000" dirty="0"/>
          </a:p>
        </p:txBody>
      </p:sp>
      <p:sp>
        <p:nvSpPr>
          <p:cNvPr id="13" name="Text 11"/>
          <p:cNvSpPr/>
          <p:nvPr/>
        </p:nvSpPr>
        <p:spPr>
          <a:xfrm>
            <a:off x="6446520" y="4434840"/>
            <a:ext cx="5029200" cy="548640"/>
          </a:xfrm>
          <a:prstGeom prst="rect">
            <a:avLst/>
          </a:prstGeom>
          <a:noFill/>
          <a:ln/>
        </p:spPr>
        <p:txBody>
          <a:bodyPr wrap="square" rtlCol="0" anchor="ctr"/>
          <a:lstStyle/>
          <a:p>
            <a:pPr indent="0" marL="0">
              <a:buNone/>
            </a:pPr>
            <a:r>
              <a:rPr lang="en-US" sz="1800" i="1" dirty="0">
                <a:solidFill>
                  <a:srgbClr val="FFFFFF"/>
                </a:solidFill>
                <a:latin typeface="Calibri" pitchFamily="34" charset="0"/>
                <a:ea typeface="Calibri" pitchFamily="34" charset="-122"/>
                <a:cs typeface="Calibri" pitchFamily="34" charset="-120"/>
              </a:rPr>
              <a:t>1 Timothy 3:4–5</a:t>
            </a:r>
            <a:endParaRPr lang="en-US" sz="1800" dirty="0"/>
          </a:p>
        </p:txBody>
      </p:sp>
      <p:sp>
        <p:nvSpPr>
          <p:cNvPr id="14" name="Text 12"/>
          <p:cNvSpPr/>
          <p:nvPr/>
        </p:nvSpPr>
        <p:spPr>
          <a:xfrm>
            <a:off x="6446520" y="5669280"/>
            <a:ext cx="5029200" cy="365760"/>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Read aloud at the open and the close.</a:t>
            </a:r>
            <a:endParaRPr lang="en-US" sz="1300" dirty="0"/>
          </a:p>
        </p:txBody>
      </p:sp>
      <p:sp>
        <p:nvSpPr>
          <p:cNvPr id="15" name="Text 13"/>
          <p:cNvSpPr/>
          <p:nvPr/>
        </p:nvSpPr>
        <p:spPr>
          <a:xfrm>
            <a:off x="548640" y="6492240"/>
            <a:ext cx="7315200" cy="274320"/>
          </a:xfrm>
          <a:prstGeom prst="rect">
            <a:avLst/>
          </a:prstGeom>
          <a:noFill/>
          <a:ln/>
        </p:spPr>
        <p:txBody>
          <a:bodyPr wrap="square" rtlCol="0" anchor="ctr"/>
          <a:lstStyle/>
          <a:p>
            <a:pPr indent="0" marL="0">
              <a:buNone/>
            </a:pPr>
            <a:r>
              <a:rPr lang="en-US" sz="1000" i="1" dirty="0">
                <a:solidFill>
                  <a:srgbClr val="5B6470"/>
                </a:solidFill>
                <a:latin typeface="Calibri" pitchFamily="34" charset="0"/>
                <a:ea typeface="Calibri" pitchFamily="34" charset="-122"/>
                <a:cs typeface="Calibri" pitchFamily="34" charset="-120"/>
              </a:rPr>
              <a:t>Week 4 · Home Systems &amp; Stewardship · Task 3</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B2A4A"/>
        </a:solidFill>
      </p:bgPr>
    </p:bg>
    <p:spTree>
      <p:nvGrpSpPr>
        <p:cNvPr id="1" name=""/>
        <p:cNvGrpSpPr/>
        <p:nvPr/>
      </p:nvGrpSpPr>
      <p:grpSpPr>
        <a:xfrm>
          <a:off x="0" y="0"/>
          <a:ext cx="0" cy="0"/>
          <a:chOff x="0" y="0"/>
          <a:chExt cx="0" cy="0"/>
        </a:xfrm>
      </p:grpSpPr>
      <p:sp>
        <p:nvSpPr>
          <p:cNvPr id="2" name="Text 0"/>
          <p:cNvSpPr/>
          <p:nvPr/>
        </p:nvSpPr>
        <p:spPr>
          <a:xfrm>
            <a:off x="548640" y="1463040"/>
            <a:ext cx="10972800" cy="457200"/>
          </a:xfrm>
          <a:prstGeom prst="rect">
            <a:avLst/>
          </a:prstGeom>
          <a:noFill/>
          <a:ln/>
        </p:spPr>
        <p:txBody>
          <a:bodyPr wrap="square" rtlCol="0" anchor="ctr"/>
          <a:lstStyle/>
          <a:p>
            <a:pPr indent="0" marL="0">
              <a:buNone/>
            </a:pPr>
            <a:r>
              <a:rPr lang="en-US" sz="1400" b="1" spc="500" kern="0" dirty="0">
                <a:solidFill>
                  <a:srgbClr val="A8742A"/>
                </a:solidFill>
                <a:latin typeface="Calibri" pitchFamily="34" charset="0"/>
                <a:ea typeface="Calibri" pitchFamily="34" charset="-122"/>
                <a:cs typeface="Calibri" pitchFamily="34" charset="-120"/>
              </a:rPr>
              <a:t>WEEK 5  ·  BLOCK III — BUSINESS LAYER</a:t>
            </a:r>
            <a:endParaRPr lang="en-US" sz="1400" dirty="0"/>
          </a:p>
        </p:txBody>
      </p:sp>
      <p:sp>
        <p:nvSpPr>
          <p:cNvPr id="3" name="Text 1"/>
          <p:cNvSpPr/>
          <p:nvPr/>
        </p:nvSpPr>
        <p:spPr>
          <a:xfrm>
            <a:off x="548640" y="1920240"/>
            <a:ext cx="11338560" cy="1371600"/>
          </a:xfrm>
          <a:prstGeom prst="rect">
            <a:avLst/>
          </a:prstGeom>
          <a:noFill/>
          <a:ln/>
        </p:spPr>
        <p:txBody>
          <a:bodyPr wrap="square" rtlCol="0" anchor="ctr"/>
          <a:lstStyle/>
          <a:p>
            <a:pPr indent="0" marL="0">
              <a:buNone/>
            </a:pPr>
            <a:r>
              <a:rPr lang="en-US" sz="5400" b="1" dirty="0">
                <a:solidFill>
                  <a:srgbClr val="FFFFFF"/>
                </a:solidFill>
                <a:latin typeface="Calibri" pitchFamily="34" charset="0"/>
                <a:ea typeface="Calibri" pitchFamily="34" charset="-122"/>
                <a:cs typeface="Calibri" pitchFamily="34" charset="-120"/>
              </a:rPr>
              <a:t>OPERATOR FOUNDATIONS</a:t>
            </a:r>
            <a:endParaRPr lang="en-US" sz="5400" dirty="0"/>
          </a:p>
        </p:txBody>
      </p:sp>
      <p:sp>
        <p:nvSpPr>
          <p:cNvPr id="4" name="Shape 2"/>
          <p:cNvSpPr/>
          <p:nvPr/>
        </p:nvSpPr>
        <p:spPr>
          <a:xfrm>
            <a:off x="548640" y="3383280"/>
            <a:ext cx="1828800" cy="73152"/>
          </a:xfrm>
          <a:prstGeom prst="rect">
            <a:avLst/>
          </a:prstGeom>
          <a:solidFill>
            <a:srgbClr val="A8742A"/>
          </a:solidFill>
          <a:ln w="12700">
            <a:solidFill>
              <a:srgbClr val="A8742A"/>
            </a:solidFill>
            <a:prstDash val="solid"/>
          </a:ln>
        </p:spPr>
      </p:sp>
      <p:sp>
        <p:nvSpPr>
          <p:cNvPr id="5" name="Text 3"/>
          <p:cNvSpPr/>
          <p:nvPr/>
        </p:nvSpPr>
        <p:spPr>
          <a:xfrm>
            <a:off x="548640" y="3566160"/>
            <a:ext cx="10515600" cy="1097280"/>
          </a:xfrm>
          <a:prstGeom prst="rect">
            <a:avLst/>
          </a:prstGeom>
          <a:noFill/>
          <a:ln/>
        </p:spPr>
        <p:txBody>
          <a:bodyPr wrap="square" rtlCol="0" anchor="ctr"/>
          <a:lstStyle/>
          <a:p>
            <a:pPr indent="0" marL="0">
              <a:buNone/>
            </a:pPr>
            <a:r>
              <a:rPr lang="en-US" sz="2200" i="1" dirty="0">
                <a:solidFill>
                  <a:srgbClr val="94A3B8"/>
                </a:solidFill>
                <a:latin typeface="Calibri" pitchFamily="34" charset="0"/>
                <a:ea typeface="Calibri" pitchFamily="34" charset="-122"/>
                <a:cs typeface="Calibri" pitchFamily="34" charset="-120"/>
              </a:rPr>
              <a:t>Subscriptions audited, body wired as platform, and the first real Cowork workflow shipped.</a:t>
            </a:r>
            <a:endParaRPr lang="en-US" sz="2200" dirty="0"/>
          </a:p>
        </p:txBody>
      </p:sp>
      <p:sp>
        <p:nvSpPr>
          <p:cNvPr id="6" name="Text 4"/>
          <p:cNvSpPr/>
          <p:nvPr/>
        </p:nvSpPr>
        <p:spPr>
          <a:xfrm>
            <a:off x="548640" y="5029200"/>
            <a:ext cx="10972800" cy="274320"/>
          </a:xfrm>
          <a:prstGeom prst="rect">
            <a:avLst/>
          </a:prstGeom>
          <a:noFill/>
          <a:ln/>
        </p:spPr>
        <p:txBody>
          <a:bodyPr wrap="square" rtlCol="0" anchor="ctr"/>
          <a:lstStyle/>
          <a:p>
            <a:pPr indent="0" marL="0">
              <a:buNone/>
            </a:pPr>
            <a:r>
              <a:rPr lang="en-US" sz="1000" b="1" spc="400" kern="0" dirty="0">
                <a:solidFill>
                  <a:srgbClr val="CE8E31"/>
                </a:solidFill>
                <a:latin typeface="Calibri" pitchFamily="34" charset="0"/>
                <a:ea typeface="Calibri" pitchFamily="34" charset="-122"/>
                <a:cs typeface="Calibri" pitchFamily="34" charset="-120"/>
              </a:rPr>
              <a:t>SCRIPTURE</a:t>
            </a:r>
            <a:endParaRPr lang="en-US" sz="1000" dirty="0"/>
          </a:p>
        </p:txBody>
      </p:sp>
      <p:sp>
        <p:nvSpPr>
          <p:cNvPr id="7" name="Text 5"/>
          <p:cNvSpPr/>
          <p:nvPr/>
        </p:nvSpPr>
        <p:spPr>
          <a:xfrm>
            <a:off x="548640" y="5303520"/>
            <a:ext cx="10972800" cy="457200"/>
          </a:xfrm>
          <a:prstGeom prst="rect">
            <a:avLst/>
          </a:prstGeom>
          <a:noFill/>
          <a:ln/>
        </p:spPr>
        <p:txBody>
          <a:bodyPr wrap="square" rtlCol="0" anchor="ctr"/>
          <a:lstStyle/>
          <a:p>
            <a:pPr indent="0" marL="0">
              <a:buNone/>
            </a:pPr>
            <a:r>
              <a:rPr lang="en-US" sz="2000" dirty="0">
                <a:solidFill>
                  <a:srgbClr val="FFFFFF"/>
                </a:solidFill>
                <a:latin typeface="Calibri" pitchFamily="34" charset="0"/>
                <a:ea typeface="Calibri" pitchFamily="34" charset="-122"/>
                <a:cs typeface="Calibri" pitchFamily="34" charset="-120"/>
              </a:rPr>
              <a:t>1 Corinthians 6:19–20</a:t>
            </a:r>
            <a:endParaRPr lang="en-US" sz="2000" dirty="0"/>
          </a:p>
        </p:txBody>
      </p:sp>
      <p:sp>
        <p:nvSpPr>
          <p:cNvPr id="8" name="Text 6"/>
          <p:cNvSpPr/>
          <p:nvPr/>
        </p:nvSpPr>
        <p:spPr>
          <a:xfrm>
            <a:off x="548640" y="6492240"/>
            <a:ext cx="7315200" cy="274320"/>
          </a:xfrm>
          <a:prstGeom prst="rect">
            <a:avLst/>
          </a:prstGeom>
          <a:noFill/>
          <a:ln/>
        </p:spPr>
        <p:txBody>
          <a:bodyPr wrap="square" rtlCol="0" anchor="ctr"/>
          <a:lstStyle/>
          <a:p>
            <a:pPr indent="0" marL="0">
              <a:buNone/>
            </a:pPr>
            <a:r>
              <a:rPr lang="en-US" sz="1000" i="1" dirty="0">
                <a:solidFill>
                  <a:srgbClr val="5B6470"/>
                </a:solidFill>
                <a:latin typeface="Calibri" pitchFamily="34" charset="0"/>
                <a:ea typeface="Calibri" pitchFamily="34" charset="-122"/>
                <a:cs typeface="Calibri" pitchFamily="34" charset="-120"/>
              </a:rPr>
              <a:t>Week 5 · Operator Foundations</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0972800" cy="365760"/>
          </a:xfrm>
          <a:prstGeom prst="rect">
            <a:avLst/>
          </a:prstGeom>
          <a:noFill/>
          <a:ln/>
        </p:spPr>
        <p:txBody>
          <a:bodyPr wrap="square" rtlCol="0" anchor="ctr"/>
          <a:lstStyle/>
          <a:p>
            <a:pPr indent="0" marL="0">
              <a:buNone/>
            </a:pPr>
            <a:r>
              <a:rPr lang="en-US" sz="1100" b="1" spc="400" kern="0" dirty="0">
                <a:solidFill>
                  <a:srgbClr val="A8742A"/>
                </a:solidFill>
                <a:latin typeface="Calibri" pitchFamily="34" charset="0"/>
                <a:ea typeface="Calibri" pitchFamily="34" charset="-122"/>
                <a:cs typeface="Calibri" pitchFamily="34" charset="-120"/>
              </a:rPr>
              <a:t>WEEK 5 · TASK 1 · MONDAY</a:t>
            </a:r>
            <a:endParaRPr lang="en-US" sz="1100" dirty="0"/>
          </a:p>
        </p:txBody>
      </p:sp>
      <p:sp>
        <p:nvSpPr>
          <p:cNvPr id="3" name="Text 1"/>
          <p:cNvSpPr/>
          <p:nvPr/>
        </p:nvSpPr>
        <p:spPr>
          <a:xfrm>
            <a:off x="548640" y="822960"/>
            <a:ext cx="11155680" cy="1280160"/>
          </a:xfrm>
          <a:prstGeom prst="rect">
            <a:avLst/>
          </a:prstGeom>
          <a:noFill/>
          <a:ln/>
        </p:spPr>
        <p:txBody>
          <a:bodyPr wrap="square" rtlCol="0" anchor="t"/>
          <a:lstStyle/>
          <a:p>
            <a:pPr indent="0" marL="0">
              <a:buNone/>
            </a:pPr>
            <a:r>
              <a:rPr lang="en-US" sz="3600" b="1" dirty="0">
                <a:solidFill>
                  <a:srgbClr val="1B2A4A"/>
                </a:solidFill>
                <a:latin typeface="Calibri" pitchFamily="34" charset="0"/>
                <a:ea typeface="Calibri" pitchFamily="34" charset="-122"/>
                <a:cs typeface="Calibri" pitchFamily="34" charset="-120"/>
              </a:rPr>
              <a:t>Subscription Audit</a:t>
            </a:r>
            <a:endParaRPr lang="en-US" sz="3600" dirty="0"/>
          </a:p>
        </p:txBody>
      </p:sp>
      <p:sp>
        <p:nvSpPr>
          <p:cNvPr id="4" name="Text 2"/>
          <p:cNvSpPr/>
          <p:nvPr/>
        </p:nvSpPr>
        <p:spPr>
          <a:xfrm>
            <a:off x="548640" y="2103120"/>
            <a:ext cx="10972800" cy="731520"/>
          </a:xfrm>
          <a:prstGeom prst="rect">
            <a:avLst/>
          </a:prstGeom>
          <a:noFill/>
          <a:ln/>
        </p:spPr>
        <p:txBody>
          <a:bodyPr wrap="square" rtlCol="0" anchor="ctr"/>
          <a:lstStyle/>
          <a:p>
            <a:pPr indent="0" marL="0">
              <a:buNone/>
            </a:pPr>
            <a:r>
              <a:rPr lang="en-US" sz="1900" i="1" dirty="0">
                <a:solidFill>
                  <a:srgbClr val="5B6470"/>
                </a:solidFill>
                <a:latin typeface="Calibri" pitchFamily="34" charset="0"/>
                <a:ea typeface="Calibri" pitchFamily="34" charset="-122"/>
                <a:cs typeface="Calibri" pitchFamily="34" charset="-120"/>
              </a:rPr>
              <a:t>Every recurring charge. Keep, kill, downgrade. Cancel three.</a:t>
            </a:r>
            <a:endParaRPr lang="en-US" sz="1900" dirty="0"/>
          </a:p>
        </p:txBody>
      </p:sp>
      <p:sp>
        <p:nvSpPr>
          <p:cNvPr id="5" name="Shape 3"/>
          <p:cNvSpPr/>
          <p:nvPr/>
        </p:nvSpPr>
        <p:spPr>
          <a:xfrm>
            <a:off x="548640" y="3291840"/>
            <a:ext cx="5486400" cy="3017520"/>
          </a:xfrm>
          <a:prstGeom prst="rect">
            <a:avLst/>
          </a:prstGeom>
          <a:solidFill>
            <a:srgbClr val="F4F1EA"/>
          </a:solidFill>
          <a:ln w="12700">
            <a:solidFill>
              <a:srgbClr val="D8DCE2"/>
            </a:solidFill>
            <a:prstDash val="solid"/>
          </a:ln>
        </p:spPr>
      </p:sp>
      <p:sp>
        <p:nvSpPr>
          <p:cNvPr id="6" name="Shape 4"/>
          <p:cNvSpPr/>
          <p:nvPr/>
        </p:nvSpPr>
        <p:spPr>
          <a:xfrm>
            <a:off x="548640" y="3291840"/>
            <a:ext cx="73152" cy="3017520"/>
          </a:xfrm>
          <a:prstGeom prst="rect">
            <a:avLst/>
          </a:prstGeom>
          <a:solidFill>
            <a:srgbClr val="1B2A4A"/>
          </a:solidFill>
          <a:ln w="12700">
            <a:solidFill>
              <a:srgbClr val="1B2A4A"/>
            </a:solidFill>
            <a:prstDash val="solid"/>
          </a:ln>
        </p:spPr>
      </p:sp>
      <p:sp>
        <p:nvSpPr>
          <p:cNvPr id="7" name="Text 5"/>
          <p:cNvSpPr/>
          <p:nvPr/>
        </p:nvSpPr>
        <p:spPr>
          <a:xfrm>
            <a:off x="777240" y="3474720"/>
            <a:ext cx="5029200" cy="274320"/>
          </a:xfrm>
          <a:prstGeom prst="rect">
            <a:avLst/>
          </a:prstGeom>
          <a:noFill/>
          <a:ln/>
        </p:spPr>
        <p:txBody>
          <a:bodyPr wrap="square" rtlCol="0" anchor="ctr"/>
          <a:lstStyle/>
          <a:p>
            <a:pPr indent="0" marL="0">
              <a:buNone/>
            </a:pPr>
            <a:r>
              <a:rPr lang="en-US" sz="1100" b="1" spc="300" kern="0" dirty="0">
                <a:solidFill>
                  <a:srgbClr val="CE8E31"/>
                </a:solidFill>
                <a:latin typeface="Calibri" pitchFamily="34" charset="0"/>
                <a:ea typeface="Calibri" pitchFamily="34" charset="-122"/>
                <a:cs typeface="Calibri" pitchFamily="34" charset="-120"/>
              </a:rPr>
              <a:t>THE ACTION</a:t>
            </a:r>
            <a:endParaRPr lang="en-US" sz="1100" dirty="0"/>
          </a:p>
        </p:txBody>
      </p:sp>
      <p:sp>
        <p:nvSpPr>
          <p:cNvPr id="8" name="Text 6"/>
          <p:cNvSpPr/>
          <p:nvPr/>
        </p:nvSpPr>
        <p:spPr>
          <a:xfrm>
            <a:off x="777240" y="3794760"/>
            <a:ext cx="5029200" cy="1463040"/>
          </a:xfrm>
          <a:prstGeom prst="rect">
            <a:avLst/>
          </a:prstGeom>
          <a:noFill/>
          <a:ln/>
        </p:spPr>
        <p:txBody>
          <a:bodyPr wrap="square" rtlCol="0" anchor="ctr"/>
          <a:lstStyle/>
          <a:p>
            <a:pPr indent="0" marL="0">
              <a:buNone/>
            </a:pPr>
            <a:r>
              <a:rPr lang="en-US" sz="1600" dirty="0">
                <a:solidFill>
                  <a:srgbClr val="22272E"/>
                </a:solidFill>
                <a:latin typeface="Calibri" pitchFamily="34" charset="0"/>
                <a:ea typeface="Calibri" pitchFamily="34" charset="-122"/>
                <a:cs typeface="Calibri" pitchFamily="34" charset="-120"/>
              </a:rPr>
              <a:t>20–30 minutes. Open the task card. Run the checklist. Ship the artifact. React ✓ in the cohort channel.</a:t>
            </a:r>
            <a:endParaRPr lang="en-US" sz="1600" dirty="0"/>
          </a:p>
        </p:txBody>
      </p:sp>
      <p:sp>
        <p:nvSpPr>
          <p:cNvPr id="9" name="Text 7"/>
          <p:cNvSpPr/>
          <p:nvPr/>
        </p:nvSpPr>
        <p:spPr>
          <a:xfrm>
            <a:off x="777240" y="5669280"/>
            <a:ext cx="5029200" cy="457200"/>
          </a:xfrm>
          <a:prstGeom prst="rect">
            <a:avLst/>
          </a:prstGeom>
          <a:noFill/>
          <a:ln/>
        </p:spPr>
        <p:txBody>
          <a:bodyPr wrap="square" rtlCol="0" anchor="ctr"/>
          <a:lstStyle/>
          <a:p>
            <a:pPr indent="0" marL="0">
              <a:buNone/>
            </a:pPr>
            <a:r>
              <a:rPr lang="en-US" sz="1400" b="1" i="1" dirty="0">
                <a:solidFill>
                  <a:srgbClr val="1B2A4A"/>
                </a:solidFill>
                <a:latin typeface="Calibri" pitchFamily="34" charset="0"/>
                <a:ea typeface="Calibri" pitchFamily="34" charset="-122"/>
                <a:cs typeface="Calibri" pitchFamily="34" charset="-120"/>
              </a:rPr>
              <a:t>AI drafts. The watchman decides.</a:t>
            </a:r>
            <a:endParaRPr lang="en-US" sz="1400" dirty="0"/>
          </a:p>
        </p:txBody>
      </p:sp>
      <p:sp>
        <p:nvSpPr>
          <p:cNvPr id="10" name="Shape 8"/>
          <p:cNvSpPr/>
          <p:nvPr/>
        </p:nvSpPr>
        <p:spPr>
          <a:xfrm>
            <a:off x="6217920" y="3291840"/>
            <a:ext cx="5394960" cy="3017520"/>
          </a:xfrm>
          <a:prstGeom prst="rect">
            <a:avLst/>
          </a:prstGeom>
          <a:solidFill>
            <a:srgbClr val="A8742A"/>
          </a:solidFill>
          <a:ln w="12700">
            <a:solidFill>
              <a:srgbClr val="A8742A"/>
            </a:solidFill>
            <a:prstDash val="solid"/>
          </a:ln>
        </p:spPr>
      </p:sp>
      <p:sp>
        <p:nvSpPr>
          <p:cNvPr id="11" name="Text 9"/>
          <p:cNvSpPr/>
          <p:nvPr/>
        </p:nvSpPr>
        <p:spPr>
          <a:xfrm>
            <a:off x="6446520" y="3520440"/>
            <a:ext cx="5029200" cy="274320"/>
          </a:xfrm>
          <a:prstGeom prst="rect">
            <a:avLst/>
          </a:prstGeom>
          <a:noFill/>
          <a:ln/>
        </p:spPr>
        <p:txBody>
          <a:bodyPr wrap="square" rtlCol="0" anchor="ctr"/>
          <a:lstStyle/>
          <a:p>
            <a:pPr indent="0" marL="0">
              <a:buNone/>
            </a:pPr>
            <a:r>
              <a:rPr lang="en-US" sz="1100" b="1" spc="300" kern="0" dirty="0">
                <a:solidFill>
                  <a:srgbClr val="FFFFFF"/>
                </a:solidFill>
                <a:latin typeface="Calibri" pitchFamily="34" charset="0"/>
                <a:ea typeface="Calibri" pitchFamily="34" charset="-122"/>
                <a:cs typeface="Calibri" pitchFamily="34" charset="-120"/>
              </a:rPr>
              <a:t>SCRIPTURE ANCHOR</a:t>
            </a:r>
            <a:endParaRPr lang="en-US" sz="1100" dirty="0"/>
          </a:p>
        </p:txBody>
      </p:sp>
      <p:sp>
        <p:nvSpPr>
          <p:cNvPr id="12" name="Text 10"/>
          <p:cNvSpPr/>
          <p:nvPr/>
        </p:nvSpPr>
        <p:spPr>
          <a:xfrm>
            <a:off x="6446520" y="3840480"/>
            <a:ext cx="5029200" cy="502920"/>
          </a:xfrm>
          <a:prstGeom prst="rect">
            <a:avLst/>
          </a:prstGeom>
          <a:noFill/>
          <a:ln/>
        </p:spPr>
        <p:txBody>
          <a:bodyPr wrap="square"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Week 5 · Operator Foundations</a:t>
            </a:r>
            <a:endParaRPr lang="en-US" sz="2000" dirty="0"/>
          </a:p>
        </p:txBody>
      </p:sp>
      <p:sp>
        <p:nvSpPr>
          <p:cNvPr id="13" name="Text 11"/>
          <p:cNvSpPr/>
          <p:nvPr/>
        </p:nvSpPr>
        <p:spPr>
          <a:xfrm>
            <a:off x="6446520" y="4434840"/>
            <a:ext cx="5029200" cy="548640"/>
          </a:xfrm>
          <a:prstGeom prst="rect">
            <a:avLst/>
          </a:prstGeom>
          <a:noFill/>
          <a:ln/>
        </p:spPr>
        <p:txBody>
          <a:bodyPr wrap="square" rtlCol="0" anchor="ctr"/>
          <a:lstStyle/>
          <a:p>
            <a:pPr indent="0" marL="0">
              <a:buNone/>
            </a:pPr>
            <a:r>
              <a:rPr lang="en-US" sz="1800" i="1" dirty="0">
                <a:solidFill>
                  <a:srgbClr val="FFFFFF"/>
                </a:solidFill>
                <a:latin typeface="Calibri" pitchFamily="34" charset="0"/>
                <a:ea typeface="Calibri" pitchFamily="34" charset="-122"/>
                <a:cs typeface="Calibri" pitchFamily="34" charset="-120"/>
              </a:rPr>
              <a:t>1 Corinthians 6:19–20</a:t>
            </a:r>
            <a:endParaRPr lang="en-US" sz="1800" dirty="0"/>
          </a:p>
        </p:txBody>
      </p:sp>
      <p:sp>
        <p:nvSpPr>
          <p:cNvPr id="14" name="Text 12"/>
          <p:cNvSpPr/>
          <p:nvPr/>
        </p:nvSpPr>
        <p:spPr>
          <a:xfrm>
            <a:off x="6446520" y="5669280"/>
            <a:ext cx="5029200" cy="365760"/>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Read aloud at the open and the close.</a:t>
            </a:r>
            <a:endParaRPr lang="en-US" sz="1300" dirty="0"/>
          </a:p>
        </p:txBody>
      </p:sp>
      <p:sp>
        <p:nvSpPr>
          <p:cNvPr id="15" name="Text 13"/>
          <p:cNvSpPr/>
          <p:nvPr/>
        </p:nvSpPr>
        <p:spPr>
          <a:xfrm>
            <a:off x="548640" y="6492240"/>
            <a:ext cx="7315200" cy="274320"/>
          </a:xfrm>
          <a:prstGeom prst="rect">
            <a:avLst/>
          </a:prstGeom>
          <a:noFill/>
          <a:ln/>
        </p:spPr>
        <p:txBody>
          <a:bodyPr wrap="square" rtlCol="0" anchor="ctr"/>
          <a:lstStyle/>
          <a:p>
            <a:pPr indent="0" marL="0">
              <a:buNone/>
            </a:pPr>
            <a:r>
              <a:rPr lang="en-US" sz="1000" i="1" dirty="0">
                <a:solidFill>
                  <a:srgbClr val="5B6470"/>
                </a:solidFill>
                <a:latin typeface="Calibri" pitchFamily="34" charset="0"/>
                <a:ea typeface="Calibri" pitchFamily="34" charset="-122"/>
                <a:cs typeface="Calibri" pitchFamily="34" charset="-120"/>
              </a:rPr>
              <a:t>Week 5 · Operator Foundations · Task 1</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0972800" cy="365760"/>
          </a:xfrm>
          <a:prstGeom prst="rect">
            <a:avLst/>
          </a:prstGeom>
          <a:noFill/>
          <a:ln/>
        </p:spPr>
        <p:txBody>
          <a:bodyPr wrap="square" rtlCol="0" anchor="ctr"/>
          <a:lstStyle/>
          <a:p>
            <a:pPr indent="0" marL="0">
              <a:buNone/>
            </a:pPr>
            <a:r>
              <a:rPr lang="en-US" sz="1100" b="1" spc="400" kern="0" dirty="0">
                <a:solidFill>
                  <a:srgbClr val="A8742A"/>
                </a:solidFill>
                <a:latin typeface="Calibri" pitchFamily="34" charset="0"/>
                <a:ea typeface="Calibri" pitchFamily="34" charset="-122"/>
                <a:cs typeface="Calibri" pitchFamily="34" charset="-120"/>
              </a:rPr>
              <a:t>WEEK 5 · TASK 2 · WEDNESDAY</a:t>
            </a:r>
            <a:endParaRPr lang="en-US" sz="1100" dirty="0"/>
          </a:p>
        </p:txBody>
      </p:sp>
      <p:sp>
        <p:nvSpPr>
          <p:cNvPr id="3" name="Text 1"/>
          <p:cNvSpPr/>
          <p:nvPr/>
        </p:nvSpPr>
        <p:spPr>
          <a:xfrm>
            <a:off x="548640" y="822960"/>
            <a:ext cx="11155680" cy="1280160"/>
          </a:xfrm>
          <a:prstGeom prst="rect">
            <a:avLst/>
          </a:prstGeom>
          <a:noFill/>
          <a:ln/>
        </p:spPr>
        <p:txBody>
          <a:bodyPr wrap="square" rtlCol="0" anchor="t"/>
          <a:lstStyle/>
          <a:p>
            <a:pPr indent="0" marL="0">
              <a:buNone/>
            </a:pPr>
            <a:r>
              <a:rPr lang="en-US" sz="3600" b="1" dirty="0">
                <a:solidFill>
                  <a:srgbClr val="1B2A4A"/>
                </a:solidFill>
                <a:latin typeface="Calibri" pitchFamily="34" charset="0"/>
                <a:ea typeface="Calibri" pitchFamily="34" charset="-122"/>
                <a:cs typeface="Calibri" pitchFamily="34" charset="-120"/>
              </a:rPr>
              <a:t>Body as Platform (Movement + Sleep)</a:t>
            </a:r>
            <a:endParaRPr lang="en-US" sz="3600" dirty="0"/>
          </a:p>
        </p:txBody>
      </p:sp>
      <p:sp>
        <p:nvSpPr>
          <p:cNvPr id="4" name="Text 2"/>
          <p:cNvSpPr/>
          <p:nvPr/>
        </p:nvSpPr>
        <p:spPr>
          <a:xfrm>
            <a:off x="548640" y="2103120"/>
            <a:ext cx="10972800" cy="731520"/>
          </a:xfrm>
          <a:prstGeom prst="rect">
            <a:avLst/>
          </a:prstGeom>
          <a:noFill/>
          <a:ln/>
        </p:spPr>
        <p:txBody>
          <a:bodyPr wrap="square" rtlCol="0" anchor="ctr"/>
          <a:lstStyle/>
          <a:p>
            <a:pPr indent="0" marL="0">
              <a:buNone/>
            </a:pPr>
            <a:r>
              <a:rPr lang="en-US" sz="1900" i="1" dirty="0">
                <a:solidFill>
                  <a:srgbClr val="5B6470"/>
                </a:solidFill>
                <a:latin typeface="Calibri" pitchFamily="34" charset="0"/>
                <a:ea typeface="Calibri" pitchFamily="34" charset="-122"/>
                <a:cs typeface="Calibri" pitchFamily="34" charset="-120"/>
              </a:rPr>
              <a:t>AI designs the cadence. You fix one variable.</a:t>
            </a:r>
            <a:endParaRPr lang="en-US" sz="1900" dirty="0"/>
          </a:p>
        </p:txBody>
      </p:sp>
      <p:sp>
        <p:nvSpPr>
          <p:cNvPr id="5" name="Shape 3"/>
          <p:cNvSpPr/>
          <p:nvPr/>
        </p:nvSpPr>
        <p:spPr>
          <a:xfrm>
            <a:off x="548640" y="3291840"/>
            <a:ext cx="5486400" cy="3017520"/>
          </a:xfrm>
          <a:prstGeom prst="rect">
            <a:avLst/>
          </a:prstGeom>
          <a:solidFill>
            <a:srgbClr val="F4F1EA"/>
          </a:solidFill>
          <a:ln w="12700">
            <a:solidFill>
              <a:srgbClr val="D8DCE2"/>
            </a:solidFill>
            <a:prstDash val="solid"/>
          </a:ln>
        </p:spPr>
      </p:sp>
      <p:sp>
        <p:nvSpPr>
          <p:cNvPr id="6" name="Shape 4"/>
          <p:cNvSpPr/>
          <p:nvPr/>
        </p:nvSpPr>
        <p:spPr>
          <a:xfrm>
            <a:off x="548640" y="3291840"/>
            <a:ext cx="73152" cy="3017520"/>
          </a:xfrm>
          <a:prstGeom prst="rect">
            <a:avLst/>
          </a:prstGeom>
          <a:solidFill>
            <a:srgbClr val="1B2A4A"/>
          </a:solidFill>
          <a:ln w="12700">
            <a:solidFill>
              <a:srgbClr val="1B2A4A"/>
            </a:solidFill>
            <a:prstDash val="solid"/>
          </a:ln>
        </p:spPr>
      </p:sp>
      <p:sp>
        <p:nvSpPr>
          <p:cNvPr id="7" name="Text 5"/>
          <p:cNvSpPr/>
          <p:nvPr/>
        </p:nvSpPr>
        <p:spPr>
          <a:xfrm>
            <a:off x="777240" y="3474720"/>
            <a:ext cx="5029200" cy="274320"/>
          </a:xfrm>
          <a:prstGeom prst="rect">
            <a:avLst/>
          </a:prstGeom>
          <a:noFill/>
          <a:ln/>
        </p:spPr>
        <p:txBody>
          <a:bodyPr wrap="square" rtlCol="0" anchor="ctr"/>
          <a:lstStyle/>
          <a:p>
            <a:pPr indent="0" marL="0">
              <a:buNone/>
            </a:pPr>
            <a:r>
              <a:rPr lang="en-US" sz="1100" b="1" spc="300" kern="0" dirty="0">
                <a:solidFill>
                  <a:srgbClr val="CE8E31"/>
                </a:solidFill>
                <a:latin typeface="Calibri" pitchFamily="34" charset="0"/>
                <a:ea typeface="Calibri" pitchFamily="34" charset="-122"/>
                <a:cs typeface="Calibri" pitchFamily="34" charset="-120"/>
              </a:rPr>
              <a:t>THE ACTION</a:t>
            </a:r>
            <a:endParaRPr lang="en-US" sz="1100" dirty="0"/>
          </a:p>
        </p:txBody>
      </p:sp>
      <p:sp>
        <p:nvSpPr>
          <p:cNvPr id="8" name="Text 6"/>
          <p:cNvSpPr/>
          <p:nvPr/>
        </p:nvSpPr>
        <p:spPr>
          <a:xfrm>
            <a:off x="777240" y="3794760"/>
            <a:ext cx="5029200" cy="1463040"/>
          </a:xfrm>
          <a:prstGeom prst="rect">
            <a:avLst/>
          </a:prstGeom>
          <a:noFill/>
          <a:ln/>
        </p:spPr>
        <p:txBody>
          <a:bodyPr wrap="square" rtlCol="0" anchor="ctr"/>
          <a:lstStyle/>
          <a:p>
            <a:pPr indent="0" marL="0">
              <a:buNone/>
            </a:pPr>
            <a:r>
              <a:rPr lang="en-US" sz="1600" dirty="0">
                <a:solidFill>
                  <a:srgbClr val="22272E"/>
                </a:solidFill>
                <a:latin typeface="Calibri" pitchFamily="34" charset="0"/>
                <a:ea typeface="Calibri" pitchFamily="34" charset="-122"/>
                <a:cs typeface="Calibri" pitchFamily="34" charset="-120"/>
              </a:rPr>
              <a:t>20–30 minutes. Open the task card. Run the checklist. Ship the artifact. React ✓ in the cohort channel.</a:t>
            </a:r>
            <a:endParaRPr lang="en-US" sz="1600" dirty="0"/>
          </a:p>
        </p:txBody>
      </p:sp>
      <p:sp>
        <p:nvSpPr>
          <p:cNvPr id="9" name="Text 7"/>
          <p:cNvSpPr/>
          <p:nvPr/>
        </p:nvSpPr>
        <p:spPr>
          <a:xfrm>
            <a:off x="777240" y="5669280"/>
            <a:ext cx="5029200" cy="457200"/>
          </a:xfrm>
          <a:prstGeom prst="rect">
            <a:avLst/>
          </a:prstGeom>
          <a:noFill/>
          <a:ln/>
        </p:spPr>
        <p:txBody>
          <a:bodyPr wrap="square" rtlCol="0" anchor="ctr"/>
          <a:lstStyle/>
          <a:p>
            <a:pPr indent="0" marL="0">
              <a:buNone/>
            </a:pPr>
            <a:r>
              <a:rPr lang="en-US" sz="1400" b="1" i="1" dirty="0">
                <a:solidFill>
                  <a:srgbClr val="1B2A4A"/>
                </a:solidFill>
                <a:latin typeface="Calibri" pitchFamily="34" charset="0"/>
                <a:ea typeface="Calibri" pitchFamily="34" charset="-122"/>
                <a:cs typeface="Calibri" pitchFamily="34" charset="-120"/>
              </a:rPr>
              <a:t>AI drafts. The watchman decides.</a:t>
            </a:r>
            <a:endParaRPr lang="en-US" sz="1400" dirty="0"/>
          </a:p>
        </p:txBody>
      </p:sp>
      <p:sp>
        <p:nvSpPr>
          <p:cNvPr id="10" name="Shape 8"/>
          <p:cNvSpPr/>
          <p:nvPr/>
        </p:nvSpPr>
        <p:spPr>
          <a:xfrm>
            <a:off x="6217920" y="3291840"/>
            <a:ext cx="5394960" cy="3017520"/>
          </a:xfrm>
          <a:prstGeom prst="rect">
            <a:avLst/>
          </a:prstGeom>
          <a:solidFill>
            <a:srgbClr val="A8742A"/>
          </a:solidFill>
          <a:ln w="12700">
            <a:solidFill>
              <a:srgbClr val="A8742A"/>
            </a:solidFill>
            <a:prstDash val="solid"/>
          </a:ln>
        </p:spPr>
      </p:sp>
      <p:sp>
        <p:nvSpPr>
          <p:cNvPr id="11" name="Text 9"/>
          <p:cNvSpPr/>
          <p:nvPr/>
        </p:nvSpPr>
        <p:spPr>
          <a:xfrm>
            <a:off x="6446520" y="3520440"/>
            <a:ext cx="5029200" cy="274320"/>
          </a:xfrm>
          <a:prstGeom prst="rect">
            <a:avLst/>
          </a:prstGeom>
          <a:noFill/>
          <a:ln/>
        </p:spPr>
        <p:txBody>
          <a:bodyPr wrap="square" rtlCol="0" anchor="ctr"/>
          <a:lstStyle/>
          <a:p>
            <a:pPr indent="0" marL="0">
              <a:buNone/>
            </a:pPr>
            <a:r>
              <a:rPr lang="en-US" sz="1100" b="1" spc="300" kern="0" dirty="0">
                <a:solidFill>
                  <a:srgbClr val="FFFFFF"/>
                </a:solidFill>
                <a:latin typeface="Calibri" pitchFamily="34" charset="0"/>
                <a:ea typeface="Calibri" pitchFamily="34" charset="-122"/>
                <a:cs typeface="Calibri" pitchFamily="34" charset="-120"/>
              </a:rPr>
              <a:t>SCRIPTURE ANCHOR</a:t>
            </a:r>
            <a:endParaRPr lang="en-US" sz="1100" dirty="0"/>
          </a:p>
        </p:txBody>
      </p:sp>
      <p:sp>
        <p:nvSpPr>
          <p:cNvPr id="12" name="Text 10"/>
          <p:cNvSpPr/>
          <p:nvPr/>
        </p:nvSpPr>
        <p:spPr>
          <a:xfrm>
            <a:off x="6446520" y="3840480"/>
            <a:ext cx="5029200" cy="502920"/>
          </a:xfrm>
          <a:prstGeom prst="rect">
            <a:avLst/>
          </a:prstGeom>
          <a:noFill/>
          <a:ln/>
        </p:spPr>
        <p:txBody>
          <a:bodyPr wrap="square"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Week 5 · Operator Foundations</a:t>
            </a:r>
            <a:endParaRPr lang="en-US" sz="2000" dirty="0"/>
          </a:p>
        </p:txBody>
      </p:sp>
      <p:sp>
        <p:nvSpPr>
          <p:cNvPr id="13" name="Text 11"/>
          <p:cNvSpPr/>
          <p:nvPr/>
        </p:nvSpPr>
        <p:spPr>
          <a:xfrm>
            <a:off x="6446520" y="4434840"/>
            <a:ext cx="5029200" cy="548640"/>
          </a:xfrm>
          <a:prstGeom prst="rect">
            <a:avLst/>
          </a:prstGeom>
          <a:noFill/>
          <a:ln/>
        </p:spPr>
        <p:txBody>
          <a:bodyPr wrap="square" rtlCol="0" anchor="ctr"/>
          <a:lstStyle/>
          <a:p>
            <a:pPr indent="0" marL="0">
              <a:buNone/>
            </a:pPr>
            <a:r>
              <a:rPr lang="en-US" sz="1800" i="1" dirty="0">
                <a:solidFill>
                  <a:srgbClr val="FFFFFF"/>
                </a:solidFill>
                <a:latin typeface="Calibri" pitchFamily="34" charset="0"/>
                <a:ea typeface="Calibri" pitchFamily="34" charset="-122"/>
                <a:cs typeface="Calibri" pitchFamily="34" charset="-120"/>
              </a:rPr>
              <a:t>1 Corinthians 6:19–20</a:t>
            </a:r>
            <a:endParaRPr lang="en-US" sz="1800" dirty="0"/>
          </a:p>
        </p:txBody>
      </p:sp>
      <p:sp>
        <p:nvSpPr>
          <p:cNvPr id="14" name="Text 12"/>
          <p:cNvSpPr/>
          <p:nvPr/>
        </p:nvSpPr>
        <p:spPr>
          <a:xfrm>
            <a:off x="6446520" y="5669280"/>
            <a:ext cx="5029200" cy="365760"/>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Read aloud at the open and the close.</a:t>
            </a:r>
            <a:endParaRPr lang="en-US" sz="1300" dirty="0"/>
          </a:p>
        </p:txBody>
      </p:sp>
      <p:sp>
        <p:nvSpPr>
          <p:cNvPr id="15" name="Text 13"/>
          <p:cNvSpPr/>
          <p:nvPr/>
        </p:nvSpPr>
        <p:spPr>
          <a:xfrm>
            <a:off x="548640" y="6492240"/>
            <a:ext cx="7315200" cy="274320"/>
          </a:xfrm>
          <a:prstGeom prst="rect">
            <a:avLst/>
          </a:prstGeom>
          <a:noFill/>
          <a:ln/>
        </p:spPr>
        <p:txBody>
          <a:bodyPr wrap="square" rtlCol="0" anchor="ctr"/>
          <a:lstStyle/>
          <a:p>
            <a:pPr indent="0" marL="0">
              <a:buNone/>
            </a:pPr>
            <a:r>
              <a:rPr lang="en-US" sz="1000" i="1" dirty="0">
                <a:solidFill>
                  <a:srgbClr val="5B6470"/>
                </a:solidFill>
                <a:latin typeface="Calibri" pitchFamily="34" charset="0"/>
                <a:ea typeface="Calibri" pitchFamily="34" charset="-122"/>
                <a:cs typeface="Calibri" pitchFamily="34" charset="-120"/>
              </a:rPr>
              <a:t>Week 5 · Operator Foundations · Task 2</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0972800" cy="365760"/>
          </a:xfrm>
          <a:prstGeom prst="rect">
            <a:avLst/>
          </a:prstGeom>
          <a:noFill/>
          <a:ln/>
        </p:spPr>
        <p:txBody>
          <a:bodyPr wrap="square" rtlCol="0" anchor="ctr"/>
          <a:lstStyle/>
          <a:p>
            <a:pPr indent="0" marL="0">
              <a:buNone/>
            </a:pPr>
            <a:r>
              <a:rPr lang="en-US" sz="1100" b="1" spc="400" kern="0" dirty="0">
                <a:solidFill>
                  <a:srgbClr val="A8742A"/>
                </a:solidFill>
                <a:latin typeface="Calibri" pitchFamily="34" charset="0"/>
                <a:ea typeface="Calibri" pitchFamily="34" charset="-122"/>
                <a:cs typeface="Calibri" pitchFamily="34" charset="-120"/>
              </a:rPr>
              <a:t>WEEK 5 · TASK 3 · FRIDAY</a:t>
            </a:r>
            <a:endParaRPr lang="en-US" sz="1100" dirty="0"/>
          </a:p>
        </p:txBody>
      </p:sp>
      <p:sp>
        <p:nvSpPr>
          <p:cNvPr id="3" name="Text 1"/>
          <p:cNvSpPr/>
          <p:nvPr/>
        </p:nvSpPr>
        <p:spPr>
          <a:xfrm>
            <a:off x="548640" y="822960"/>
            <a:ext cx="11155680" cy="1280160"/>
          </a:xfrm>
          <a:prstGeom prst="rect">
            <a:avLst/>
          </a:prstGeom>
          <a:noFill/>
          <a:ln/>
        </p:spPr>
        <p:txBody>
          <a:bodyPr wrap="square" rtlCol="0" anchor="t"/>
          <a:lstStyle/>
          <a:p>
            <a:pPr indent="0" marL="0">
              <a:buNone/>
            </a:pPr>
            <a:r>
              <a:rPr lang="en-US" sz="3600" b="1" dirty="0">
                <a:solidFill>
                  <a:srgbClr val="1B2A4A"/>
                </a:solidFill>
                <a:latin typeface="Calibri" pitchFamily="34" charset="0"/>
                <a:ea typeface="Calibri" pitchFamily="34" charset="-122"/>
                <a:cs typeface="Calibri" pitchFamily="34" charset="-120"/>
              </a:rPr>
              <a:t>Ship One Real Cowork Workflow</a:t>
            </a:r>
            <a:endParaRPr lang="en-US" sz="3600" dirty="0"/>
          </a:p>
        </p:txBody>
      </p:sp>
      <p:sp>
        <p:nvSpPr>
          <p:cNvPr id="4" name="Text 2"/>
          <p:cNvSpPr/>
          <p:nvPr/>
        </p:nvSpPr>
        <p:spPr>
          <a:xfrm>
            <a:off x="548640" y="2103120"/>
            <a:ext cx="10972800" cy="731520"/>
          </a:xfrm>
          <a:prstGeom prst="rect">
            <a:avLst/>
          </a:prstGeom>
          <a:noFill/>
          <a:ln/>
        </p:spPr>
        <p:txBody>
          <a:bodyPr wrap="square" rtlCol="0" anchor="ctr"/>
          <a:lstStyle/>
          <a:p>
            <a:pPr indent="0" marL="0">
              <a:buNone/>
            </a:pPr>
            <a:r>
              <a:rPr lang="en-US" sz="1900" i="1" dirty="0">
                <a:solidFill>
                  <a:srgbClr val="5B6470"/>
                </a:solidFill>
                <a:latin typeface="Calibri" pitchFamily="34" charset="0"/>
                <a:ea typeface="Calibri" pitchFamily="34" charset="-122"/>
                <a:cs typeface="Calibri" pitchFamily="34" charset="-120"/>
              </a:rPr>
              <a:t>One operator task, end to end. Review every step. Keep what works.</a:t>
            </a:r>
            <a:endParaRPr lang="en-US" sz="1900" dirty="0"/>
          </a:p>
        </p:txBody>
      </p:sp>
      <p:sp>
        <p:nvSpPr>
          <p:cNvPr id="5" name="Shape 3"/>
          <p:cNvSpPr/>
          <p:nvPr/>
        </p:nvSpPr>
        <p:spPr>
          <a:xfrm>
            <a:off x="548640" y="3291840"/>
            <a:ext cx="5486400" cy="3017520"/>
          </a:xfrm>
          <a:prstGeom prst="rect">
            <a:avLst/>
          </a:prstGeom>
          <a:solidFill>
            <a:srgbClr val="F4F1EA"/>
          </a:solidFill>
          <a:ln w="12700">
            <a:solidFill>
              <a:srgbClr val="D8DCE2"/>
            </a:solidFill>
            <a:prstDash val="solid"/>
          </a:ln>
        </p:spPr>
      </p:sp>
      <p:sp>
        <p:nvSpPr>
          <p:cNvPr id="6" name="Shape 4"/>
          <p:cNvSpPr/>
          <p:nvPr/>
        </p:nvSpPr>
        <p:spPr>
          <a:xfrm>
            <a:off x="548640" y="3291840"/>
            <a:ext cx="73152" cy="3017520"/>
          </a:xfrm>
          <a:prstGeom prst="rect">
            <a:avLst/>
          </a:prstGeom>
          <a:solidFill>
            <a:srgbClr val="1B2A4A"/>
          </a:solidFill>
          <a:ln w="12700">
            <a:solidFill>
              <a:srgbClr val="1B2A4A"/>
            </a:solidFill>
            <a:prstDash val="solid"/>
          </a:ln>
        </p:spPr>
      </p:sp>
      <p:sp>
        <p:nvSpPr>
          <p:cNvPr id="7" name="Text 5"/>
          <p:cNvSpPr/>
          <p:nvPr/>
        </p:nvSpPr>
        <p:spPr>
          <a:xfrm>
            <a:off x="777240" y="3474720"/>
            <a:ext cx="5029200" cy="274320"/>
          </a:xfrm>
          <a:prstGeom prst="rect">
            <a:avLst/>
          </a:prstGeom>
          <a:noFill/>
          <a:ln/>
        </p:spPr>
        <p:txBody>
          <a:bodyPr wrap="square" rtlCol="0" anchor="ctr"/>
          <a:lstStyle/>
          <a:p>
            <a:pPr indent="0" marL="0">
              <a:buNone/>
            </a:pPr>
            <a:r>
              <a:rPr lang="en-US" sz="1100" b="1" spc="300" kern="0" dirty="0">
                <a:solidFill>
                  <a:srgbClr val="CE8E31"/>
                </a:solidFill>
                <a:latin typeface="Calibri" pitchFamily="34" charset="0"/>
                <a:ea typeface="Calibri" pitchFamily="34" charset="-122"/>
                <a:cs typeface="Calibri" pitchFamily="34" charset="-120"/>
              </a:rPr>
              <a:t>THE ACTION</a:t>
            </a:r>
            <a:endParaRPr lang="en-US" sz="1100" dirty="0"/>
          </a:p>
        </p:txBody>
      </p:sp>
      <p:sp>
        <p:nvSpPr>
          <p:cNvPr id="8" name="Text 6"/>
          <p:cNvSpPr/>
          <p:nvPr/>
        </p:nvSpPr>
        <p:spPr>
          <a:xfrm>
            <a:off x="777240" y="3794760"/>
            <a:ext cx="5029200" cy="1463040"/>
          </a:xfrm>
          <a:prstGeom prst="rect">
            <a:avLst/>
          </a:prstGeom>
          <a:noFill/>
          <a:ln/>
        </p:spPr>
        <p:txBody>
          <a:bodyPr wrap="square" rtlCol="0" anchor="ctr"/>
          <a:lstStyle/>
          <a:p>
            <a:pPr indent="0" marL="0">
              <a:buNone/>
            </a:pPr>
            <a:r>
              <a:rPr lang="en-US" sz="1600" dirty="0">
                <a:solidFill>
                  <a:srgbClr val="22272E"/>
                </a:solidFill>
                <a:latin typeface="Calibri" pitchFamily="34" charset="0"/>
                <a:ea typeface="Calibri" pitchFamily="34" charset="-122"/>
                <a:cs typeface="Calibri" pitchFamily="34" charset="-120"/>
              </a:rPr>
              <a:t>20–30 minutes. Open the task card. Run the checklist. Ship the artifact. React ✓ in the cohort channel.</a:t>
            </a:r>
            <a:endParaRPr lang="en-US" sz="1600" dirty="0"/>
          </a:p>
        </p:txBody>
      </p:sp>
      <p:sp>
        <p:nvSpPr>
          <p:cNvPr id="9" name="Text 7"/>
          <p:cNvSpPr/>
          <p:nvPr/>
        </p:nvSpPr>
        <p:spPr>
          <a:xfrm>
            <a:off x="777240" y="5669280"/>
            <a:ext cx="5029200" cy="457200"/>
          </a:xfrm>
          <a:prstGeom prst="rect">
            <a:avLst/>
          </a:prstGeom>
          <a:noFill/>
          <a:ln/>
        </p:spPr>
        <p:txBody>
          <a:bodyPr wrap="square" rtlCol="0" anchor="ctr"/>
          <a:lstStyle/>
          <a:p>
            <a:pPr indent="0" marL="0">
              <a:buNone/>
            </a:pPr>
            <a:r>
              <a:rPr lang="en-US" sz="1400" b="1" i="1" dirty="0">
                <a:solidFill>
                  <a:srgbClr val="1B2A4A"/>
                </a:solidFill>
                <a:latin typeface="Calibri" pitchFamily="34" charset="0"/>
                <a:ea typeface="Calibri" pitchFamily="34" charset="-122"/>
                <a:cs typeface="Calibri" pitchFamily="34" charset="-120"/>
              </a:rPr>
              <a:t>AI drafts. The watchman decides.</a:t>
            </a:r>
            <a:endParaRPr lang="en-US" sz="1400" dirty="0"/>
          </a:p>
        </p:txBody>
      </p:sp>
      <p:sp>
        <p:nvSpPr>
          <p:cNvPr id="10" name="Shape 8"/>
          <p:cNvSpPr/>
          <p:nvPr/>
        </p:nvSpPr>
        <p:spPr>
          <a:xfrm>
            <a:off x="6217920" y="3291840"/>
            <a:ext cx="5394960" cy="3017520"/>
          </a:xfrm>
          <a:prstGeom prst="rect">
            <a:avLst/>
          </a:prstGeom>
          <a:solidFill>
            <a:srgbClr val="A8742A"/>
          </a:solidFill>
          <a:ln w="12700">
            <a:solidFill>
              <a:srgbClr val="A8742A"/>
            </a:solidFill>
            <a:prstDash val="solid"/>
          </a:ln>
        </p:spPr>
      </p:sp>
      <p:sp>
        <p:nvSpPr>
          <p:cNvPr id="11" name="Text 9"/>
          <p:cNvSpPr/>
          <p:nvPr/>
        </p:nvSpPr>
        <p:spPr>
          <a:xfrm>
            <a:off x="6446520" y="3520440"/>
            <a:ext cx="5029200" cy="274320"/>
          </a:xfrm>
          <a:prstGeom prst="rect">
            <a:avLst/>
          </a:prstGeom>
          <a:noFill/>
          <a:ln/>
        </p:spPr>
        <p:txBody>
          <a:bodyPr wrap="square" rtlCol="0" anchor="ctr"/>
          <a:lstStyle/>
          <a:p>
            <a:pPr indent="0" marL="0">
              <a:buNone/>
            </a:pPr>
            <a:r>
              <a:rPr lang="en-US" sz="1100" b="1" spc="300" kern="0" dirty="0">
                <a:solidFill>
                  <a:srgbClr val="FFFFFF"/>
                </a:solidFill>
                <a:latin typeface="Calibri" pitchFamily="34" charset="0"/>
                <a:ea typeface="Calibri" pitchFamily="34" charset="-122"/>
                <a:cs typeface="Calibri" pitchFamily="34" charset="-120"/>
              </a:rPr>
              <a:t>SCRIPTURE ANCHOR</a:t>
            </a:r>
            <a:endParaRPr lang="en-US" sz="1100" dirty="0"/>
          </a:p>
        </p:txBody>
      </p:sp>
      <p:sp>
        <p:nvSpPr>
          <p:cNvPr id="12" name="Text 10"/>
          <p:cNvSpPr/>
          <p:nvPr/>
        </p:nvSpPr>
        <p:spPr>
          <a:xfrm>
            <a:off x="6446520" y="3840480"/>
            <a:ext cx="5029200" cy="502920"/>
          </a:xfrm>
          <a:prstGeom prst="rect">
            <a:avLst/>
          </a:prstGeom>
          <a:noFill/>
          <a:ln/>
        </p:spPr>
        <p:txBody>
          <a:bodyPr wrap="square"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Week 5 · Operator Foundations</a:t>
            </a:r>
            <a:endParaRPr lang="en-US" sz="2000" dirty="0"/>
          </a:p>
        </p:txBody>
      </p:sp>
      <p:sp>
        <p:nvSpPr>
          <p:cNvPr id="13" name="Text 11"/>
          <p:cNvSpPr/>
          <p:nvPr/>
        </p:nvSpPr>
        <p:spPr>
          <a:xfrm>
            <a:off x="6446520" y="4434840"/>
            <a:ext cx="5029200" cy="548640"/>
          </a:xfrm>
          <a:prstGeom prst="rect">
            <a:avLst/>
          </a:prstGeom>
          <a:noFill/>
          <a:ln/>
        </p:spPr>
        <p:txBody>
          <a:bodyPr wrap="square" rtlCol="0" anchor="ctr"/>
          <a:lstStyle/>
          <a:p>
            <a:pPr indent="0" marL="0">
              <a:buNone/>
            </a:pPr>
            <a:r>
              <a:rPr lang="en-US" sz="1800" i="1" dirty="0">
                <a:solidFill>
                  <a:srgbClr val="FFFFFF"/>
                </a:solidFill>
                <a:latin typeface="Calibri" pitchFamily="34" charset="0"/>
                <a:ea typeface="Calibri" pitchFamily="34" charset="-122"/>
                <a:cs typeface="Calibri" pitchFamily="34" charset="-120"/>
              </a:rPr>
              <a:t>1 Corinthians 6:19–20</a:t>
            </a:r>
            <a:endParaRPr lang="en-US" sz="1800" dirty="0"/>
          </a:p>
        </p:txBody>
      </p:sp>
      <p:sp>
        <p:nvSpPr>
          <p:cNvPr id="14" name="Text 12"/>
          <p:cNvSpPr/>
          <p:nvPr/>
        </p:nvSpPr>
        <p:spPr>
          <a:xfrm>
            <a:off x="6446520" y="5669280"/>
            <a:ext cx="5029200" cy="365760"/>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Read aloud at the open and the close.</a:t>
            </a:r>
            <a:endParaRPr lang="en-US" sz="1300" dirty="0"/>
          </a:p>
        </p:txBody>
      </p:sp>
      <p:sp>
        <p:nvSpPr>
          <p:cNvPr id="15" name="Text 13"/>
          <p:cNvSpPr/>
          <p:nvPr/>
        </p:nvSpPr>
        <p:spPr>
          <a:xfrm>
            <a:off x="548640" y="6492240"/>
            <a:ext cx="7315200" cy="274320"/>
          </a:xfrm>
          <a:prstGeom prst="rect">
            <a:avLst/>
          </a:prstGeom>
          <a:noFill/>
          <a:ln/>
        </p:spPr>
        <p:txBody>
          <a:bodyPr wrap="square" rtlCol="0" anchor="ctr"/>
          <a:lstStyle/>
          <a:p>
            <a:pPr indent="0" marL="0">
              <a:buNone/>
            </a:pPr>
            <a:r>
              <a:rPr lang="en-US" sz="1000" i="1" dirty="0">
                <a:solidFill>
                  <a:srgbClr val="5B6470"/>
                </a:solidFill>
                <a:latin typeface="Calibri" pitchFamily="34" charset="0"/>
                <a:ea typeface="Calibri" pitchFamily="34" charset="-122"/>
                <a:cs typeface="Calibri" pitchFamily="34" charset="-120"/>
              </a:rPr>
              <a:t>Week 5 · Operator Foundations · Task 3</a:t>
            </a: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1B2A4A"/>
        </a:solidFill>
      </p:bgPr>
    </p:bg>
    <p:spTree>
      <p:nvGrpSpPr>
        <p:cNvPr id="1" name=""/>
        <p:cNvGrpSpPr/>
        <p:nvPr/>
      </p:nvGrpSpPr>
      <p:grpSpPr>
        <a:xfrm>
          <a:off x="0" y="0"/>
          <a:ext cx="0" cy="0"/>
          <a:chOff x="0" y="0"/>
          <a:chExt cx="0" cy="0"/>
        </a:xfrm>
      </p:grpSpPr>
      <p:sp>
        <p:nvSpPr>
          <p:cNvPr id="2" name="Text 0"/>
          <p:cNvSpPr/>
          <p:nvPr/>
        </p:nvSpPr>
        <p:spPr>
          <a:xfrm>
            <a:off x="548640" y="1463040"/>
            <a:ext cx="10972800" cy="457200"/>
          </a:xfrm>
          <a:prstGeom prst="rect">
            <a:avLst/>
          </a:prstGeom>
          <a:noFill/>
          <a:ln/>
        </p:spPr>
        <p:txBody>
          <a:bodyPr wrap="square" rtlCol="0" anchor="ctr"/>
          <a:lstStyle/>
          <a:p>
            <a:pPr indent="0" marL="0">
              <a:buNone/>
            </a:pPr>
            <a:r>
              <a:rPr lang="en-US" sz="1400" b="1" spc="500" kern="0" dirty="0">
                <a:solidFill>
                  <a:srgbClr val="A8742A"/>
                </a:solidFill>
                <a:latin typeface="Calibri" pitchFamily="34" charset="0"/>
                <a:ea typeface="Calibri" pitchFamily="34" charset="-122"/>
                <a:cs typeface="Calibri" pitchFamily="34" charset="-120"/>
              </a:rPr>
              <a:t>WEEK 6  ·  BLOCK III — BUSINESS LAYER</a:t>
            </a:r>
            <a:endParaRPr lang="en-US" sz="1400" dirty="0"/>
          </a:p>
        </p:txBody>
      </p:sp>
      <p:sp>
        <p:nvSpPr>
          <p:cNvPr id="3" name="Text 1"/>
          <p:cNvSpPr/>
          <p:nvPr/>
        </p:nvSpPr>
        <p:spPr>
          <a:xfrm>
            <a:off x="548640" y="1920240"/>
            <a:ext cx="11338560" cy="1371600"/>
          </a:xfrm>
          <a:prstGeom prst="rect">
            <a:avLst/>
          </a:prstGeom>
          <a:noFill/>
          <a:ln/>
        </p:spPr>
        <p:txBody>
          <a:bodyPr wrap="square" rtlCol="0" anchor="ctr"/>
          <a:lstStyle/>
          <a:p>
            <a:pPr indent="0" marL="0">
              <a:buNone/>
            </a:pPr>
            <a:r>
              <a:rPr lang="en-US" sz="5400" b="1" dirty="0">
                <a:solidFill>
                  <a:srgbClr val="FFFFFF"/>
                </a:solidFill>
                <a:latin typeface="Calibri" pitchFamily="34" charset="0"/>
                <a:ea typeface="Calibri" pitchFamily="34" charset="-122"/>
                <a:cs typeface="Calibri" pitchFamily="34" charset="-120"/>
              </a:rPr>
              <a:t>BUSINESS OPERATIONS &amp; STEWARDSHIP</a:t>
            </a:r>
            <a:endParaRPr lang="en-US" sz="5400" dirty="0"/>
          </a:p>
        </p:txBody>
      </p:sp>
      <p:sp>
        <p:nvSpPr>
          <p:cNvPr id="4" name="Shape 2"/>
          <p:cNvSpPr/>
          <p:nvPr/>
        </p:nvSpPr>
        <p:spPr>
          <a:xfrm>
            <a:off x="548640" y="3383280"/>
            <a:ext cx="1828800" cy="73152"/>
          </a:xfrm>
          <a:prstGeom prst="rect">
            <a:avLst/>
          </a:prstGeom>
          <a:solidFill>
            <a:srgbClr val="A8742A"/>
          </a:solidFill>
          <a:ln w="12700">
            <a:solidFill>
              <a:srgbClr val="A8742A"/>
            </a:solidFill>
            <a:prstDash val="solid"/>
          </a:ln>
        </p:spPr>
      </p:sp>
      <p:sp>
        <p:nvSpPr>
          <p:cNvPr id="5" name="Text 3"/>
          <p:cNvSpPr/>
          <p:nvPr/>
        </p:nvSpPr>
        <p:spPr>
          <a:xfrm>
            <a:off x="548640" y="3566160"/>
            <a:ext cx="10515600" cy="1097280"/>
          </a:xfrm>
          <a:prstGeom prst="rect">
            <a:avLst/>
          </a:prstGeom>
          <a:noFill/>
          <a:ln/>
        </p:spPr>
        <p:txBody>
          <a:bodyPr wrap="square" rtlCol="0" anchor="ctr"/>
          <a:lstStyle/>
          <a:p>
            <a:pPr indent="0" marL="0">
              <a:buNone/>
            </a:pPr>
            <a:r>
              <a:rPr lang="en-US" sz="2200" i="1" dirty="0">
                <a:solidFill>
                  <a:srgbClr val="94A3B8"/>
                </a:solidFill>
                <a:latin typeface="Calibri" pitchFamily="34" charset="0"/>
                <a:ea typeface="Calibri" pitchFamily="34" charset="-122"/>
                <a:cs typeface="Calibri" pitchFamily="34" charset="-120"/>
              </a:rPr>
              <a:t>Read your numbers; build the recurring-comms workflow; lock in a tithe-first budget.</a:t>
            </a:r>
            <a:endParaRPr lang="en-US" sz="2200" dirty="0"/>
          </a:p>
        </p:txBody>
      </p:sp>
      <p:sp>
        <p:nvSpPr>
          <p:cNvPr id="6" name="Text 4"/>
          <p:cNvSpPr/>
          <p:nvPr/>
        </p:nvSpPr>
        <p:spPr>
          <a:xfrm>
            <a:off x="548640" y="5029200"/>
            <a:ext cx="10972800" cy="274320"/>
          </a:xfrm>
          <a:prstGeom prst="rect">
            <a:avLst/>
          </a:prstGeom>
          <a:noFill/>
          <a:ln/>
        </p:spPr>
        <p:txBody>
          <a:bodyPr wrap="square" rtlCol="0" anchor="ctr"/>
          <a:lstStyle/>
          <a:p>
            <a:pPr indent="0" marL="0">
              <a:buNone/>
            </a:pPr>
            <a:r>
              <a:rPr lang="en-US" sz="1000" b="1" spc="400" kern="0" dirty="0">
                <a:solidFill>
                  <a:srgbClr val="CE8E31"/>
                </a:solidFill>
                <a:latin typeface="Calibri" pitchFamily="34" charset="0"/>
                <a:ea typeface="Calibri" pitchFamily="34" charset="-122"/>
                <a:cs typeface="Calibri" pitchFamily="34" charset="-120"/>
              </a:rPr>
              <a:t>SCRIPTURE</a:t>
            </a:r>
            <a:endParaRPr lang="en-US" sz="1000" dirty="0"/>
          </a:p>
        </p:txBody>
      </p:sp>
      <p:sp>
        <p:nvSpPr>
          <p:cNvPr id="7" name="Text 5"/>
          <p:cNvSpPr/>
          <p:nvPr/>
        </p:nvSpPr>
        <p:spPr>
          <a:xfrm>
            <a:off x="548640" y="5303520"/>
            <a:ext cx="10972800" cy="457200"/>
          </a:xfrm>
          <a:prstGeom prst="rect">
            <a:avLst/>
          </a:prstGeom>
          <a:noFill/>
          <a:ln/>
        </p:spPr>
        <p:txBody>
          <a:bodyPr wrap="square" rtlCol="0" anchor="ctr"/>
          <a:lstStyle/>
          <a:p>
            <a:pPr indent="0" marL="0">
              <a:buNone/>
            </a:pPr>
            <a:r>
              <a:rPr lang="en-US" sz="2000" dirty="0">
                <a:solidFill>
                  <a:srgbClr val="FFFFFF"/>
                </a:solidFill>
                <a:latin typeface="Calibri" pitchFamily="34" charset="0"/>
                <a:ea typeface="Calibri" pitchFamily="34" charset="-122"/>
                <a:cs typeface="Calibri" pitchFamily="34" charset="-120"/>
              </a:rPr>
              <a:t>Luke 16:10–11</a:t>
            </a:r>
            <a:endParaRPr lang="en-US" sz="2000" dirty="0"/>
          </a:p>
        </p:txBody>
      </p:sp>
      <p:sp>
        <p:nvSpPr>
          <p:cNvPr id="8" name="Text 6"/>
          <p:cNvSpPr/>
          <p:nvPr/>
        </p:nvSpPr>
        <p:spPr>
          <a:xfrm>
            <a:off x="548640" y="6492240"/>
            <a:ext cx="7315200" cy="274320"/>
          </a:xfrm>
          <a:prstGeom prst="rect">
            <a:avLst/>
          </a:prstGeom>
          <a:noFill/>
          <a:ln/>
        </p:spPr>
        <p:txBody>
          <a:bodyPr wrap="square" rtlCol="0" anchor="ctr"/>
          <a:lstStyle/>
          <a:p>
            <a:pPr indent="0" marL="0">
              <a:buNone/>
            </a:pPr>
            <a:r>
              <a:rPr lang="en-US" sz="1000" i="1" dirty="0">
                <a:solidFill>
                  <a:srgbClr val="5B6470"/>
                </a:solidFill>
                <a:latin typeface="Calibri" pitchFamily="34" charset="0"/>
                <a:ea typeface="Calibri" pitchFamily="34" charset="-122"/>
                <a:cs typeface="Calibri" pitchFamily="34" charset="-120"/>
              </a:rPr>
              <a:t>Week 6 · Business Operations &amp; Stewardship</a:t>
            </a:r>
            <a:endParaRPr lang="en-US"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0972800" cy="365760"/>
          </a:xfrm>
          <a:prstGeom prst="rect">
            <a:avLst/>
          </a:prstGeom>
          <a:noFill/>
          <a:ln/>
        </p:spPr>
        <p:txBody>
          <a:bodyPr wrap="square" rtlCol="0" anchor="ctr"/>
          <a:lstStyle/>
          <a:p>
            <a:pPr indent="0" marL="0">
              <a:buNone/>
            </a:pPr>
            <a:r>
              <a:rPr lang="en-US" sz="1100" b="1" spc="400" kern="0" dirty="0">
                <a:solidFill>
                  <a:srgbClr val="A8742A"/>
                </a:solidFill>
                <a:latin typeface="Calibri" pitchFamily="34" charset="0"/>
                <a:ea typeface="Calibri" pitchFamily="34" charset="-122"/>
                <a:cs typeface="Calibri" pitchFamily="34" charset="-120"/>
              </a:rPr>
              <a:t>WEEK 6 · TASK 1 · MONDAY</a:t>
            </a:r>
            <a:endParaRPr lang="en-US" sz="1100" dirty="0"/>
          </a:p>
        </p:txBody>
      </p:sp>
      <p:sp>
        <p:nvSpPr>
          <p:cNvPr id="3" name="Text 1"/>
          <p:cNvSpPr/>
          <p:nvPr/>
        </p:nvSpPr>
        <p:spPr>
          <a:xfrm>
            <a:off x="548640" y="822960"/>
            <a:ext cx="11155680" cy="1280160"/>
          </a:xfrm>
          <a:prstGeom prst="rect">
            <a:avLst/>
          </a:prstGeom>
          <a:noFill/>
          <a:ln/>
        </p:spPr>
        <p:txBody>
          <a:bodyPr wrap="square" rtlCol="0" anchor="t"/>
          <a:lstStyle/>
          <a:p>
            <a:pPr indent="0" marL="0">
              <a:buNone/>
            </a:pPr>
            <a:r>
              <a:rPr lang="en-US" sz="3600" b="1" dirty="0">
                <a:solidFill>
                  <a:srgbClr val="1B2A4A"/>
                </a:solidFill>
                <a:latin typeface="Calibri" pitchFamily="34" charset="0"/>
                <a:ea typeface="Calibri" pitchFamily="34" charset="-122"/>
                <a:cs typeface="Calibri" pitchFamily="34" charset="-120"/>
              </a:rPr>
              <a:t>Read Your Numbers (P&amp;L Review with AI)</a:t>
            </a:r>
            <a:endParaRPr lang="en-US" sz="3600" dirty="0"/>
          </a:p>
        </p:txBody>
      </p:sp>
      <p:sp>
        <p:nvSpPr>
          <p:cNvPr id="4" name="Text 2"/>
          <p:cNvSpPr/>
          <p:nvPr/>
        </p:nvSpPr>
        <p:spPr>
          <a:xfrm>
            <a:off x="548640" y="2103120"/>
            <a:ext cx="10972800" cy="731520"/>
          </a:xfrm>
          <a:prstGeom prst="rect">
            <a:avLst/>
          </a:prstGeom>
          <a:noFill/>
          <a:ln/>
        </p:spPr>
        <p:txBody>
          <a:bodyPr wrap="square" rtlCol="0" anchor="ctr"/>
          <a:lstStyle/>
          <a:p>
            <a:pPr indent="0" marL="0">
              <a:buNone/>
            </a:pPr>
            <a:r>
              <a:rPr lang="en-US" sz="1900" i="1" dirty="0">
                <a:solidFill>
                  <a:srgbClr val="5B6470"/>
                </a:solidFill>
                <a:latin typeface="Calibri" pitchFamily="34" charset="0"/>
                <a:ea typeface="Calibri" pitchFamily="34" charset="-122"/>
                <a:cs typeface="Calibri" pitchFamily="34" charset="-120"/>
              </a:rPr>
              <a:t>Pull three months. AI digests. You face the numbers you've avoided.</a:t>
            </a:r>
            <a:endParaRPr lang="en-US" sz="1900" dirty="0"/>
          </a:p>
        </p:txBody>
      </p:sp>
      <p:sp>
        <p:nvSpPr>
          <p:cNvPr id="5" name="Shape 3"/>
          <p:cNvSpPr/>
          <p:nvPr/>
        </p:nvSpPr>
        <p:spPr>
          <a:xfrm>
            <a:off x="548640" y="3291840"/>
            <a:ext cx="5486400" cy="3017520"/>
          </a:xfrm>
          <a:prstGeom prst="rect">
            <a:avLst/>
          </a:prstGeom>
          <a:solidFill>
            <a:srgbClr val="F4F1EA"/>
          </a:solidFill>
          <a:ln w="12700">
            <a:solidFill>
              <a:srgbClr val="D8DCE2"/>
            </a:solidFill>
            <a:prstDash val="solid"/>
          </a:ln>
        </p:spPr>
      </p:sp>
      <p:sp>
        <p:nvSpPr>
          <p:cNvPr id="6" name="Shape 4"/>
          <p:cNvSpPr/>
          <p:nvPr/>
        </p:nvSpPr>
        <p:spPr>
          <a:xfrm>
            <a:off x="548640" y="3291840"/>
            <a:ext cx="73152" cy="3017520"/>
          </a:xfrm>
          <a:prstGeom prst="rect">
            <a:avLst/>
          </a:prstGeom>
          <a:solidFill>
            <a:srgbClr val="1B2A4A"/>
          </a:solidFill>
          <a:ln w="12700">
            <a:solidFill>
              <a:srgbClr val="1B2A4A"/>
            </a:solidFill>
            <a:prstDash val="solid"/>
          </a:ln>
        </p:spPr>
      </p:sp>
      <p:sp>
        <p:nvSpPr>
          <p:cNvPr id="7" name="Text 5"/>
          <p:cNvSpPr/>
          <p:nvPr/>
        </p:nvSpPr>
        <p:spPr>
          <a:xfrm>
            <a:off x="777240" y="3474720"/>
            <a:ext cx="5029200" cy="274320"/>
          </a:xfrm>
          <a:prstGeom prst="rect">
            <a:avLst/>
          </a:prstGeom>
          <a:noFill/>
          <a:ln/>
        </p:spPr>
        <p:txBody>
          <a:bodyPr wrap="square" rtlCol="0" anchor="ctr"/>
          <a:lstStyle/>
          <a:p>
            <a:pPr indent="0" marL="0">
              <a:buNone/>
            </a:pPr>
            <a:r>
              <a:rPr lang="en-US" sz="1100" b="1" spc="300" kern="0" dirty="0">
                <a:solidFill>
                  <a:srgbClr val="CE8E31"/>
                </a:solidFill>
                <a:latin typeface="Calibri" pitchFamily="34" charset="0"/>
                <a:ea typeface="Calibri" pitchFamily="34" charset="-122"/>
                <a:cs typeface="Calibri" pitchFamily="34" charset="-120"/>
              </a:rPr>
              <a:t>THE ACTION</a:t>
            </a:r>
            <a:endParaRPr lang="en-US" sz="1100" dirty="0"/>
          </a:p>
        </p:txBody>
      </p:sp>
      <p:sp>
        <p:nvSpPr>
          <p:cNvPr id="8" name="Text 6"/>
          <p:cNvSpPr/>
          <p:nvPr/>
        </p:nvSpPr>
        <p:spPr>
          <a:xfrm>
            <a:off x="777240" y="3794760"/>
            <a:ext cx="5029200" cy="1463040"/>
          </a:xfrm>
          <a:prstGeom prst="rect">
            <a:avLst/>
          </a:prstGeom>
          <a:noFill/>
          <a:ln/>
        </p:spPr>
        <p:txBody>
          <a:bodyPr wrap="square" rtlCol="0" anchor="ctr"/>
          <a:lstStyle/>
          <a:p>
            <a:pPr indent="0" marL="0">
              <a:buNone/>
            </a:pPr>
            <a:r>
              <a:rPr lang="en-US" sz="1600" dirty="0">
                <a:solidFill>
                  <a:srgbClr val="22272E"/>
                </a:solidFill>
                <a:latin typeface="Calibri" pitchFamily="34" charset="0"/>
                <a:ea typeface="Calibri" pitchFamily="34" charset="-122"/>
                <a:cs typeface="Calibri" pitchFamily="34" charset="-120"/>
              </a:rPr>
              <a:t>20–30 minutes. Open the task card. Run the checklist. Ship the artifact. React ✓ in the cohort channel.</a:t>
            </a:r>
            <a:endParaRPr lang="en-US" sz="1600" dirty="0"/>
          </a:p>
        </p:txBody>
      </p:sp>
      <p:sp>
        <p:nvSpPr>
          <p:cNvPr id="9" name="Text 7"/>
          <p:cNvSpPr/>
          <p:nvPr/>
        </p:nvSpPr>
        <p:spPr>
          <a:xfrm>
            <a:off x="777240" y="5669280"/>
            <a:ext cx="5029200" cy="457200"/>
          </a:xfrm>
          <a:prstGeom prst="rect">
            <a:avLst/>
          </a:prstGeom>
          <a:noFill/>
          <a:ln/>
        </p:spPr>
        <p:txBody>
          <a:bodyPr wrap="square" rtlCol="0" anchor="ctr"/>
          <a:lstStyle/>
          <a:p>
            <a:pPr indent="0" marL="0">
              <a:buNone/>
            </a:pPr>
            <a:r>
              <a:rPr lang="en-US" sz="1400" b="1" i="1" dirty="0">
                <a:solidFill>
                  <a:srgbClr val="1B2A4A"/>
                </a:solidFill>
                <a:latin typeface="Calibri" pitchFamily="34" charset="0"/>
                <a:ea typeface="Calibri" pitchFamily="34" charset="-122"/>
                <a:cs typeface="Calibri" pitchFamily="34" charset="-120"/>
              </a:rPr>
              <a:t>AI drafts. The watchman decides.</a:t>
            </a:r>
            <a:endParaRPr lang="en-US" sz="1400" dirty="0"/>
          </a:p>
        </p:txBody>
      </p:sp>
      <p:sp>
        <p:nvSpPr>
          <p:cNvPr id="10" name="Shape 8"/>
          <p:cNvSpPr/>
          <p:nvPr/>
        </p:nvSpPr>
        <p:spPr>
          <a:xfrm>
            <a:off x="6217920" y="3291840"/>
            <a:ext cx="5394960" cy="3017520"/>
          </a:xfrm>
          <a:prstGeom prst="rect">
            <a:avLst/>
          </a:prstGeom>
          <a:solidFill>
            <a:srgbClr val="A8742A"/>
          </a:solidFill>
          <a:ln w="12700">
            <a:solidFill>
              <a:srgbClr val="A8742A"/>
            </a:solidFill>
            <a:prstDash val="solid"/>
          </a:ln>
        </p:spPr>
      </p:sp>
      <p:sp>
        <p:nvSpPr>
          <p:cNvPr id="11" name="Text 9"/>
          <p:cNvSpPr/>
          <p:nvPr/>
        </p:nvSpPr>
        <p:spPr>
          <a:xfrm>
            <a:off x="6446520" y="3520440"/>
            <a:ext cx="5029200" cy="274320"/>
          </a:xfrm>
          <a:prstGeom prst="rect">
            <a:avLst/>
          </a:prstGeom>
          <a:noFill/>
          <a:ln/>
        </p:spPr>
        <p:txBody>
          <a:bodyPr wrap="square" rtlCol="0" anchor="ctr"/>
          <a:lstStyle/>
          <a:p>
            <a:pPr indent="0" marL="0">
              <a:buNone/>
            </a:pPr>
            <a:r>
              <a:rPr lang="en-US" sz="1100" b="1" spc="300" kern="0" dirty="0">
                <a:solidFill>
                  <a:srgbClr val="FFFFFF"/>
                </a:solidFill>
                <a:latin typeface="Calibri" pitchFamily="34" charset="0"/>
                <a:ea typeface="Calibri" pitchFamily="34" charset="-122"/>
                <a:cs typeface="Calibri" pitchFamily="34" charset="-120"/>
              </a:rPr>
              <a:t>SCRIPTURE ANCHOR</a:t>
            </a:r>
            <a:endParaRPr lang="en-US" sz="1100" dirty="0"/>
          </a:p>
        </p:txBody>
      </p:sp>
      <p:sp>
        <p:nvSpPr>
          <p:cNvPr id="12" name="Text 10"/>
          <p:cNvSpPr/>
          <p:nvPr/>
        </p:nvSpPr>
        <p:spPr>
          <a:xfrm>
            <a:off x="6446520" y="3840480"/>
            <a:ext cx="5029200" cy="502920"/>
          </a:xfrm>
          <a:prstGeom prst="rect">
            <a:avLst/>
          </a:prstGeom>
          <a:noFill/>
          <a:ln/>
        </p:spPr>
        <p:txBody>
          <a:bodyPr wrap="square"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Week 6 · Business Operations &amp; Stewardship</a:t>
            </a:r>
            <a:endParaRPr lang="en-US" sz="2000" dirty="0"/>
          </a:p>
        </p:txBody>
      </p:sp>
      <p:sp>
        <p:nvSpPr>
          <p:cNvPr id="13" name="Text 11"/>
          <p:cNvSpPr/>
          <p:nvPr/>
        </p:nvSpPr>
        <p:spPr>
          <a:xfrm>
            <a:off x="6446520" y="4434840"/>
            <a:ext cx="5029200" cy="548640"/>
          </a:xfrm>
          <a:prstGeom prst="rect">
            <a:avLst/>
          </a:prstGeom>
          <a:noFill/>
          <a:ln/>
        </p:spPr>
        <p:txBody>
          <a:bodyPr wrap="square" rtlCol="0" anchor="ctr"/>
          <a:lstStyle/>
          <a:p>
            <a:pPr indent="0" marL="0">
              <a:buNone/>
            </a:pPr>
            <a:r>
              <a:rPr lang="en-US" sz="1800" i="1" dirty="0">
                <a:solidFill>
                  <a:srgbClr val="FFFFFF"/>
                </a:solidFill>
                <a:latin typeface="Calibri" pitchFamily="34" charset="0"/>
                <a:ea typeface="Calibri" pitchFamily="34" charset="-122"/>
                <a:cs typeface="Calibri" pitchFamily="34" charset="-120"/>
              </a:rPr>
              <a:t>Luke 16:10–11</a:t>
            </a:r>
            <a:endParaRPr lang="en-US" sz="1800" dirty="0"/>
          </a:p>
        </p:txBody>
      </p:sp>
      <p:sp>
        <p:nvSpPr>
          <p:cNvPr id="14" name="Text 12"/>
          <p:cNvSpPr/>
          <p:nvPr/>
        </p:nvSpPr>
        <p:spPr>
          <a:xfrm>
            <a:off x="6446520" y="5669280"/>
            <a:ext cx="5029200" cy="365760"/>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Read aloud at the open and the close.</a:t>
            </a:r>
            <a:endParaRPr lang="en-US" sz="1300" dirty="0"/>
          </a:p>
        </p:txBody>
      </p:sp>
      <p:sp>
        <p:nvSpPr>
          <p:cNvPr id="15" name="Text 13"/>
          <p:cNvSpPr/>
          <p:nvPr/>
        </p:nvSpPr>
        <p:spPr>
          <a:xfrm>
            <a:off x="548640" y="6492240"/>
            <a:ext cx="7315200" cy="274320"/>
          </a:xfrm>
          <a:prstGeom prst="rect">
            <a:avLst/>
          </a:prstGeom>
          <a:noFill/>
          <a:ln/>
        </p:spPr>
        <p:txBody>
          <a:bodyPr wrap="square" rtlCol="0" anchor="ctr"/>
          <a:lstStyle/>
          <a:p>
            <a:pPr indent="0" marL="0">
              <a:buNone/>
            </a:pPr>
            <a:r>
              <a:rPr lang="en-US" sz="1000" i="1" dirty="0">
                <a:solidFill>
                  <a:srgbClr val="5B6470"/>
                </a:solidFill>
                <a:latin typeface="Calibri" pitchFamily="34" charset="0"/>
                <a:ea typeface="Calibri" pitchFamily="34" charset="-122"/>
                <a:cs typeface="Calibri" pitchFamily="34" charset="-120"/>
              </a:rPr>
              <a:t>Week 6 · Business Operations &amp; Stewardship · Task 1</a:t>
            </a:r>
            <a:endParaRPr lang="en-US" sz="1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0972800" cy="365760"/>
          </a:xfrm>
          <a:prstGeom prst="rect">
            <a:avLst/>
          </a:prstGeom>
          <a:noFill/>
          <a:ln/>
        </p:spPr>
        <p:txBody>
          <a:bodyPr wrap="square" rtlCol="0" anchor="ctr"/>
          <a:lstStyle/>
          <a:p>
            <a:pPr indent="0" marL="0">
              <a:buNone/>
            </a:pPr>
            <a:r>
              <a:rPr lang="en-US" sz="1100" b="1" spc="400" kern="0" dirty="0">
                <a:solidFill>
                  <a:srgbClr val="A8742A"/>
                </a:solidFill>
                <a:latin typeface="Calibri" pitchFamily="34" charset="0"/>
                <a:ea typeface="Calibri" pitchFamily="34" charset="-122"/>
                <a:cs typeface="Calibri" pitchFamily="34" charset="-120"/>
              </a:rPr>
              <a:t>WEEK 6 · TASK 2 · WEDNESDAY</a:t>
            </a:r>
            <a:endParaRPr lang="en-US" sz="1100" dirty="0"/>
          </a:p>
        </p:txBody>
      </p:sp>
      <p:sp>
        <p:nvSpPr>
          <p:cNvPr id="3" name="Text 1"/>
          <p:cNvSpPr/>
          <p:nvPr/>
        </p:nvSpPr>
        <p:spPr>
          <a:xfrm>
            <a:off x="548640" y="822960"/>
            <a:ext cx="11155680" cy="1280160"/>
          </a:xfrm>
          <a:prstGeom prst="rect">
            <a:avLst/>
          </a:prstGeom>
          <a:noFill/>
          <a:ln/>
        </p:spPr>
        <p:txBody>
          <a:bodyPr wrap="square" rtlCol="0" anchor="t"/>
          <a:lstStyle/>
          <a:p>
            <a:pPr indent="0" marL="0">
              <a:buNone/>
            </a:pPr>
            <a:r>
              <a:rPr lang="en-US" sz="3600" b="1" dirty="0">
                <a:solidFill>
                  <a:srgbClr val="1B2A4A"/>
                </a:solidFill>
                <a:latin typeface="Calibri" pitchFamily="34" charset="0"/>
                <a:ea typeface="Calibri" pitchFamily="34" charset="-122"/>
                <a:cs typeface="Calibri" pitchFamily="34" charset="-120"/>
              </a:rPr>
              <a:t>Client-Comms Workflow</a:t>
            </a:r>
            <a:endParaRPr lang="en-US" sz="3600" dirty="0"/>
          </a:p>
        </p:txBody>
      </p:sp>
      <p:sp>
        <p:nvSpPr>
          <p:cNvPr id="4" name="Text 2"/>
          <p:cNvSpPr/>
          <p:nvPr/>
        </p:nvSpPr>
        <p:spPr>
          <a:xfrm>
            <a:off x="548640" y="2103120"/>
            <a:ext cx="10972800" cy="731520"/>
          </a:xfrm>
          <a:prstGeom prst="rect">
            <a:avLst/>
          </a:prstGeom>
          <a:noFill/>
          <a:ln/>
        </p:spPr>
        <p:txBody>
          <a:bodyPr wrap="square" rtlCol="0" anchor="ctr"/>
          <a:lstStyle/>
          <a:p>
            <a:pPr indent="0" marL="0">
              <a:buNone/>
            </a:pPr>
            <a:r>
              <a:rPr lang="en-US" sz="1900" i="1" dirty="0">
                <a:solidFill>
                  <a:srgbClr val="5B6470"/>
                </a:solidFill>
                <a:latin typeface="Calibri" pitchFamily="34" charset="0"/>
                <a:ea typeface="Calibri" pitchFamily="34" charset="-122"/>
                <a:cs typeface="Calibri" pitchFamily="34" charset="-120"/>
              </a:rPr>
              <a:t>Your highest-frequency outbound message, systematized once.</a:t>
            </a:r>
            <a:endParaRPr lang="en-US" sz="1900" dirty="0"/>
          </a:p>
        </p:txBody>
      </p:sp>
      <p:sp>
        <p:nvSpPr>
          <p:cNvPr id="5" name="Shape 3"/>
          <p:cNvSpPr/>
          <p:nvPr/>
        </p:nvSpPr>
        <p:spPr>
          <a:xfrm>
            <a:off x="548640" y="3291840"/>
            <a:ext cx="5486400" cy="3017520"/>
          </a:xfrm>
          <a:prstGeom prst="rect">
            <a:avLst/>
          </a:prstGeom>
          <a:solidFill>
            <a:srgbClr val="F4F1EA"/>
          </a:solidFill>
          <a:ln w="12700">
            <a:solidFill>
              <a:srgbClr val="D8DCE2"/>
            </a:solidFill>
            <a:prstDash val="solid"/>
          </a:ln>
        </p:spPr>
      </p:sp>
      <p:sp>
        <p:nvSpPr>
          <p:cNvPr id="6" name="Shape 4"/>
          <p:cNvSpPr/>
          <p:nvPr/>
        </p:nvSpPr>
        <p:spPr>
          <a:xfrm>
            <a:off x="548640" y="3291840"/>
            <a:ext cx="73152" cy="3017520"/>
          </a:xfrm>
          <a:prstGeom prst="rect">
            <a:avLst/>
          </a:prstGeom>
          <a:solidFill>
            <a:srgbClr val="1B2A4A"/>
          </a:solidFill>
          <a:ln w="12700">
            <a:solidFill>
              <a:srgbClr val="1B2A4A"/>
            </a:solidFill>
            <a:prstDash val="solid"/>
          </a:ln>
        </p:spPr>
      </p:sp>
      <p:sp>
        <p:nvSpPr>
          <p:cNvPr id="7" name="Text 5"/>
          <p:cNvSpPr/>
          <p:nvPr/>
        </p:nvSpPr>
        <p:spPr>
          <a:xfrm>
            <a:off x="777240" y="3474720"/>
            <a:ext cx="5029200" cy="274320"/>
          </a:xfrm>
          <a:prstGeom prst="rect">
            <a:avLst/>
          </a:prstGeom>
          <a:noFill/>
          <a:ln/>
        </p:spPr>
        <p:txBody>
          <a:bodyPr wrap="square" rtlCol="0" anchor="ctr"/>
          <a:lstStyle/>
          <a:p>
            <a:pPr indent="0" marL="0">
              <a:buNone/>
            </a:pPr>
            <a:r>
              <a:rPr lang="en-US" sz="1100" b="1" spc="300" kern="0" dirty="0">
                <a:solidFill>
                  <a:srgbClr val="CE8E31"/>
                </a:solidFill>
                <a:latin typeface="Calibri" pitchFamily="34" charset="0"/>
                <a:ea typeface="Calibri" pitchFamily="34" charset="-122"/>
                <a:cs typeface="Calibri" pitchFamily="34" charset="-120"/>
              </a:rPr>
              <a:t>THE ACTION</a:t>
            </a:r>
            <a:endParaRPr lang="en-US" sz="1100" dirty="0"/>
          </a:p>
        </p:txBody>
      </p:sp>
      <p:sp>
        <p:nvSpPr>
          <p:cNvPr id="8" name="Text 6"/>
          <p:cNvSpPr/>
          <p:nvPr/>
        </p:nvSpPr>
        <p:spPr>
          <a:xfrm>
            <a:off x="777240" y="3794760"/>
            <a:ext cx="5029200" cy="1463040"/>
          </a:xfrm>
          <a:prstGeom prst="rect">
            <a:avLst/>
          </a:prstGeom>
          <a:noFill/>
          <a:ln/>
        </p:spPr>
        <p:txBody>
          <a:bodyPr wrap="square" rtlCol="0" anchor="ctr"/>
          <a:lstStyle/>
          <a:p>
            <a:pPr indent="0" marL="0">
              <a:buNone/>
            </a:pPr>
            <a:r>
              <a:rPr lang="en-US" sz="1600" dirty="0">
                <a:solidFill>
                  <a:srgbClr val="22272E"/>
                </a:solidFill>
                <a:latin typeface="Calibri" pitchFamily="34" charset="0"/>
                <a:ea typeface="Calibri" pitchFamily="34" charset="-122"/>
                <a:cs typeface="Calibri" pitchFamily="34" charset="-120"/>
              </a:rPr>
              <a:t>20–30 minutes. Open the task card. Run the checklist. Ship the artifact. React ✓ in the cohort channel.</a:t>
            </a:r>
            <a:endParaRPr lang="en-US" sz="1600" dirty="0"/>
          </a:p>
        </p:txBody>
      </p:sp>
      <p:sp>
        <p:nvSpPr>
          <p:cNvPr id="9" name="Text 7"/>
          <p:cNvSpPr/>
          <p:nvPr/>
        </p:nvSpPr>
        <p:spPr>
          <a:xfrm>
            <a:off x="777240" y="5669280"/>
            <a:ext cx="5029200" cy="457200"/>
          </a:xfrm>
          <a:prstGeom prst="rect">
            <a:avLst/>
          </a:prstGeom>
          <a:noFill/>
          <a:ln/>
        </p:spPr>
        <p:txBody>
          <a:bodyPr wrap="square" rtlCol="0" anchor="ctr"/>
          <a:lstStyle/>
          <a:p>
            <a:pPr indent="0" marL="0">
              <a:buNone/>
            </a:pPr>
            <a:r>
              <a:rPr lang="en-US" sz="1400" b="1" i="1" dirty="0">
                <a:solidFill>
                  <a:srgbClr val="1B2A4A"/>
                </a:solidFill>
                <a:latin typeface="Calibri" pitchFamily="34" charset="0"/>
                <a:ea typeface="Calibri" pitchFamily="34" charset="-122"/>
                <a:cs typeface="Calibri" pitchFamily="34" charset="-120"/>
              </a:rPr>
              <a:t>AI drafts. The watchman decides.</a:t>
            </a:r>
            <a:endParaRPr lang="en-US" sz="1400" dirty="0"/>
          </a:p>
        </p:txBody>
      </p:sp>
      <p:sp>
        <p:nvSpPr>
          <p:cNvPr id="10" name="Shape 8"/>
          <p:cNvSpPr/>
          <p:nvPr/>
        </p:nvSpPr>
        <p:spPr>
          <a:xfrm>
            <a:off x="6217920" y="3291840"/>
            <a:ext cx="5394960" cy="3017520"/>
          </a:xfrm>
          <a:prstGeom prst="rect">
            <a:avLst/>
          </a:prstGeom>
          <a:solidFill>
            <a:srgbClr val="A8742A"/>
          </a:solidFill>
          <a:ln w="12700">
            <a:solidFill>
              <a:srgbClr val="A8742A"/>
            </a:solidFill>
            <a:prstDash val="solid"/>
          </a:ln>
        </p:spPr>
      </p:sp>
      <p:sp>
        <p:nvSpPr>
          <p:cNvPr id="11" name="Text 9"/>
          <p:cNvSpPr/>
          <p:nvPr/>
        </p:nvSpPr>
        <p:spPr>
          <a:xfrm>
            <a:off x="6446520" y="3520440"/>
            <a:ext cx="5029200" cy="274320"/>
          </a:xfrm>
          <a:prstGeom prst="rect">
            <a:avLst/>
          </a:prstGeom>
          <a:noFill/>
          <a:ln/>
        </p:spPr>
        <p:txBody>
          <a:bodyPr wrap="square" rtlCol="0" anchor="ctr"/>
          <a:lstStyle/>
          <a:p>
            <a:pPr indent="0" marL="0">
              <a:buNone/>
            </a:pPr>
            <a:r>
              <a:rPr lang="en-US" sz="1100" b="1" spc="300" kern="0" dirty="0">
                <a:solidFill>
                  <a:srgbClr val="FFFFFF"/>
                </a:solidFill>
                <a:latin typeface="Calibri" pitchFamily="34" charset="0"/>
                <a:ea typeface="Calibri" pitchFamily="34" charset="-122"/>
                <a:cs typeface="Calibri" pitchFamily="34" charset="-120"/>
              </a:rPr>
              <a:t>SCRIPTURE ANCHOR</a:t>
            </a:r>
            <a:endParaRPr lang="en-US" sz="1100" dirty="0"/>
          </a:p>
        </p:txBody>
      </p:sp>
      <p:sp>
        <p:nvSpPr>
          <p:cNvPr id="12" name="Text 10"/>
          <p:cNvSpPr/>
          <p:nvPr/>
        </p:nvSpPr>
        <p:spPr>
          <a:xfrm>
            <a:off x="6446520" y="3840480"/>
            <a:ext cx="5029200" cy="502920"/>
          </a:xfrm>
          <a:prstGeom prst="rect">
            <a:avLst/>
          </a:prstGeom>
          <a:noFill/>
          <a:ln/>
        </p:spPr>
        <p:txBody>
          <a:bodyPr wrap="square"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Week 6 · Business Operations &amp; Stewardship</a:t>
            </a:r>
            <a:endParaRPr lang="en-US" sz="2000" dirty="0"/>
          </a:p>
        </p:txBody>
      </p:sp>
      <p:sp>
        <p:nvSpPr>
          <p:cNvPr id="13" name="Text 11"/>
          <p:cNvSpPr/>
          <p:nvPr/>
        </p:nvSpPr>
        <p:spPr>
          <a:xfrm>
            <a:off x="6446520" y="4434840"/>
            <a:ext cx="5029200" cy="548640"/>
          </a:xfrm>
          <a:prstGeom prst="rect">
            <a:avLst/>
          </a:prstGeom>
          <a:noFill/>
          <a:ln/>
        </p:spPr>
        <p:txBody>
          <a:bodyPr wrap="square" rtlCol="0" anchor="ctr"/>
          <a:lstStyle/>
          <a:p>
            <a:pPr indent="0" marL="0">
              <a:buNone/>
            </a:pPr>
            <a:r>
              <a:rPr lang="en-US" sz="1800" i="1" dirty="0">
                <a:solidFill>
                  <a:srgbClr val="FFFFFF"/>
                </a:solidFill>
                <a:latin typeface="Calibri" pitchFamily="34" charset="0"/>
                <a:ea typeface="Calibri" pitchFamily="34" charset="-122"/>
                <a:cs typeface="Calibri" pitchFamily="34" charset="-120"/>
              </a:rPr>
              <a:t>Luke 16:10–11</a:t>
            </a:r>
            <a:endParaRPr lang="en-US" sz="1800" dirty="0"/>
          </a:p>
        </p:txBody>
      </p:sp>
      <p:sp>
        <p:nvSpPr>
          <p:cNvPr id="14" name="Text 12"/>
          <p:cNvSpPr/>
          <p:nvPr/>
        </p:nvSpPr>
        <p:spPr>
          <a:xfrm>
            <a:off x="6446520" y="5669280"/>
            <a:ext cx="5029200" cy="365760"/>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Read aloud at the open and the close.</a:t>
            </a:r>
            <a:endParaRPr lang="en-US" sz="1300" dirty="0"/>
          </a:p>
        </p:txBody>
      </p:sp>
      <p:sp>
        <p:nvSpPr>
          <p:cNvPr id="15" name="Text 13"/>
          <p:cNvSpPr/>
          <p:nvPr/>
        </p:nvSpPr>
        <p:spPr>
          <a:xfrm>
            <a:off x="548640" y="6492240"/>
            <a:ext cx="7315200" cy="274320"/>
          </a:xfrm>
          <a:prstGeom prst="rect">
            <a:avLst/>
          </a:prstGeom>
          <a:noFill/>
          <a:ln/>
        </p:spPr>
        <p:txBody>
          <a:bodyPr wrap="square" rtlCol="0" anchor="ctr"/>
          <a:lstStyle/>
          <a:p>
            <a:pPr indent="0" marL="0">
              <a:buNone/>
            </a:pPr>
            <a:r>
              <a:rPr lang="en-US" sz="1000" i="1" dirty="0">
                <a:solidFill>
                  <a:srgbClr val="5B6470"/>
                </a:solidFill>
                <a:latin typeface="Calibri" pitchFamily="34" charset="0"/>
                <a:ea typeface="Calibri" pitchFamily="34" charset="-122"/>
                <a:cs typeface="Calibri" pitchFamily="34" charset="-120"/>
              </a:rPr>
              <a:t>Week 6 · Business Operations &amp; Stewardship · Task 2</a:t>
            </a:r>
            <a:endParaRPr lang="en-US" sz="1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0972800" cy="365760"/>
          </a:xfrm>
          <a:prstGeom prst="rect">
            <a:avLst/>
          </a:prstGeom>
          <a:noFill/>
          <a:ln/>
        </p:spPr>
        <p:txBody>
          <a:bodyPr wrap="square" rtlCol="0" anchor="ctr"/>
          <a:lstStyle/>
          <a:p>
            <a:pPr indent="0" marL="0">
              <a:buNone/>
            </a:pPr>
            <a:r>
              <a:rPr lang="en-US" sz="1100" b="1" spc="400" kern="0" dirty="0">
                <a:solidFill>
                  <a:srgbClr val="A8742A"/>
                </a:solidFill>
                <a:latin typeface="Calibri" pitchFamily="34" charset="0"/>
                <a:ea typeface="Calibri" pitchFamily="34" charset="-122"/>
                <a:cs typeface="Calibri" pitchFamily="34" charset="-120"/>
              </a:rPr>
              <a:t>WEEK 6 · TASK 3 · FRIDAY</a:t>
            </a:r>
            <a:endParaRPr lang="en-US" sz="1100" dirty="0"/>
          </a:p>
        </p:txBody>
      </p:sp>
      <p:sp>
        <p:nvSpPr>
          <p:cNvPr id="3" name="Text 1"/>
          <p:cNvSpPr/>
          <p:nvPr/>
        </p:nvSpPr>
        <p:spPr>
          <a:xfrm>
            <a:off x="548640" y="822960"/>
            <a:ext cx="11155680" cy="1280160"/>
          </a:xfrm>
          <a:prstGeom prst="rect">
            <a:avLst/>
          </a:prstGeom>
          <a:noFill/>
          <a:ln/>
        </p:spPr>
        <p:txBody>
          <a:bodyPr wrap="square" rtlCol="0" anchor="t"/>
          <a:lstStyle/>
          <a:p>
            <a:pPr indent="0" marL="0">
              <a:buNone/>
            </a:pPr>
            <a:r>
              <a:rPr lang="en-US" sz="3600" b="1" dirty="0">
                <a:solidFill>
                  <a:srgbClr val="1B2A4A"/>
                </a:solidFill>
                <a:latin typeface="Calibri" pitchFamily="34" charset="0"/>
                <a:ea typeface="Calibri" pitchFamily="34" charset="-122"/>
                <a:cs typeface="Calibri" pitchFamily="34" charset="-120"/>
              </a:rPr>
              <a:t>Tithe-First Budget</a:t>
            </a:r>
            <a:endParaRPr lang="en-US" sz="3600" dirty="0"/>
          </a:p>
        </p:txBody>
      </p:sp>
      <p:sp>
        <p:nvSpPr>
          <p:cNvPr id="4" name="Text 2"/>
          <p:cNvSpPr/>
          <p:nvPr/>
        </p:nvSpPr>
        <p:spPr>
          <a:xfrm>
            <a:off x="548640" y="2103120"/>
            <a:ext cx="10972800" cy="731520"/>
          </a:xfrm>
          <a:prstGeom prst="rect">
            <a:avLst/>
          </a:prstGeom>
          <a:noFill/>
          <a:ln/>
        </p:spPr>
        <p:txBody>
          <a:bodyPr wrap="square" rtlCol="0" anchor="ctr"/>
          <a:lstStyle/>
          <a:p>
            <a:pPr indent="0" marL="0">
              <a:buNone/>
            </a:pPr>
            <a:r>
              <a:rPr lang="en-US" sz="1900" i="1" dirty="0">
                <a:solidFill>
                  <a:srgbClr val="5B6470"/>
                </a:solidFill>
                <a:latin typeface="Calibri" pitchFamily="34" charset="0"/>
                <a:ea typeface="Calibri" pitchFamily="34" charset="-122"/>
                <a:cs typeface="Calibri" pitchFamily="34" charset="-120"/>
              </a:rPr>
              <a:t>Giving comes off the top. AI drafts; you commit.</a:t>
            </a:r>
            <a:endParaRPr lang="en-US" sz="1900" dirty="0"/>
          </a:p>
        </p:txBody>
      </p:sp>
      <p:sp>
        <p:nvSpPr>
          <p:cNvPr id="5" name="Shape 3"/>
          <p:cNvSpPr/>
          <p:nvPr/>
        </p:nvSpPr>
        <p:spPr>
          <a:xfrm>
            <a:off x="548640" y="3291840"/>
            <a:ext cx="5486400" cy="3017520"/>
          </a:xfrm>
          <a:prstGeom prst="rect">
            <a:avLst/>
          </a:prstGeom>
          <a:solidFill>
            <a:srgbClr val="F4F1EA"/>
          </a:solidFill>
          <a:ln w="12700">
            <a:solidFill>
              <a:srgbClr val="D8DCE2"/>
            </a:solidFill>
            <a:prstDash val="solid"/>
          </a:ln>
        </p:spPr>
      </p:sp>
      <p:sp>
        <p:nvSpPr>
          <p:cNvPr id="6" name="Shape 4"/>
          <p:cNvSpPr/>
          <p:nvPr/>
        </p:nvSpPr>
        <p:spPr>
          <a:xfrm>
            <a:off x="548640" y="3291840"/>
            <a:ext cx="73152" cy="3017520"/>
          </a:xfrm>
          <a:prstGeom prst="rect">
            <a:avLst/>
          </a:prstGeom>
          <a:solidFill>
            <a:srgbClr val="1B2A4A"/>
          </a:solidFill>
          <a:ln w="12700">
            <a:solidFill>
              <a:srgbClr val="1B2A4A"/>
            </a:solidFill>
            <a:prstDash val="solid"/>
          </a:ln>
        </p:spPr>
      </p:sp>
      <p:sp>
        <p:nvSpPr>
          <p:cNvPr id="7" name="Text 5"/>
          <p:cNvSpPr/>
          <p:nvPr/>
        </p:nvSpPr>
        <p:spPr>
          <a:xfrm>
            <a:off x="777240" y="3474720"/>
            <a:ext cx="5029200" cy="274320"/>
          </a:xfrm>
          <a:prstGeom prst="rect">
            <a:avLst/>
          </a:prstGeom>
          <a:noFill/>
          <a:ln/>
        </p:spPr>
        <p:txBody>
          <a:bodyPr wrap="square" rtlCol="0" anchor="ctr"/>
          <a:lstStyle/>
          <a:p>
            <a:pPr indent="0" marL="0">
              <a:buNone/>
            </a:pPr>
            <a:r>
              <a:rPr lang="en-US" sz="1100" b="1" spc="300" kern="0" dirty="0">
                <a:solidFill>
                  <a:srgbClr val="CE8E31"/>
                </a:solidFill>
                <a:latin typeface="Calibri" pitchFamily="34" charset="0"/>
                <a:ea typeface="Calibri" pitchFamily="34" charset="-122"/>
                <a:cs typeface="Calibri" pitchFamily="34" charset="-120"/>
              </a:rPr>
              <a:t>THE ACTION</a:t>
            </a:r>
            <a:endParaRPr lang="en-US" sz="1100" dirty="0"/>
          </a:p>
        </p:txBody>
      </p:sp>
      <p:sp>
        <p:nvSpPr>
          <p:cNvPr id="8" name="Text 6"/>
          <p:cNvSpPr/>
          <p:nvPr/>
        </p:nvSpPr>
        <p:spPr>
          <a:xfrm>
            <a:off x="777240" y="3794760"/>
            <a:ext cx="5029200" cy="1463040"/>
          </a:xfrm>
          <a:prstGeom prst="rect">
            <a:avLst/>
          </a:prstGeom>
          <a:noFill/>
          <a:ln/>
        </p:spPr>
        <p:txBody>
          <a:bodyPr wrap="square" rtlCol="0" anchor="ctr"/>
          <a:lstStyle/>
          <a:p>
            <a:pPr indent="0" marL="0">
              <a:buNone/>
            </a:pPr>
            <a:r>
              <a:rPr lang="en-US" sz="1600" dirty="0">
                <a:solidFill>
                  <a:srgbClr val="22272E"/>
                </a:solidFill>
                <a:latin typeface="Calibri" pitchFamily="34" charset="0"/>
                <a:ea typeface="Calibri" pitchFamily="34" charset="-122"/>
                <a:cs typeface="Calibri" pitchFamily="34" charset="-120"/>
              </a:rPr>
              <a:t>20–30 minutes. Open the task card. Run the checklist. Ship the artifact. React ✓ in the cohort channel.</a:t>
            </a:r>
            <a:endParaRPr lang="en-US" sz="1600" dirty="0"/>
          </a:p>
        </p:txBody>
      </p:sp>
      <p:sp>
        <p:nvSpPr>
          <p:cNvPr id="9" name="Text 7"/>
          <p:cNvSpPr/>
          <p:nvPr/>
        </p:nvSpPr>
        <p:spPr>
          <a:xfrm>
            <a:off x="777240" y="5669280"/>
            <a:ext cx="5029200" cy="457200"/>
          </a:xfrm>
          <a:prstGeom prst="rect">
            <a:avLst/>
          </a:prstGeom>
          <a:noFill/>
          <a:ln/>
        </p:spPr>
        <p:txBody>
          <a:bodyPr wrap="square" rtlCol="0" anchor="ctr"/>
          <a:lstStyle/>
          <a:p>
            <a:pPr indent="0" marL="0">
              <a:buNone/>
            </a:pPr>
            <a:r>
              <a:rPr lang="en-US" sz="1400" b="1" i="1" dirty="0">
                <a:solidFill>
                  <a:srgbClr val="1B2A4A"/>
                </a:solidFill>
                <a:latin typeface="Calibri" pitchFamily="34" charset="0"/>
                <a:ea typeface="Calibri" pitchFamily="34" charset="-122"/>
                <a:cs typeface="Calibri" pitchFamily="34" charset="-120"/>
              </a:rPr>
              <a:t>AI drafts. The watchman decides.</a:t>
            </a:r>
            <a:endParaRPr lang="en-US" sz="1400" dirty="0"/>
          </a:p>
        </p:txBody>
      </p:sp>
      <p:sp>
        <p:nvSpPr>
          <p:cNvPr id="10" name="Shape 8"/>
          <p:cNvSpPr/>
          <p:nvPr/>
        </p:nvSpPr>
        <p:spPr>
          <a:xfrm>
            <a:off x="6217920" y="3291840"/>
            <a:ext cx="5394960" cy="3017520"/>
          </a:xfrm>
          <a:prstGeom prst="rect">
            <a:avLst/>
          </a:prstGeom>
          <a:solidFill>
            <a:srgbClr val="A8742A"/>
          </a:solidFill>
          <a:ln w="12700">
            <a:solidFill>
              <a:srgbClr val="A8742A"/>
            </a:solidFill>
            <a:prstDash val="solid"/>
          </a:ln>
        </p:spPr>
      </p:sp>
      <p:sp>
        <p:nvSpPr>
          <p:cNvPr id="11" name="Text 9"/>
          <p:cNvSpPr/>
          <p:nvPr/>
        </p:nvSpPr>
        <p:spPr>
          <a:xfrm>
            <a:off x="6446520" y="3520440"/>
            <a:ext cx="5029200" cy="274320"/>
          </a:xfrm>
          <a:prstGeom prst="rect">
            <a:avLst/>
          </a:prstGeom>
          <a:noFill/>
          <a:ln/>
        </p:spPr>
        <p:txBody>
          <a:bodyPr wrap="square" rtlCol="0" anchor="ctr"/>
          <a:lstStyle/>
          <a:p>
            <a:pPr indent="0" marL="0">
              <a:buNone/>
            </a:pPr>
            <a:r>
              <a:rPr lang="en-US" sz="1100" b="1" spc="300" kern="0" dirty="0">
                <a:solidFill>
                  <a:srgbClr val="FFFFFF"/>
                </a:solidFill>
                <a:latin typeface="Calibri" pitchFamily="34" charset="0"/>
                <a:ea typeface="Calibri" pitchFamily="34" charset="-122"/>
                <a:cs typeface="Calibri" pitchFamily="34" charset="-120"/>
              </a:rPr>
              <a:t>SCRIPTURE ANCHOR</a:t>
            </a:r>
            <a:endParaRPr lang="en-US" sz="1100" dirty="0"/>
          </a:p>
        </p:txBody>
      </p:sp>
      <p:sp>
        <p:nvSpPr>
          <p:cNvPr id="12" name="Text 10"/>
          <p:cNvSpPr/>
          <p:nvPr/>
        </p:nvSpPr>
        <p:spPr>
          <a:xfrm>
            <a:off x="6446520" y="3840480"/>
            <a:ext cx="5029200" cy="502920"/>
          </a:xfrm>
          <a:prstGeom prst="rect">
            <a:avLst/>
          </a:prstGeom>
          <a:noFill/>
          <a:ln/>
        </p:spPr>
        <p:txBody>
          <a:bodyPr wrap="square"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Week 6 · Business Operations &amp; Stewardship</a:t>
            </a:r>
            <a:endParaRPr lang="en-US" sz="2000" dirty="0"/>
          </a:p>
        </p:txBody>
      </p:sp>
      <p:sp>
        <p:nvSpPr>
          <p:cNvPr id="13" name="Text 11"/>
          <p:cNvSpPr/>
          <p:nvPr/>
        </p:nvSpPr>
        <p:spPr>
          <a:xfrm>
            <a:off x="6446520" y="4434840"/>
            <a:ext cx="5029200" cy="548640"/>
          </a:xfrm>
          <a:prstGeom prst="rect">
            <a:avLst/>
          </a:prstGeom>
          <a:noFill/>
          <a:ln/>
        </p:spPr>
        <p:txBody>
          <a:bodyPr wrap="square" rtlCol="0" anchor="ctr"/>
          <a:lstStyle/>
          <a:p>
            <a:pPr indent="0" marL="0">
              <a:buNone/>
            </a:pPr>
            <a:r>
              <a:rPr lang="en-US" sz="1800" i="1" dirty="0">
                <a:solidFill>
                  <a:srgbClr val="FFFFFF"/>
                </a:solidFill>
                <a:latin typeface="Calibri" pitchFamily="34" charset="0"/>
                <a:ea typeface="Calibri" pitchFamily="34" charset="-122"/>
                <a:cs typeface="Calibri" pitchFamily="34" charset="-120"/>
              </a:rPr>
              <a:t>Luke 16:10–11</a:t>
            </a:r>
            <a:endParaRPr lang="en-US" sz="1800" dirty="0"/>
          </a:p>
        </p:txBody>
      </p:sp>
      <p:sp>
        <p:nvSpPr>
          <p:cNvPr id="14" name="Text 12"/>
          <p:cNvSpPr/>
          <p:nvPr/>
        </p:nvSpPr>
        <p:spPr>
          <a:xfrm>
            <a:off x="6446520" y="5669280"/>
            <a:ext cx="5029200" cy="365760"/>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Read aloud at the open and the close.</a:t>
            </a:r>
            <a:endParaRPr lang="en-US" sz="1300" dirty="0"/>
          </a:p>
        </p:txBody>
      </p:sp>
      <p:sp>
        <p:nvSpPr>
          <p:cNvPr id="15" name="Text 13"/>
          <p:cNvSpPr/>
          <p:nvPr/>
        </p:nvSpPr>
        <p:spPr>
          <a:xfrm>
            <a:off x="548640" y="6492240"/>
            <a:ext cx="7315200" cy="274320"/>
          </a:xfrm>
          <a:prstGeom prst="rect">
            <a:avLst/>
          </a:prstGeom>
          <a:noFill/>
          <a:ln/>
        </p:spPr>
        <p:txBody>
          <a:bodyPr wrap="square" rtlCol="0" anchor="ctr"/>
          <a:lstStyle/>
          <a:p>
            <a:pPr indent="0" marL="0">
              <a:buNone/>
            </a:pPr>
            <a:r>
              <a:rPr lang="en-US" sz="1000" i="1" dirty="0">
                <a:solidFill>
                  <a:srgbClr val="5B6470"/>
                </a:solidFill>
                <a:latin typeface="Calibri" pitchFamily="34" charset="0"/>
                <a:ea typeface="Calibri" pitchFamily="34" charset="-122"/>
                <a:cs typeface="Calibri" pitchFamily="34" charset="-120"/>
              </a:rPr>
              <a:t>Week 6 · Business Operations &amp; Stewardship · Task 3</a:t>
            </a:r>
            <a:endParaRPr lang="en-US" sz="1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1B2A4A"/>
        </a:solidFill>
      </p:bgPr>
    </p:bg>
    <p:spTree>
      <p:nvGrpSpPr>
        <p:cNvPr id="1" name=""/>
        <p:cNvGrpSpPr/>
        <p:nvPr/>
      </p:nvGrpSpPr>
      <p:grpSpPr>
        <a:xfrm>
          <a:off x="0" y="0"/>
          <a:ext cx="0" cy="0"/>
          <a:chOff x="0" y="0"/>
          <a:chExt cx="0" cy="0"/>
        </a:xfrm>
      </p:grpSpPr>
      <p:sp>
        <p:nvSpPr>
          <p:cNvPr id="2" name="Text 0"/>
          <p:cNvSpPr/>
          <p:nvPr/>
        </p:nvSpPr>
        <p:spPr>
          <a:xfrm>
            <a:off x="548640" y="1463040"/>
            <a:ext cx="10972800" cy="457200"/>
          </a:xfrm>
          <a:prstGeom prst="rect">
            <a:avLst/>
          </a:prstGeom>
          <a:noFill/>
          <a:ln/>
        </p:spPr>
        <p:txBody>
          <a:bodyPr wrap="square" rtlCol="0" anchor="ctr"/>
          <a:lstStyle/>
          <a:p>
            <a:pPr indent="0" marL="0">
              <a:buNone/>
            </a:pPr>
            <a:r>
              <a:rPr lang="en-US" sz="1400" b="1" spc="500" kern="0" dirty="0">
                <a:solidFill>
                  <a:srgbClr val="A8742A"/>
                </a:solidFill>
                <a:latin typeface="Calibri" pitchFamily="34" charset="0"/>
                <a:ea typeface="Calibri" pitchFamily="34" charset="-122"/>
                <a:cs typeface="Calibri" pitchFamily="34" charset="-120"/>
              </a:rPr>
              <a:t>WEEK 7  ·  BLOCK III — BUSINESS LAYER</a:t>
            </a:r>
            <a:endParaRPr lang="en-US" sz="1400" dirty="0"/>
          </a:p>
        </p:txBody>
      </p:sp>
      <p:sp>
        <p:nvSpPr>
          <p:cNvPr id="3" name="Text 1"/>
          <p:cNvSpPr/>
          <p:nvPr/>
        </p:nvSpPr>
        <p:spPr>
          <a:xfrm>
            <a:off x="548640" y="1920240"/>
            <a:ext cx="11338560" cy="1371600"/>
          </a:xfrm>
          <a:prstGeom prst="rect">
            <a:avLst/>
          </a:prstGeom>
          <a:noFill/>
          <a:ln/>
        </p:spPr>
        <p:txBody>
          <a:bodyPr wrap="square" rtlCol="0" anchor="ctr"/>
          <a:lstStyle/>
          <a:p>
            <a:pPr indent="0" marL="0">
              <a:buNone/>
            </a:pPr>
            <a:r>
              <a:rPr lang="en-US" sz="5400" b="1" dirty="0">
                <a:solidFill>
                  <a:srgbClr val="FFFFFF"/>
                </a:solidFill>
                <a:latin typeface="Calibri" pitchFamily="34" charset="0"/>
                <a:ea typeface="Calibri" pitchFamily="34" charset="-122"/>
                <a:cs typeface="Calibri" pitchFamily="34" charset="-120"/>
              </a:rPr>
              <a:t>COWORK AS OPERATOR INFRA</a:t>
            </a:r>
            <a:endParaRPr lang="en-US" sz="5400" dirty="0"/>
          </a:p>
        </p:txBody>
      </p:sp>
      <p:sp>
        <p:nvSpPr>
          <p:cNvPr id="4" name="Shape 2"/>
          <p:cNvSpPr/>
          <p:nvPr/>
        </p:nvSpPr>
        <p:spPr>
          <a:xfrm>
            <a:off x="548640" y="3383280"/>
            <a:ext cx="1828800" cy="73152"/>
          </a:xfrm>
          <a:prstGeom prst="rect">
            <a:avLst/>
          </a:prstGeom>
          <a:solidFill>
            <a:srgbClr val="A8742A"/>
          </a:solidFill>
          <a:ln w="12700">
            <a:solidFill>
              <a:srgbClr val="A8742A"/>
            </a:solidFill>
            <a:prstDash val="solid"/>
          </a:ln>
        </p:spPr>
      </p:sp>
      <p:sp>
        <p:nvSpPr>
          <p:cNvPr id="5" name="Text 3"/>
          <p:cNvSpPr/>
          <p:nvPr/>
        </p:nvSpPr>
        <p:spPr>
          <a:xfrm>
            <a:off x="548640" y="3566160"/>
            <a:ext cx="10515600" cy="1097280"/>
          </a:xfrm>
          <a:prstGeom prst="rect">
            <a:avLst/>
          </a:prstGeom>
          <a:noFill/>
          <a:ln/>
        </p:spPr>
        <p:txBody>
          <a:bodyPr wrap="square" rtlCol="0" anchor="ctr"/>
          <a:lstStyle/>
          <a:p>
            <a:pPr indent="0" marL="0">
              <a:buNone/>
            </a:pPr>
            <a:r>
              <a:rPr lang="en-US" sz="2200" i="1" dirty="0">
                <a:solidFill>
                  <a:srgbClr val="94A3B8"/>
                </a:solidFill>
                <a:latin typeface="Calibri" pitchFamily="34" charset="0"/>
                <a:ea typeface="Calibri" pitchFamily="34" charset="-122"/>
                <a:cs typeface="Calibri" pitchFamily="34" charset="-120"/>
              </a:rPr>
              <a:t>Cowork's inventory + redlines mapped, a reusable prompt library you'll actually use, and a multi-step research workflow shipped on something real.</a:t>
            </a:r>
            <a:endParaRPr lang="en-US" sz="2200" dirty="0"/>
          </a:p>
        </p:txBody>
      </p:sp>
      <p:sp>
        <p:nvSpPr>
          <p:cNvPr id="6" name="Text 4"/>
          <p:cNvSpPr/>
          <p:nvPr/>
        </p:nvSpPr>
        <p:spPr>
          <a:xfrm>
            <a:off x="548640" y="5029200"/>
            <a:ext cx="10972800" cy="274320"/>
          </a:xfrm>
          <a:prstGeom prst="rect">
            <a:avLst/>
          </a:prstGeom>
          <a:noFill/>
          <a:ln/>
        </p:spPr>
        <p:txBody>
          <a:bodyPr wrap="square" rtlCol="0" anchor="ctr"/>
          <a:lstStyle/>
          <a:p>
            <a:pPr indent="0" marL="0">
              <a:buNone/>
            </a:pPr>
            <a:r>
              <a:rPr lang="en-US" sz="1000" b="1" spc="400" kern="0" dirty="0">
                <a:solidFill>
                  <a:srgbClr val="CE8E31"/>
                </a:solidFill>
                <a:latin typeface="Calibri" pitchFamily="34" charset="0"/>
                <a:ea typeface="Calibri" pitchFamily="34" charset="-122"/>
                <a:cs typeface="Calibri" pitchFamily="34" charset="-120"/>
              </a:rPr>
              <a:t>SCRIPTURE</a:t>
            </a:r>
            <a:endParaRPr lang="en-US" sz="1000" dirty="0"/>
          </a:p>
        </p:txBody>
      </p:sp>
      <p:sp>
        <p:nvSpPr>
          <p:cNvPr id="7" name="Text 5"/>
          <p:cNvSpPr/>
          <p:nvPr/>
        </p:nvSpPr>
        <p:spPr>
          <a:xfrm>
            <a:off x="548640" y="5303520"/>
            <a:ext cx="10972800" cy="457200"/>
          </a:xfrm>
          <a:prstGeom prst="rect">
            <a:avLst/>
          </a:prstGeom>
          <a:noFill/>
          <a:ln/>
        </p:spPr>
        <p:txBody>
          <a:bodyPr wrap="square" rtlCol="0" anchor="ctr"/>
          <a:lstStyle/>
          <a:p>
            <a:pPr indent="0" marL="0">
              <a:buNone/>
            </a:pPr>
            <a:r>
              <a:rPr lang="en-US" sz="2000" dirty="0">
                <a:solidFill>
                  <a:srgbClr val="FFFFFF"/>
                </a:solidFill>
                <a:latin typeface="Calibri" pitchFamily="34" charset="0"/>
                <a:ea typeface="Calibri" pitchFamily="34" charset="-122"/>
                <a:cs typeface="Calibri" pitchFamily="34" charset="-120"/>
              </a:rPr>
              <a:t>Proverbs 16:3</a:t>
            </a:r>
            <a:endParaRPr lang="en-US" sz="2000" dirty="0"/>
          </a:p>
        </p:txBody>
      </p:sp>
      <p:sp>
        <p:nvSpPr>
          <p:cNvPr id="8" name="Text 6"/>
          <p:cNvSpPr/>
          <p:nvPr/>
        </p:nvSpPr>
        <p:spPr>
          <a:xfrm>
            <a:off x="548640" y="6492240"/>
            <a:ext cx="7315200" cy="274320"/>
          </a:xfrm>
          <a:prstGeom prst="rect">
            <a:avLst/>
          </a:prstGeom>
          <a:noFill/>
          <a:ln/>
        </p:spPr>
        <p:txBody>
          <a:bodyPr wrap="square" rtlCol="0" anchor="ctr"/>
          <a:lstStyle/>
          <a:p>
            <a:pPr indent="0" marL="0">
              <a:buNone/>
            </a:pPr>
            <a:r>
              <a:rPr lang="en-US" sz="1000" i="1" dirty="0">
                <a:solidFill>
                  <a:srgbClr val="5B6470"/>
                </a:solidFill>
                <a:latin typeface="Calibri" pitchFamily="34" charset="0"/>
                <a:ea typeface="Calibri" pitchFamily="34" charset="-122"/>
                <a:cs typeface="Calibri" pitchFamily="34" charset="-120"/>
              </a:rPr>
              <a:t>Week 7 · Cowork as Operator Infra</a:t>
            </a:r>
            <a:endParaRPr lang="en-US" sz="1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0972800" cy="365760"/>
          </a:xfrm>
          <a:prstGeom prst="rect">
            <a:avLst/>
          </a:prstGeom>
          <a:noFill/>
          <a:ln/>
        </p:spPr>
        <p:txBody>
          <a:bodyPr wrap="square" rtlCol="0" anchor="ctr"/>
          <a:lstStyle/>
          <a:p>
            <a:pPr indent="0" marL="0">
              <a:buNone/>
            </a:pPr>
            <a:r>
              <a:rPr lang="en-US" sz="1100" b="1" spc="400" kern="0" dirty="0">
                <a:solidFill>
                  <a:srgbClr val="A8742A"/>
                </a:solidFill>
                <a:latin typeface="Calibri" pitchFamily="34" charset="0"/>
                <a:ea typeface="Calibri" pitchFamily="34" charset="-122"/>
                <a:cs typeface="Calibri" pitchFamily="34" charset="-120"/>
              </a:rPr>
              <a:t>WEEK 7 · TASK 1 · MONDAY</a:t>
            </a:r>
            <a:endParaRPr lang="en-US" sz="1100" dirty="0"/>
          </a:p>
        </p:txBody>
      </p:sp>
      <p:sp>
        <p:nvSpPr>
          <p:cNvPr id="3" name="Text 1"/>
          <p:cNvSpPr/>
          <p:nvPr/>
        </p:nvSpPr>
        <p:spPr>
          <a:xfrm>
            <a:off x="548640" y="822960"/>
            <a:ext cx="11155680" cy="1280160"/>
          </a:xfrm>
          <a:prstGeom prst="rect">
            <a:avLst/>
          </a:prstGeom>
          <a:noFill/>
          <a:ln/>
        </p:spPr>
        <p:txBody>
          <a:bodyPr wrap="square" rtlCol="0" anchor="t"/>
          <a:lstStyle/>
          <a:p>
            <a:pPr indent="0" marL="0">
              <a:buNone/>
            </a:pPr>
            <a:r>
              <a:rPr lang="en-US" sz="3600" b="1" dirty="0">
                <a:solidFill>
                  <a:srgbClr val="1B2A4A"/>
                </a:solidFill>
                <a:latin typeface="Calibri" pitchFamily="34" charset="0"/>
                <a:ea typeface="Calibri" pitchFamily="34" charset="-122"/>
                <a:cs typeface="Calibri" pitchFamily="34" charset="-120"/>
              </a:rPr>
              <a:t>Cowork Inventory + Redlines</a:t>
            </a:r>
            <a:endParaRPr lang="en-US" sz="3600" dirty="0"/>
          </a:p>
        </p:txBody>
      </p:sp>
      <p:sp>
        <p:nvSpPr>
          <p:cNvPr id="4" name="Text 2"/>
          <p:cNvSpPr/>
          <p:nvPr/>
        </p:nvSpPr>
        <p:spPr>
          <a:xfrm>
            <a:off x="548640" y="2103120"/>
            <a:ext cx="10972800" cy="731520"/>
          </a:xfrm>
          <a:prstGeom prst="rect">
            <a:avLst/>
          </a:prstGeom>
          <a:noFill/>
          <a:ln/>
        </p:spPr>
        <p:txBody>
          <a:bodyPr wrap="square" rtlCol="0" anchor="ctr"/>
          <a:lstStyle/>
          <a:p>
            <a:pPr indent="0" marL="0">
              <a:buNone/>
            </a:pPr>
            <a:r>
              <a:rPr lang="en-US" sz="1900" i="1" dirty="0">
                <a:solidFill>
                  <a:srgbClr val="5B6470"/>
                </a:solidFill>
                <a:latin typeface="Calibri" pitchFamily="34" charset="0"/>
                <a:ea typeface="Calibri" pitchFamily="34" charset="-122"/>
                <a:cs typeface="Calibri" pitchFamily="34" charset="-120"/>
              </a:rPr>
              <a:t>Five things to automate end to end. Five things you never will.</a:t>
            </a:r>
            <a:endParaRPr lang="en-US" sz="1900" dirty="0"/>
          </a:p>
        </p:txBody>
      </p:sp>
      <p:sp>
        <p:nvSpPr>
          <p:cNvPr id="5" name="Shape 3"/>
          <p:cNvSpPr/>
          <p:nvPr/>
        </p:nvSpPr>
        <p:spPr>
          <a:xfrm>
            <a:off x="548640" y="3291840"/>
            <a:ext cx="5486400" cy="3017520"/>
          </a:xfrm>
          <a:prstGeom prst="rect">
            <a:avLst/>
          </a:prstGeom>
          <a:solidFill>
            <a:srgbClr val="F4F1EA"/>
          </a:solidFill>
          <a:ln w="12700">
            <a:solidFill>
              <a:srgbClr val="D8DCE2"/>
            </a:solidFill>
            <a:prstDash val="solid"/>
          </a:ln>
        </p:spPr>
      </p:sp>
      <p:sp>
        <p:nvSpPr>
          <p:cNvPr id="6" name="Shape 4"/>
          <p:cNvSpPr/>
          <p:nvPr/>
        </p:nvSpPr>
        <p:spPr>
          <a:xfrm>
            <a:off x="548640" y="3291840"/>
            <a:ext cx="73152" cy="3017520"/>
          </a:xfrm>
          <a:prstGeom prst="rect">
            <a:avLst/>
          </a:prstGeom>
          <a:solidFill>
            <a:srgbClr val="1B2A4A"/>
          </a:solidFill>
          <a:ln w="12700">
            <a:solidFill>
              <a:srgbClr val="1B2A4A"/>
            </a:solidFill>
            <a:prstDash val="solid"/>
          </a:ln>
        </p:spPr>
      </p:sp>
      <p:sp>
        <p:nvSpPr>
          <p:cNvPr id="7" name="Text 5"/>
          <p:cNvSpPr/>
          <p:nvPr/>
        </p:nvSpPr>
        <p:spPr>
          <a:xfrm>
            <a:off x="777240" y="3474720"/>
            <a:ext cx="5029200" cy="274320"/>
          </a:xfrm>
          <a:prstGeom prst="rect">
            <a:avLst/>
          </a:prstGeom>
          <a:noFill/>
          <a:ln/>
        </p:spPr>
        <p:txBody>
          <a:bodyPr wrap="square" rtlCol="0" anchor="ctr"/>
          <a:lstStyle/>
          <a:p>
            <a:pPr indent="0" marL="0">
              <a:buNone/>
            </a:pPr>
            <a:r>
              <a:rPr lang="en-US" sz="1100" b="1" spc="300" kern="0" dirty="0">
                <a:solidFill>
                  <a:srgbClr val="CE8E31"/>
                </a:solidFill>
                <a:latin typeface="Calibri" pitchFamily="34" charset="0"/>
                <a:ea typeface="Calibri" pitchFamily="34" charset="-122"/>
                <a:cs typeface="Calibri" pitchFamily="34" charset="-120"/>
              </a:rPr>
              <a:t>THE ACTION</a:t>
            </a:r>
            <a:endParaRPr lang="en-US" sz="1100" dirty="0"/>
          </a:p>
        </p:txBody>
      </p:sp>
      <p:sp>
        <p:nvSpPr>
          <p:cNvPr id="8" name="Text 6"/>
          <p:cNvSpPr/>
          <p:nvPr/>
        </p:nvSpPr>
        <p:spPr>
          <a:xfrm>
            <a:off x="777240" y="3794760"/>
            <a:ext cx="5029200" cy="1463040"/>
          </a:xfrm>
          <a:prstGeom prst="rect">
            <a:avLst/>
          </a:prstGeom>
          <a:noFill/>
          <a:ln/>
        </p:spPr>
        <p:txBody>
          <a:bodyPr wrap="square" rtlCol="0" anchor="ctr"/>
          <a:lstStyle/>
          <a:p>
            <a:pPr indent="0" marL="0">
              <a:buNone/>
            </a:pPr>
            <a:r>
              <a:rPr lang="en-US" sz="1600" dirty="0">
                <a:solidFill>
                  <a:srgbClr val="22272E"/>
                </a:solidFill>
                <a:latin typeface="Calibri" pitchFamily="34" charset="0"/>
                <a:ea typeface="Calibri" pitchFamily="34" charset="-122"/>
                <a:cs typeface="Calibri" pitchFamily="34" charset="-120"/>
              </a:rPr>
              <a:t>20–30 minutes. Open the task card. Run the checklist. Ship the artifact. React ✓ in the cohort channel.</a:t>
            </a:r>
            <a:endParaRPr lang="en-US" sz="1600" dirty="0"/>
          </a:p>
        </p:txBody>
      </p:sp>
      <p:sp>
        <p:nvSpPr>
          <p:cNvPr id="9" name="Text 7"/>
          <p:cNvSpPr/>
          <p:nvPr/>
        </p:nvSpPr>
        <p:spPr>
          <a:xfrm>
            <a:off x="777240" y="5669280"/>
            <a:ext cx="5029200" cy="457200"/>
          </a:xfrm>
          <a:prstGeom prst="rect">
            <a:avLst/>
          </a:prstGeom>
          <a:noFill/>
          <a:ln/>
        </p:spPr>
        <p:txBody>
          <a:bodyPr wrap="square" rtlCol="0" anchor="ctr"/>
          <a:lstStyle/>
          <a:p>
            <a:pPr indent="0" marL="0">
              <a:buNone/>
            </a:pPr>
            <a:r>
              <a:rPr lang="en-US" sz="1400" b="1" i="1" dirty="0">
                <a:solidFill>
                  <a:srgbClr val="1B2A4A"/>
                </a:solidFill>
                <a:latin typeface="Calibri" pitchFamily="34" charset="0"/>
                <a:ea typeface="Calibri" pitchFamily="34" charset="-122"/>
                <a:cs typeface="Calibri" pitchFamily="34" charset="-120"/>
              </a:rPr>
              <a:t>AI drafts. The watchman decides.</a:t>
            </a:r>
            <a:endParaRPr lang="en-US" sz="1400" dirty="0"/>
          </a:p>
        </p:txBody>
      </p:sp>
      <p:sp>
        <p:nvSpPr>
          <p:cNvPr id="10" name="Shape 8"/>
          <p:cNvSpPr/>
          <p:nvPr/>
        </p:nvSpPr>
        <p:spPr>
          <a:xfrm>
            <a:off x="6217920" y="3291840"/>
            <a:ext cx="5394960" cy="3017520"/>
          </a:xfrm>
          <a:prstGeom prst="rect">
            <a:avLst/>
          </a:prstGeom>
          <a:solidFill>
            <a:srgbClr val="A8742A"/>
          </a:solidFill>
          <a:ln w="12700">
            <a:solidFill>
              <a:srgbClr val="A8742A"/>
            </a:solidFill>
            <a:prstDash val="solid"/>
          </a:ln>
        </p:spPr>
      </p:sp>
      <p:sp>
        <p:nvSpPr>
          <p:cNvPr id="11" name="Text 9"/>
          <p:cNvSpPr/>
          <p:nvPr/>
        </p:nvSpPr>
        <p:spPr>
          <a:xfrm>
            <a:off x="6446520" y="3520440"/>
            <a:ext cx="5029200" cy="274320"/>
          </a:xfrm>
          <a:prstGeom prst="rect">
            <a:avLst/>
          </a:prstGeom>
          <a:noFill/>
          <a:ln/>
        </p:spPr>
        <p:txBody>
          <a:bodyPr wrap="square" rtlCol="0" anchor="ctr"/>
          <a:lstStyle/>
          <a:p>
            <a:pPr indent="0" marL="0">
              <a:buNone/>
            </a:pPr>
            <a:r>
              <a:rPr lang="en-US" sz="1100" b="1" spc="300" kern="0" dirty="0">
                <a:solidFill>
                  <a:srgbClr val="FFFFFF"/>
                </a:solidFill>
                <a:latin typeface="Calibri" pitchFamily="34" charset="0"/>
                <a:ea typeface="Calibri" pitchFamily="34" charset="-122"/>
                <a:cs typeface="Calibri" pitchFamily="34" charset="-120"/>
              </a:rPr>
              <a:t>SCRIPTURE ANCHOR</a:t>
            </a:r>
            <a:endParaRPr lang="en-US" sz="1100" dirty="0"/>
          </a:p>
        </p:txBody>
      </p:sp>
      <p:sp>
        <p:nvSpPr>
          <p:cNvPr id="12" name="Text 10"/>
          <p:cNvSpPr/>
          <p:nvPr/>
        </p:nvSpPr>
        <p:spPr>
          <a:xfrm>
            <a:off x="6446520" y="3840480"/>
            <a:ext cx="5029200" cy="502920"/>
          </a:xfrm>
          <a:prstGeom prst="rect">
            <a:avLst/>
          </a:prstGeom>
          <a:noFill/>
          <a:ln/>
        </p:spPr>
        <p:txBody>
          <a:bodyPr wrap="square"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Week 7 · Cowork as Operator Infra</a:t>
            </a:r>
            <a:endParaRPr lang="en-US" sz="2000" dirty="0"/>
          </a:p>
        </p:txBody>
      </p:sp>
      <p:sp>
        <p:nvSpPr>
          <p:cNvPr id="13" name="Text 11"/>
          <p:cNvSpPr/>
          <p:nvPr/>
        </p:nvSpPr>
        <p:spPr>
          <a:xfrm>
            <a:off x="6446520" y="4434840"/>
            <a:ext cx="5029200" cy="548640"/>
          </a:xfrm>
          <a:prstGeom prst="rect">
            <a:avLst/>
          </a:prstGeom>
          <a:noFill/>
          <a:ln/>
        </p:spPr>
        <p:txBody>
          <a:bodyPr wrap="square" rtlCol="0" anchor="ctr"/>
          <a:lstStyle/>
          <a:p>
            <a:pPr indent="0" marL="0">
              <a:buNone/>
            </a:pPr>
            <a:r>
              <a:rPr lang="en-US" sz="1800" i="1" dirty="0">
                <a:solidFill>
                  <a:srgbClr val="FFFFFF"/>
                </a:solidFill>
                <a:latin typeface="Calibri" pitchFamily="34" charset="0"/>
                <a:ea typeface="Calibri" pitchFamily="34" charset="-122"/>
                <a:cs typeface="Calibri" pitchFamily="34" charset="-120"/>
              </a:rPr>
              <a:t>Proverbs 16:3</a:t>
            </a:r>
            <a:endParaRPr lang="en-US" sz="1800" dirty="0"/>
          </a:p>
        </p:txBody>
      </p:sp>
      <p:sp>
        <p:nvSpPr>
          <p:cNvPr id="14" name="Text 12"/>
          <p:cNvSpPr/>
          <p:nvPr/>
        </p:nvSpPr>
        <p:spPr>
          <a:xfrm>
            <a:off x="6446520" y="5669280"/>
            <a:ext cx="5029200" cy="365760"/>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Read aloud at the open and the close.</a:t>
            </a:r>
            <a:endParaRPr lang="en-US" sz="1300" dirty="0"/>
          </a:p>
        </p:txBody>
      </p:sp>
      <p:sp>
        <p:nvSpPr>
          <p:cNvPr id="15" name="Text 13"/>
          <p:cNvSpPr/>
          <p:nvPr/>
        </p:nvSpPr>
        <p:spPr>
          <a:xfrm>
            <a:off x="548640" y="6492240"/>
            <a:ext cx="7315200" cy="274320"/>
          </a:xfrm>
          <a:prstGeom prst="rect">
            <a:avLst/>
          </a:prstGeom>
          <a:noFill/>
          <a:ln/>
        </p:spPr>
        <p:txBody>
          <a:bodyPr wrap="square" rtlCol="0" anchor="ctr"/>
          <a:lstStyle/>
          <a:p>
            <a:pPr indent="0" marL="0">
              <a:buNone/>
            </a:pPr>
            <a:r>
              <a:rPr lang="en-US" sz="1000" i="1" dirty="0">
                <a:solidFill>
                  <a:srgbClr val="5B6470"/>
                </a:solidFill>
                <a:latin typeface="Calibri" pitchFamily="34" charset="0"/>
                <a:ea typeface="Calibri" pitchFamily="34" charset="-122"/>
                <a:cs typeface="Calibri" pitchFamily="34" charset="-120"/>
              </a:rPr>
              <a:t>Week 7 · Cowork as Operator Infra · Task 1</a:t>
            </a:r>
            <a:endParaRPr lang="en-US" sz="1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0972800" cy="365760"/>
          </a:xfrm>
          <a:prstGeom prst="rect">
            <a:avLst/>
          </a:prstGeom>
          <a:noFill/>
          <a:ln/>
        </p:spPr>
        <p:txBody>
          <a:bodyPr wrap="square" rtlCol="0" anchor="ctr"/>
          <a:lstStyle/>
          <a:p>
            <a:pPr indent="0" marL="0">
              <a:buNone/>
            </a:pPr>
            <a:r>
              <a:rPr lang="en-US" sz="1100" b="1" spc="400" kern="0" dirty="0">
                <a:solidFill>
                  <a:srgbClr val="A8742A"/>
                </a:solidFill>
                <a:latin typeface="Calibri" pitchFamily="34" charset="0"/>
                <a:ea typeface="Calibri" pitchFamily="34" charset="-122"/>
                <a:cs typeface="Calibri" pitchFamily="34" charset="-120"/>
              </a:rPr>
              <a:t>WEEK 7 · TASK 2 · WEDNESDAY</a:t>
            </a:r>
            <a:endParaRPr lang="en-US" sz="1100" dirty="0"/>
          </a:p>
        </p:txBody>
      </p:sp>
      <p:sp>
        <p:nvSpPr>
          <p:cNvPr id="3" name="Text 1"/>
          <p:cNvSpPr/>
          <p:nvPr/>
        </p:nvSpPr>
        <p:spPr>
          <a:xfrm>
            <a:off x="548640" y="822960"/>
            <a:ext cx="11155680" cy="1280160"/>
          </a:xfrm>
          <a:prstGeom prst="rect">
            <a:avLst/>
          </a:prstGeom>
          <a:noFill/>
          <a:ln/>
        </p:spPr>
        <p:txBody>
          <a:bodyPr wrap="square" rtlCol="0" anchor="t"/>
          <a:lstStyle/>
          <a:p>
            <a:pPr indent="0" marL="0">
              <a:buNone/>
            </a:pPr>
            <a:r>
              <a:rPr lang="en-US" sz="3600" b="1" dirty="0">
                <a:solidFill>
                  <a:srgbClr val="1B2A4A"/>
                </a:solidFill>
                <a:latin typeface="Calibri" pitchFamily="34" charset="0"/>
                <a:ea typeface="Calibri" pitchFamily="34" charset="-122"/>
                <a:cs typeface="Calibri" pitchFamily="34" charset="-120"/>
              </a:rPr>
              <a:t>Build Your Cowork Prompt Library</a:t>
            </a:r>
            <a:endParaRPr lang="en-US" sz="3600" dirty="0"/>
          </a:p>
        </p:txBody>
      </p:sp>
      <p:sp>
        <p:nvSpPr>
          <p:cNvPr id="4" name="Text 2"/>
          <p:cNvSpPr/>
          <p:nvPr/>
        </p:nvSpPr>
        <p:spPr>
          <a:xfrm>
            <a:off x="548640" y="2103120"/>
            <a:ext cx="10972800" cy="731520"/>
          </a:xfrm>
          <a:prstGeom prst="rect">
            <a:avLst/>
          </a:prstGeom>
          <a:noFill/>
          <a:ln/>
        </p:spPr>
        <p:txBody>
          <a:bodyPr wrap="square" rtlCol="0" anchor="ctr"/>
          <a:lstStyle/>
          <a:p>
            <a:pPr indent="0" marL="0">
              <a:buNone/>
            </a:pPr>
            <a:r>
              <a:rPr lang="en-US" sz="1900" i="1" dirty="0">
                <a:solidFill>
                  <a:srgbClr val="5B6470"/>
                </a:solidFill>
                <a:latin typeface="Calibri" pitchFamily="34" charset="0"/>
                <a:ea typeface="Calibri" pitchFamily="34" charset="-122"/>
                <a:cs typeface="Calibri" pitchFamily="34" charset="-120"/>
              </a:rPr>
              <a:t>Five reusable workflows you'll run every week. Use two now.</a:t>
            </a:r>
            <a:endParaRPr lang="en-US" sz="1900" dirty="0"/>
          </a:p>
        </p:txBody>
      </p:sp>
      <p:sp>
        <p:nvSpPr>
          <p:cNvPr id="5" name="Shape 3"/>
          <p:cNvSpPr/>
          <p:nvPr/>
        </p:nvSpPr>
        <p:spPr>
          <a:xfrm>
            <a:off x="548640" y="3291840"/>
            <a:ext cx="5486400" cy="3017520"/>
          </a:xfrm>
          <a:prstGeom prst="rect">
            <a:avLst/>
          </a:prstGeom>
          <a:solidFill>
            <a:srgbClr val="F4F1EA"/>
          </a:solidFill>
          <a:ln w="12700">
            <a:solidFill>
              <a:srgbClr val="D8DCE2"/>
            </a:solidFill>
            <a:prstDash val="solid"/>
          </a:ln>
        </p:spPr>
      </p:sp>
      <p:sp>
        <p:nvSpPr>
          <p:cNvPr id="6" name="Shape 4"/>
          <p:cNvSpPr/>
          <p:nvPr/>
        </p:nvSpPr>
        <p:spPr>
          <a:xfrm>
            <a:off x="548640" y="3291840"/>
            <a:ext cx="73152" cy="3017520"/>
          </a:xfrm>
          <a:prstGeom prst="rect">
            <a:avLst/>
          </a:prstGeom>
          <a:solidFill>
            <a:srgbClr val="1B2A4A"/>
          </a:solidFill>
          <a:ln w="12700">
            <a:solidFill>
              <a:srgbClr val="1B2A4A"/>
            </a:solidFill>
            <a:prstDash val="solid"/>
          </a:ln>
        </p:spPr>
      </p:sp>
      <p:sp>
        <p:nvSpPr>
          <p:cNvPr id="7" name="Text 5"/>
          <p:cNvSpPr/>
          <p:nvPr/>
        </p:nvSpPr>
        <p:spPr>
          <a:xfrm>
            <a:off x="777240" y="3474720"/>
            <a:ext cx="5029200" cy="274320"/>
          </a:xfrm>
          <a:prstGeom prst="rect">
            <a:avLst/>
          </a:prstGeom>
          <a:noFill/>
          <a:ln/>
        </p:spPr>
        <p:txBody>
          <a:bodyPr wrap="square" rtlCol="0" anchor="ctr"/>
          <a:lstStyle/>
          <a:p>
            <a:pPr indent="0" marL="0">
              <a:buNone/>
            </a:pPr>
            <a:r>
              <a:rPr lang="en-US" sz="1100" b="1" spc="300" kern="0" dirty="0">
                <a:solidFill>
                  <a:srgbClr val="CE8E31"/>
                </a:solidFill>
                <a:latin typeface="Calibri" pitchFamily="34" charset="0"/>
                <a:ea typeface="Calibri" pitchFamily="34" charset="-122"/>
                <a:cs typeface="Calibri" pitchFamily="34" charset="-120"/>
              </a:rPr>
              <a:t>THE ACTION</a:t>
            </a:r>
            <a:endParaRPr lang="en-US" sz="1100" dirty="0"/>
          </a:p>
        </p:txBody>
      </p:sp>
      <p:sp>
        <p:nvSpPr>
          <p:cNvPr id="8" name="Text 6"/>
          <p:cNvSpPr/>
          <p:nvPr/>
        </p:nvSpPr>
        <p:spPr>
          <a:xfrm>
            <a:off x="777240" y="3794760"/>
            <a:ext cx="5029200" cy="1463040"/>
          </a:xfrm>
          <a:prstGeom prst="rect">
            <a:avLst/>
          </a:prstGeom>
          <a:noFill/>
          <a:ln/>
        </p:spPr>
        <p:txBody>
          <a:bodyPr wrap="square" rtlCol="0" anchor="ctr"/>
          <a:lstStyle/>
          <a:p>
            <a:pPr indent="0" marL="0">
              <a:buNone/>
            </a:pPr>
            <a:r>
              <a:rPr lang="en-US" sz="1600" dirty="0">
                <a:solidFill>
                  <a:srgbClr val="22272E"/>
                </a:solidFill>
                <a:latin typeface="Calibri" pitchFamily="34" charset="0"/>
                <a:ea typeface="Calibri" pitchFamily="34" charset="-122"/>
                <a:cs typeface="Calibri" pitchFamily="34" charset="-120"/>
              </a:rPr>
              <a:t>20–30 minutes. Open the task card. Run the checklist. Ship the artifact. React ✓ in the cohort channel.</a:t>
            </a:r>
            <a:endParaRPr lang="en-US" sz="1600" dirty="0"/>
          </a:p>
        </p:txBody>
      </p:sp>
      <p:sp>
        <p:nvSpPr>
          <p:cNvPr id="9" name="Text 7"/>
          <p:cNvSpPr/>
          <p:nvPr/>
        </p:nvSpPr>
        <p:spPr>
          <a:xfrm>
            <a:off x="777240" y="5669280"/>
            <a:ext cx="5029200" cy="457200"/>
          </a:xfrm>
          <a:prstGeom prst="rect">
            <a:avLst/>
          </a:prstGeom>
          <a:noFill/>
          <a:ln/>
        </p:spPr>
        <p:txBody>
          <a:bodyPr wrap="square" rtlCol="0" anchor="ctr"/>
          <a:lstStyle/>
          <a:p>
            <a:pPr indent="0" marL="0">
              <a:buNone/>
            </a:pPr>
            <a:r>
              <a:rPr lang="en-US" sz="1400" b="1" i="1" dirty="0">
                <a:solidFill>
                  <a:srgbClr val="1B2A4A"/>
                </a:solidFill>
                <a:latin typeface="Calibri" pitchFamily="34" charset="0"/>
                <a:ea typeface="Calibri" pitchFamily="34" charset="-122"/>
                <a:cs typeface="Calibri" pitchFamily="34" charset="-120"/>
              </a:rPr>
              <a:t>AI drafts. The watchman decides.</a:t>
            </a:r>
            <a:endParaRPr lang="en-US" sz="1400" dirty="0"/>
          </a:p>
        </p:txBody>
      </p:sp>
      <p:sp>
        <p:nvSpPr>
          <p:cNvPr id="10" name="Shape 8"/>
          <p:cNvSpPr/>
          <p:nvPr/>
        </p:nvSpPr>
        <p:spPr>
          <a:xfrm>
            <a:off x="6217920" y="3291840"/>
            <a:ext cx="5394960" cy="3017520"/>
          </a:xfrm>
          <a:prstGeom prst="rect">
            <a:avLst/>
          </a:prstGeom>
          <a:solidFill>
            <a:srgbClr val="A8742A"/>
          </a:solidFill>
          <a:ln w="12700">
            <a:solidFill>
              <a:srgbClr val="A8742A"/>
            </a:solidFill>
            <a:prstDash val="solid"/>
          </a:ln>
        </p:spPr>
      </p:sp>
      <p:sp>
        <p:nvSpPr>
          <p:cNvPr id="11" name="Text 9"/>
          <p:cNvSpPr/>
          <p:nvPr/>
        </p:nvSpPr>
        <p:spPr>
          <a:xfrm>
            <a:off x="6446520" y="3520440"/>
            <a:ext cx="5029200" cy="274320"/>
          </a:xfrm>
          <a:prstGeom prst="rect">
            <a:avLst/>
          </a:prstGeom>
          <a:noFill/>
          <a:ln/>
        </p:spPr>
        <p:txBody>
          <a:bodyPr wrap="square" rtlCol="0" anchor="ctr"/>
          <a:lstStyle/>
          <a:p>
            <a:pPr indent="0" marL="0">
              <a:buNone/>
            </a:pPr>
            <a:r>
              <a:rPr lang="en-US" sz="1100" b="1" spc="300" kern="0" dirty="0">
                <a:solidFill>
                  <a:srgbClr val="FFFFFF"/>
                </a:solidFill>
                <a:latin typeface="Calibri" pitchFamily="34" charset="0"/>
                <a:ea typeface="Calibri" pitchFamily="34" charset="-122"/>
                <a:cs typeface="Calibri" pitchFamily="34" charset="-120"/>
              </a:rPr>
              <a:t>SCRIPTURE ANCHOR</a:t>
            </a:r>
            <a:endParaRPr lang="en-US" sz="1100" dirty="0"/>
          </a:p>
        </p:txBody>
      </p:sp>
      <p:sp>
        <p:nvSpPr>
          <p:cNvPr id="12" name="Text 10"/>
          <p:cNvSpPr/>
          <p:nvPr/>
        </p:nvSpPr>
        <p:spPr>
          <a:xfrm>
            <a:off x="6446520" y="3840480"/>
            <a:ext cx="5029200" cy="502920"/>
          </a:xfrm>
          <a:prstGeom prst="rect">
            <a:avLst/>
          </a:prstGeom>
          <a:noFill/>
          <a:ln/>
        </p:spPr>
        <p:txBody>
          <a:bodyPr wrap="square"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Week 7 · Cowork as Operator Infra</a:t>
            </a:r>
            <a:endParaRPr lang="en-US" sz="2000" dirty="0"/>
          </a:p>
        </p:txBody>
      </p:sp>
      <p:sp>
        <p:nvSpPr>
          <p:cNvPr id="13" name="Text 11"/>
          <p:cNvSpPr/>
          <p:nvPr/>
        </p:nvSpPr>
        <p:spPr>
          <a:xfrm>
            <a:off x="6446520" y="4434840"/>
            <a:ext cx="5029200" cy="548640"/>
          </a:xfrm>
          <a:prstGeom prst="rect">
            <a:avLst/>
          </a:prstGeom>
          <a:noFill/>
          <a:ln/>
        </p:spPr>
        <p:txBody>
          <a:bodyPr wrap="square" rtlCol="0" anchor="ctr"/>
          <a:lstStyle/>
          <a:p>
            <a:pPr indent="0" marL="0">
              <a:buNone/>
            </a:pPr>
            <a:r>
              <a:rPr lang="en-US" sz="1800" i="1" dirty="0">
                <a:solidFill>
                  <a:srgbClr val="FFFFFF"/>
                </a:solidFill>
                <a:latin typeface="Calibri" pitchFamily="34" charset="0"/>
                <a:ea typeface="Calibri" pitchFamily="34" charset="-122"/>
                <a:cs typeface="Calibri" pitchFamily="34" charset="-120"/>
              </a:rPr>
              <a:t>Proverbs 16:3</a:t>
            </a:r>
            <a:endParaRPr lang="en-US" sz="1800" dirty="0"/>
          </a:p>
        </p:txBody>
      </p:sp>
      <p:sp>
        <p:nvSpPr>
          <p:cNvPr id="14" name="Text 12"/>
          <p:cNvSpPr/>
          <p:nvPr/>
        </p:nvSpPr>
        <p:spPr>
          <a:xfrm>
            <a:off x="6446520" y="5669280"/>
            <a:ext cx="5029200" cy="365760"/>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Read aloud at the open and the close.</a:t>
            </a:r>
            <a:endParaRPr lang="en-US" sz="1300" dirty="0"/>
          </a:p>
        </p:txBody>
      </p:sp>
      <p:sp>
        <p:nvSpPr>
          <p:cNvPr id="15" name="Text 13"/>
          <p:cNvSpPr/>
          <p:nvPr/>
        </p:nvSpPr>
        <p:spPr>
          <a:xfrm>
            <a:off x="548640" y="6492240"/>
            <a:ext cx="7315200" cy="274320"/>
          </a:xfrm>
          <a:prstGeom prst="rect">
            <a:avLst/>
          </a:prstGeom>
          <a:noFill/>
          <a:ln/>
        </p:spPr>
        <p:txBody>
          <a:bodyPr wrap="square" rtlCol="0" anchor="ctr"/>
          <a:lstStyle/>
          <a:p>
            <a:pPr indent="0" marL="0">
              <a:buNone/>
            </a:pPr>
            <a:r>
              <a:rPr lang="en-US" sz="1000" i="1" dirty="0">
                <a:solidFill>
                  <a:srgbClr val="5B6470"/>
                </a:solidFill>
                <a:latin typeface="Calibri" pitchFamily="34" charset="0"/>
                <a:ea typeface="Calibri" pitchFamily="34" charset="-122"/>
                <a:cs typeface="Calibri" pitchFamily="34" charset="-120"/>
              </a:rPr>
              <a:t>Week 7 · Cowork as Operator Infra · Task 2</a:t>
            </a:r>
            <a:endParaRPr lang="en-US" sz="10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0972800" cy="365760"/>
          </a:xfrm>
          <a:prstGeom prst="rect">
            <a:avLst/>
          </a:prstGeom>
          <a:noFill/>
          <a:ln/>
        </p:spPr>
        <p:txBody>
          <a:bodyPr wrap="square" rtlCol="0" anchor="ctr"/>
          <a:lstStyle/>
          <a:p>
            <a:pPr indent="0" marL="0">
              <a:buNone/>
            </a:pPr>
            <a:r>
              <a:rPr lang="en-US" sz="1100" b="1" spc="400" kern="0" dirty="0">
                <a:solidFill>
                  <a:srgbClr val="A8742A"/>
                </a:solidFill>
                <a:latin typeface="Calibri" pitchFamily="34" charset="0"/>
                <a:ea typeface="Calibri" pitchFamily="34" charset="-122"/>
                <a:cs typeface="Calibri" pitchFamily="34" charset="-120"/>
              </a:rPr>
              <a:t>WEEK 7 · TASK 3 · FRIDAY</a:t>
            </a:r>
            <a:endParaRPr lang="en-US" sz="1100" dirty="0"/>
          </a:p>
        </p:txBody>
      </p:sp>
      <p:sp>
        <p:nvSpPr>
          <p:cNvPr id="3" name="Text 1"/>
          <p:cNvSpPr/>
          <p:nvPr/>
        </p:nvSpPr>
        <p:spPr>
          <a:xfrm>
            <a:off x="548640" y="822960"/>
            <a:ext cx="11155680" cy="1280160"/>
          </a:xfrm>
          <a:prstGeom prst="rect">
            <a:avLst/>
          </a:prstGeom>
          <a:noFill/>
          <a:ln/>
        </p:spPr>
        <p:txBody>
          <a:bodyPr wrap="square" rtlCol="0" anchor="t"/>
          <a:lstStyle/>
          <a:p>
            <a:pPr indent="0" marL="0">
              <a:buNone/>
            </a:pPr>
            <a:r>
              <a:rPr lang="en-US" sz="3600" b="1" dirty="0">
                <a:solidFill>
                  <a:srgbClr val="1B2A4A"/>
                </a:solidFill>
                <a:latin typeface="Calibri" pitchFamily="34" charset="0"/>
                <a:ea typeface="Calibri" pitchFamily="34" charset="-122"/>
                <a:cs typeface="Calibri" pitchFamily="34" charset="-120"/>
              </a:rPr>
              <a:t>Multi-Step Research Workflow</a:t>
            </a:r>
            <a:endParaRPr lang="en-US" sz="3600" dirty="0"/>
          </a:p>
        </p:txBody>
      </p:sp>
      <p:sp>
        <p:nvSpPr>
          <p:cNvPr id="4" name="Text 2"/>
          <p:cNvSpPr/>
          <p:nvPr/>
        </p:nvSpPr>
        <p:spPr>
          <a:xfrm>
            <a:off x="548640" y="2103120"/>
            <a:ext cx="10972800" cy="731520"/>
          </a:xfrm>
          <a:prstGeom prst="rect">
            <a:avLst/>
          </a:prstGeom>
          <a:noFill/>
          <a:ln/>
        </p:spPr>
        <p:txBody>
          <a:bodyPr wrap="square" rtlCol="0" anchor="ctr"/>
          <a:lstStyle/>
          <a:p>
            <a:pPr indent="0" marL="0">
              <a:buNone/>
            </a:pPr>
            <a:r>
              <a:rPr lang="en-US" sz="1900" i="1" dirty="0">
                <a:solidFill>
                  <a:srgbClr val="5B6470"/>
                </a:solidFill>
                <a:latin typeface="Calibri" pitchFamily="34" charset="0"/>
                <a:ea typeface="Calibri" pitchFamily="34" charset="-122"/>
                <a:cs typeface="Calibri" pitchFamily="34" charset="-120"/>
              </a:rPr>
              <a:t>Cowork researches across sources. You decide.</a:t>
            </a:r>
            <a:endParaRPr lang="en-US" sz="1900" dirty="0"/>
          </a:p>
        </p:txBody>
      </p:sp>
      <p:sp>
        <p:nvSpPr>
          <p:cNvPr id="5" name="Shape 3"/>
          <p:cNvSpPr/>
          <p:nvPr/>
        </p:nvSpPr>
        <p:spPr>
          <a:xfrm>
            <a:off x="548640" y="3291840"/>
            <a:ext cx="5486400" cy="3017520"/>
          </a:xfrm>
          <a:prstGeom prst="rect">
            <a:avLst/>
          </a:prstGeom>
          <a:solidFill>
            <a:srgbClr val="F4F1EA"/>
          </a:solidFill>
          <a:ln w="12700">
            <a:solidFill>
              <a:srgbClr val="D8DCE2"/>
            </a:solidFill>
            <a:prstDash val="solid"/>
          </a:ln>
        </p:spPr>
      </p:sp>
      <p:sp>
        <p:nvSpPr>
          <p:cNvPr id="6" name="Shape 4"/>
          <p:cNvSpPr/>
          <p:nvPr/>
        </p:nvSpPr>
        <p:spPr>
          <a:xfrm>
            <a:off x="548640" y="3291840"/>
            <a:ext cx="73152" cy="3017520"/>
          </a:xfrm>
          <a:prstGeom prst="rect">
            <a:avLst/>
          </a:prstGeom>
          <a:solidFill>
            <a:srgbClr val="1B2A4A"/>
          </a:solidFill>
          <a:ln w="12700">
            <a:solidFill>
              <a:srgbClr val="1B2A4A"/>
            </a:solidFill>
            <a:prstDash val="solid"/>
          </a:ln>
        </p:spPr>
      </p:sp>
      <p:sp>
        <p:nvSpPr>
          <p:cNvPr id="7" name="Text 5"/>
          <p:cNvSpPr/>
          <p:nvPr/>
        </p:nvSpPr>
        <p:spPr>
          <a:xfrm>
            <a:off x="777240" y="3474720"/>
            <a:ext cx="5029200" cy="274320"/>
          </a:xfrm>
          <a:prstGeom prst="rect">
            <a:avLst/>
          </a:prstGeom>
          <a:noFill/>
          <a:ln/>
        </p:spPr>
        <p:txBody>
          <a:bodyPr wrap="square" rtlCol="0" anchor="ctr"/>
          <a:lstStyle/>
          <a:p>
            <a:pPr indent="0" marL="0">
              <a:buNone/>
            </a:pPr>
            <a:r>
              <a:rPr lang="en-US" sz="1100" b="1" spc="300" kern="0" dirty="0">
                <a:solidFill>
                  <a:srgbClr val="CE8E31"/>
                </a:solidFill>
                <a:latin typeface="Calibri" pitchFamily="34" charset="0"/>
                <a:ea typeface="Calibri" pitchFamily="34" charset="-122"/>
                <a:cs typeface="Calibri" pitchFamily="34" charset="-120"/>
              </a:rPr>
              <a:t>THE ACTION</a:t>
            </a:r>
            <a:endParaRPr lang="en-US" sz="1100" dirty="0"/>
          </a:p>
        </p:txBody>
      </p:sp>
      <p:sp>
        <p:nvSpPr>
          <p:cNvPr id="8" name="Text 6"/>
          <p:cNvSpPr/>
          <p:nvPr/>
        </p:nvSpPr>
        <p:spPr>
          <a:xfrm>
            <a:off x="777240" y="3794760"/>
            <a:ext cx="5029200" cy="1463040"/>
          </a:xfrm>
          <a:prstGeom prst="rect">
            <a:avLst/>
          </a:prstGeom>
          <a:noFill/>
          <a:ln/>
        </p:spPr>
        <p:txBody>
          <a:bodyPr wrap="square" rtlCol="0" anchor="ctr"/>
          <a:lstStyle/>
          <a:p>
            <a:pPr indent="0" marL="0">
              <a:buNone/>
            </a:pPr>
            <a:r>
              <a:rPr lang="en-US" sz="1600" dirty="0">
                <a:solidFill>
                  <a:srgbClr val="22272E"/>
                </a:solidFill>
                <a:latin typeface="Calibri" pitchFamily="34" charset="0"/>
                <a:ea typeface="Calibri" pitchFamily="34" charset="-122"/>
                <a:cs typeface="Calibri" pitchFamily="34" charset="-120"/>
              </a:rPr>
              <a:t>20–30 minutes. Open the task card. Run the checklist. Ship the artifact. React ✓ in the cohort channel.</a:t>
            </a:r>
            <a:endParaRPr lang="en-US" sz="1600" dirty="0"/>
          </a:p>
        </p:txBody>
      </p:sp>
      <p:sp>
        <p:nvSpPr>
          <p:cNvPr id="9" name="Text 7"/>
          <p:cNvSpPr/>
          <p:nvPr/>
        </p:nvSpPr>
        <p:spPr>
          <a:xfrm>
            <a:off x="777240" y="5669280"/>
            <a:ext cx="5029200" cy="457200"/>
          </a:xfrm>
          <a:prstGeom prst="rect">
            <a:avLst/>
          </a:prstGeom>
          <a:noFill/>
          <a:ln/>
        </p:spPr>
        <p:txBody>
          <a:bodyPr wrap="square" rtlCol="0" anchor="ctr"/>
          <a:lstStyle/>
          <a:p>
            <a:pPr indent="0" marL="0">
              <a:buNone/>
            </a:pPr>
            <a:r>
              <a:rPr lang="en-US" sz="1400" b="1" i="1" dirty="0">
                <a:solidFill>
                  <a:srgbClr val="1B2A4A"/>
                </a:solidFill>
                <a:latin typeface="Calibri" pitchFamily="34" charset="0"/>
                <a:ea typeface="Calibri" pitchFamily="34" charset="-122"/>
                <a:cs typeface="Calibri" pitchFamily="34" charset="-120"/>
              </a:rPr>
              <a:t>AI drafts. The watchman decides.</a:t>
            </a:r>
            <a:endParaRPr lang="en-US" sz="1400" dirty="0"/>
          </a:p>
        </p:txBody>
      </p:sp>
      <p:sp>
        <p:nvSpPr>
          <p:cNvPr id="10" name="Shape 8"/>
          <p:cNvSpPr/>
          <p:nvPr/>
        </p:nvSpPr>
        <p:spPr>
          <a:xfrm>
            <a:off x="6217920" y="3291840"/>
            <a:ext cx="5394960" cy="3017520"/>
          </a:xfrm>
          <a:prstGeom prst="rect">
            <a:avLst/>
          </a:prstGeom>
          <a:solidFill>
            <a:srgbClr val="A8742A"/>
          </a:solidFill>
          <a:ln w="12700">
            <a:solidFill>
              <a:srgbClr val="A8742A"/>
            </a:solidFill>
            <a:prstDash val="solid"/>
          </a:ln>
        </p:spPr>
      </p:sp>
      <p:sp>
        <p:nvSpPr>
          <p:cNvPr id="11" name="Text 9"/>
          <p:cNvSpPr/>
          <p:nvPr/>
        </p:nvSpPr>
        <p:spPr>
          <a:xfrm>
            <a:off x="6446520" y="3520440"/>
            <a:ext cx="5029200" cy="274320"/>
          </a:xfrm>
          <a:prstGeom prst="rect">
            <a:avLst/>
          </a:prstGeom>
          <a:noFill/>
          <a:ln/>
        </p:spPr>
        <p:txBody>
          <a:bodyPr wrap="square" rtlCol="0" anchor="ctr"/>
          <a:lstStyle/>
          <a:p>
            <a:pPr indent="0" marL="0">
              <a:buNone/>
            </a:pPr>
            <a:r>
              <a:rPr lang="en-US" sz="1100" b="1" spc="300" kern="0" dirty="0">
                <a:solidFill>
                  <a:srgbClr val="FFFFFF"/>
                </a:solidFill>
                <a:latin typeface="Calibri" pitchFamily="34" charset="0"/>
                <a:ea typeface="Calibri" pitchFamily="34" charset="-122"/>
                <a:cs typeface="Calibri" pitchFamily="34" charset="-120"/>
              </a:rPr>
              <a:t>SCRIPTURE ANCHOR</a:t>
            </a:r>
            <a:endParaRPr lang="en-US" sz="1100" dirty="0"/>
          </a:p>
        </p:txBody>
      </p:sp>
      <p:sp>
        <p:nvSpPr>
          <p:cNvPr id="12" name="Text 10"/>
          <p:cNvSpPr/>
          <p:nvPr/>
        </p:nvSpPr>
        <p:spPr>
          <a:xfrm>
            <a:off x="6446520" y="3840480"/>
            <a:ext cx="5029200" cy="502920"/>
          </a:xfrm>
          <a:prstGeom prst="rect">
            <a:avLst/>
          </a:prstGeom>
          <a:noFill/>
          <a:ln/>
        </p:spPr>
        <p:txBody>
          <a:bodyPr wrap="square"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Week 7 · Cowork as Operator Infra</a:t>
            </a:r>
            <a:endParaRPr lang="en-US" sz="2000" dirty="0"/>
          </a:p>
        </p:txBody>
      </p:sp>
      <p:sp>
        <p:nvSpPr>
          <p:cNvPr id="13" name="Text 11"/>
          <p:cNvSpPr/>
          <p:nvPr/>
        </p:nvSpPr>
        <p:spPr>
          <a:xfrm>
            <a:off x="6446520" y="4434840"/>
            <a:ext cx="5029200" cy="548640"/>
          </a:xfrm>
          <a:prstGeom prst="rect">
            <a:avLst/>
          </a:prstGeom>
          <a:noFill/>
          <a:ln/>
        </p:spPr>
        <p:txBody>
          <a:bodyPr wrap="square" rtlCol="0" anchor="ctr"/>
          <a:lstStyle/>
          <a:p>
            <a:pPr indent="0" marL="0">
              <a:buNone/>
            </a:pPr>
            <a:r>
              <a:rPr lang="en-US" sz="1800" i="1" dirty="0">
                <a:solidFill>
                  <a:srgbClr val="FFFFFF"/>
                </a:solidFill>
                <a:latin typeface="Calibri" pitchFamily="34" charset="0"/>
                <a:ea typeface="Calibri" pitchFamily="34" charset="-122"/>
                <a:cs typeface="Calibri" pitchFamily="34" charset="-120"/>
              </a:rPr>
              <a:t>Proverbs 16:3</a:t>
            </a:r>
            <a:endParaRPr lang="en-US" sz="1800" dirty="0"/>
          </a:p>
        </p:txBody>
      </p:sp>
      <p:sp>
        <p:nvSpPr>
          <p:cNvPr id="14" name="Text 12"/>
          <p:cNvSpPr/>
          <p:nvPr/>
        </p:nvSpPr>
        <p:spPr>
          <a:xfrm>
            <a:off x="6446520" y="5669280"/>
            <a:ext cx="5029200" cy="365760"/>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Read aloud at the open and the close.</a:t>
            </a:r>
            <a:endParaRPr lang="en-US" sz="1300" dirty="0"/>
          </a:p>
        </p:txBody>
      </p:sp>
      <p:sp>
        <p:nvSpPr>
          <p:cNvPr id="15" name="Text 13"/>
          <p:cNvSpPr/>
          <p:nvPr/>
        </p:nvSpPr>
        <p:spPr>
          <a:xfrm>
            <a:off x="548640" y="6492240"/>
            <a:ext cx="7315200" cy="274320"/>
          </a:xfrm>
          <a:prstGeom prst="rect">
            <a:avLst/>
          </a:prstGeom>
          <a:noFill/>
          <a:ln/>
        </p:spPr>
        <p:txBody>
          <a:bodyPr wrap="square" rtlCol="0" anchor="ctr"/>
          <a:lstStyle/>
          <a:p>
            <a:pPr indent="0" marL="0">
              <a:buNone/>
            </a:pPr>
            <a:r>
              <a:rPr lang="en-US" sz="1000" i="1" dirty="0">
                <a:solidFill>
                  <a:srgbClr val="5B6470"/>
                </a:solidFill>
                <a:latin typeface="Calibri" pitchFamily="34" charset="0"/>
                <a:ea typeface="Calibri" pitchFamily="34" charset="-122"/>
                <a:cs typeface="Calibri" pitchFamily="34" charset="-120"/>
              </a:rPr>
              <a:t>Week 7 · Cowork as Operator Infra · Task 3</a:t>
            </a:r>
            <a:endParaRPr lang="en-US" sz="10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1B2A4A"/>
        </a:solidFill>
      </p:bgPr>
    </p:bg>
    <p:spTree>
      <p:nvGrpSpPr>
        <p:cNvPr id="1" name=""/>
        <p:cNvGrpSpPr/>
        <p:nvPr/>
      </p:nvGrpSpPr>
      <p:grpSpPr>
        <a:xfrm>
          <a:off x="0" y="0"/>
          <a:ext cx="0" cy="0"/>
          <a:chOff x="0" y="0"/>
          <a:chExt cx="0" cy="0"/>
        </a:xfrm>
      </p:grpSpPr>
      <p:sp>
        <p:nvSpPr>
          <p:cNvPr id="2" name="Text 0"/>
          <p:cNvSpPr/>
          <p:nvPr/>
        </p:nvSpPr>
        <p:spPr>
          <a:xfrm>
            <a:off x="548640" y="1463040"/>
            <a:ext cx="10972800" cy="457200"/>
          </a:xfrm>
          <a:prstGeom prst="rect">
            <a:avLst/>
          </a:prstGeom>
          <a:noFill/>
          <a:ln/>
        </p:spPr>
        <p:txBody>
          <a:bodyPr wrap="square" rtlCol="0" anchor="ctr"/>
          <a:lstStyle/>
          <a:p>
            <a:pPr indent="0" marL="0">
              <a:buNone/>
            </a:pPr>
            <a:r>
              <a:rPr lang="en-US" sz="1400" b="1" spc="500" kern="0" dirty="0">
                <a:solidFill>
                  <a:srgbClr val="A8742A"/>
                </a:solidFill>
                <a:latin typeface="Calibri" pitchFamily="34" charset="0"/>
                <a:ea typeface="Calibri" pitchFamily="34" charset="-122"/>
                <a:cs typeface="Calibri" pitchFamily="34" charset="-120"/>
              </a:rPr>
              <a:t>WEEK 8  ·  BLOCK III — BUSINESS LAYER</a:t>
            </a:r>
            <a:endParaRPr lang="en-US" sz="1400" dirty="0"/>
          </a:p>
        </p:txBody>
      </p:sp>
      <p:sp>
        <p:nvSpPr>
          <p:cNvPr id="3" name="Text 1"/>
          <p:cNvSpPr/>
          <p:nvPr/>
        </p:nvSpPr>
        <p:spPr>
          <a:xfrm>
            <a:off x="548640" y="1920240"/>
            <a:ext cx="11338560" cy="1371600"/>
          </a:xfrm>
          <a:prstGeom prst="rect">
            <a:avLst/>
          </a:prstGeom>
          <a:noFill/>
          <a:ln/>
        </p:spPr>
        <p:txBody>
          <a:bodyPr wrap="square" rtlCol="0" anchor="ctr"/>
          <a:lstStyle/>
          <a:p>
            <a:pPr indent="0" marL="0">
              <a:buNone/>
            </a:pPr>
            <a:r>
              <a:rPr lang="en-US" sz="5400" b="1" dirty="0">
                <a:solidFill>
                  <a:srgbClr val="FFFFFF"/>
                </a:solidFill>
                <a:latin typeface="Calibri" pitchFamily="34" charset="0"/>
                <a:ea typeface="Calibri" pitchFamily="34" charset="-122"/>
                <a:cs typeface="Calibri" pitchFamily="34" charset="-120"/>
              </a:rPr>
              <a:t>OPERATOR OUTPUT</a:t>
            </a:r>
            <a:endParaRPr lang="en-US" sz="5400" dirty="0"/>
          </a:p>
        </p:txBody>
      </p:sp>
      <p:sp>
        <p:nvSpPr>
          <p:cNvPr id="4" name="Shape 2"/>
          <p:cNvSpPr/>
          <p:nvPr/>
        </p:nvSpPr>
        <p:spPr>
          <a:xfrm>
            <a:off x="548640" y="3383280"/>
            <a:ext cx="1828800" cy="73152"/>
          </a:xfrm>
          <a:prstGeom prst="rect">
            <a:avLst/>
          </a:prstGeom>
          <a:solidFill>
            <a:srgbClr val="A8742A"/>
          </a:solidFill>
          <a:ln w="12700">
            <a:solidFill>
              <a:srgbClr val="A8742A"/>
            </a:solidFill>
            <a:prstDash val="solid"/>
          </a:ln>
        </p:spPr>
      </p:sp>
      <p:sp>
        <p:nvSpPr>
          <p:cNvPr id="5" name="Text 3"/>
          <p:cNvSpPr/>
          <p:nvPr/>
        </p:nvSpPr>
        <p:spPr>
          <a:xfrm>
            <a:off x="548640" y="3566160"/>
            <a:ext cx="10515600" cy="1097280"/>
          </a:xfrm>
          <a:prstGeom prst="rect">
            <a:avLst/>
          </a:prstGeom>
          <a:noFill/>
          <a:ln/>
        </p:spPr>
        <p:txBody>
          <a:bodyPr wrap="square" rtlCol="0" anchor="ctr"/>
          <a:lstStyle/>
          <a:p>
            <a:pPr indent="0" marL="0">
              <a:buNone/>
            </a:pPr>
            <a:r>
              <a:rPr lang="en-US" sz="2200" i="1" dirty="0">
                <a:solidFill>
                  <a:srgbClr val="94A3B8"/>
                </a:solidFill>
                <a:latin typeface="Calibri" pitchFamily="34" charset="0"/>
                <a:ea typeface="Calibri" pitchFamily="34" charset="-122"/>
                <a:cs typeface="Calibri" pitchFamily="34" charset="-120"/>
              </a:rPr>
              <a:t>Strip the AI fingerprint out of your drafts; sign a real decision; ship a public piece in your voice.</a:t>
            </a:r>
            <a:endParaRPr lang="en-US" sz="2200" dirty="0"/>
          </a:p>
        </p:txBody>
      </p:sp>
      <p:sp>
        <p:nvSpPr>
          <p:cNvPr id="6" name="Text 4"/>
          <p:cNvSpPr/>
          <p:nvPr/>
        </p:nvSpPr>
        <p:spPr>
          <a:xfrm>
            <a:off x="548640" y="5029200"/>
            <a:ext cx="10972800" cy="274320"/>
          </a:xfrm>
          <a:prstGeom prst="rect">
            <a:avLst/>
          </a:prstGeom>
          <a:noFill/>
          <a:ln/>
        </p:spPr>
        <p:txBody>
          <a:bodyPr wrap="square" rtlCol="0" anchor="ctr"/>
          <a:lstStyle/>
          <a:p>
            <a:pPr indent="0" marL="0">
              <a:buNone/>
            </a:pPr>
            <a:r>
              <a:rPr lang="en-US" sz="1000" b="1" spc="400" kern="0" dirty="0">
                <a:solidFill>
                  <a:srgbClr val="CE8E31"/>
                </a:solidFill>
                <a:latin typeface="Calibri" pitchFamily="34" charset="0"/>
                <a:ea typeface="Calibri" pitchFamily="34" charset="-122"/>
                <a:cs typeface="Calibri" pitchFamily="34" charset="-120"/>
              </a:rPr>
              <a:t>SCRIPTURE</a:t>
            </a:r>
            <a:endParaRPr lang="en-US" sz="1000" dirty="0"/>
          </a:p>
        </p:txBody>
      </p:sp>
      <p:sp>
        <p:nvSpPr>
          <p:cNvPr id="7" name="Text 5"/>
          <p:cNvSpPr/>
          <p:nvPr/>
        </p:nvSpPr>
        <p:spPr>
          <a:xfrm>
            <a:off x="548640" y="5303520"/>
            <a:ext cx="10972800" cy="457200"/>
          </a:xfrm>
          <a:prstGeom prst="rect">
            <a:avLst/>
          </a:prstGeom>
          <a:noFill/>
          <a:ln/>
        </p:spPr>
        <p:txBody>
          <a:bodyPr wrap="square" rtlCol="0" anchor="ctr"/>
          <a:lstStyle/>
          <a:p>
            <a:pPr indent="0" marL="0">
              <a:buNone/>
            </a:pPr>
            <a:r>
              <a:rPr lang="en-US" sz="2000" dirty="0">
                <a:solidFill>
                  <a:srgbClr val="FFFFFF"/>
                </a:solidFill>
                <a:latin typeface="Calibri" pitchFamily="34" charset="0"/>
                <a:ea typeface="Calibri" pitchFamily="34" charset="-122"/>
                <a:cs typeface="Calibri" pitchFamily="34" charset="-120"/>
              </a:rPr>
              <a:t>Colossians 3:23</a:t>
            </a:r>
            <a:endParaRPr lang="en-US" sz="2000" dirty="0"/>
          </a:p>
        </p:txBody>
      </p:sp>
      <p:sp>
        <p:nvSpPr>
          <p:cNvPr id="8" name="Text 6"/>
          <p:cNvSpPr/>
          <p:nvPr/>
        </p:nvSpPr>
        <p:spPr>
          <a:xfrm>
            <a:off x="548640" y="6492240"/>
            <a:ext cx="7315200" cy="274320"/>
          </a:xfrm>
          <a:prstGeom prst="rect">
            <a:avLst/>
          </a:prstGeom>
          <a:noFill/>
          <a:ln/>
        </p:spPr>
        <p:txBody>
          <a:bodyPr wrap="square" rtlCol="0" anchor="ctr"/>
          <a:lstStyle/>
          <a:p>
            <a:pPr indent="0" marL="0">
              <a:buNone/>
            </a:pPr>
            <a:r>
              <a:rPr lang="en-US" sz="1000" i="1" dirty="0">
                <a:solidFill>
                  <a:srgbClr val="5B6470"/>
                </a:solidFill>
                <a:latin typeface="Calibri" pitchFamily="34" charset="0"/>
                <a:ea typeface="Calibri" pitchFamily="34" charset="-122"/>
                <a:cs typeface="Calibri" pitchFamily="34" charset="-120"/>
              </a:rPr>
              <a:t>Week 8 · Operator Output</a:t>
            </a:r>
            <a:endParaRPr lang="en-US" sz="10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0972800" cy="365760"/>
          </a:xfrm>
          <a:prstGeom prst="rect">
            <a:avLst/>
          </a:prstGeom>
          <a:noFill/>
          <a:ln/>
        </p:spPr>
        <p:txBody>
          <a:bodyPr wrap="square" rtlCol="0" anchor="ctr"/>
          <a:lstStyle/>
          <a:p>
            <a:pPr indent="0" marL="0">
              <a:buNone/>
            </a:pPr>
            <a:r>
              <a:rPr lang="en-US" sz="1100" b="1" spc="400" kern="0" dirty="0">
                <a:solidFill>
                  <a:srgbClr val="A8742A"/>
                </a:solidFill>
                <a:latin typeface="Calibri" pitchFamily="34" charset="0"/>
                <a:ea typeface="Calibri" pitchFamily="34" charset="-122"/>
                <a:cs typeface="Calibri" pitchFamily="34" charset="-120"/>
              </a:rPr>
              <a:t>WEEK 8 · TASK 1 · MONDAY</a:t>
            </a:r>
            <a:endParaRPr lang="en-US" sz="1100" dirty="0"/>
          </a:p>
        </p:txBody>
      </p:sp>
      <p:sp>
        <p:nvSpPr>
          <p:cNvPr id="3" name="Text 1"/>
          <p:cNvSpPr/>
          <p:nvPr/>
        </p:nvSpPr>
        <p:spPr>
          <a:xfrm>
            <a:off x="548640" y="822960"/>
            <a:ext cx="11155680" cy="1280160"/>
          </a:xfrm>
          <a:prstGeom prst="rect">
            <a:avLst/>
          </a:prstGeom>
          <a:noFill/>
          <a:ln/>
        </p:spPr>
        <p:txBody>
          <a:bodyPr wrap="square" rtlCol="0" anchor="t"/>
          <a:lstStyle/>
          <a:p>
            <a:pPr indent="0" marL="0">
              <a:buNone/>
            </a:pPr>
            <a:r>
              <a:rPr lang="en-US" sz="3600" b="1" dirty="0">
                <a:solidFill>
                  <a:srgbClr val="1B2A4A"/>
                </a:solidFill>
                <a:latin typeface="Calibri" pitchFamily="34" charset="0"/>
                <a:ea typeface="Calibri" pitchFamily="34" charset="-122"/>
                <a:cs typeface="Calibri" pitchFamily="34" charset="-120"/>
              </a:rPr>
              <a:t>Strip the AI Fingerprint</a:t>
            </a:r>
            <a:endParaRPr lang="en-US" sz="3600" dirty="0"/>
          </a:p>
        </p:txBody>
      </p:sp>
      <p:sp>
        <p:nvSpPr>
          <p:cNvPr id="4" name="Text 2"/>
          <p:cNvSpPr/>
          <p:nvPr/>
        </p:nvSpPr>
        <p:spPr>
          <a:xfrm>
            <a:off x="548640" y="2103120"/>
            <a:ext cx="10972800" cy="731520"/>
          </a:xfrm>
          <a:prstGeom prst="rect">
            <a:avLst/>
          </a:prstGeom>
          <a:noFill/>
          <a:ln/>
        </p:spPr>
        <p:txBody>
          <a:bodyPr wrap="square" rtlCol="0" anchor="ctr"/>
          <a:lstStyle/>
          <a:p>
            <a:pPr indent="0" marL="0">
              <a:buNone/>
            </a:pPr>
            <a:r>
              <a:rPr lang="en-US" sz="1900" i="1" dirty="0">
                <a:solidFill>
                  <a:srgbClr val="5B6470"/>
                </a:solidFill>
                <a:latin typeface="Calibri" pitchFamily="34" charset="0"/>
                <a:ea typeface="Calibri" pitchFamily="34" charset="-122"/>
                <a:cs typeface="Calibri" pitchFamily="34" charset="-120"/>
              </a:rPr>
              <a:t>Read it aloud. Cut what you wouldn't say. Ship the rewrite.</a:t>
            </a:r>
            <a:endParaRPr lang="en-US" sz="1900" dirty="0"/>
          </a:p>
        </p:txBody>
      </p:sp>
      <p:sp>
        <p:nvSpPr>
          <p:cNvPr id="5" name="Shape 3"/>
          <p:cNvSpPr/>
          <p:nvPr/>
        </p:nvSpPr>
        <p:spPr>
          <a:xfrm>
            <a:off x="548640" y="3291840"/>
            <a:ext cx="5486400" cy="3017520"/>
          </a:xfrm>
          <a:prstGeom prst="rect">
            <a:avLst/>
          </a:prstGeom>
          <a:solidFill>
            <a:srgbClr val="F4F1EA"/>
          </a:solidFill>
          <a:ln w="12700">
            <a:solidFill>
              <a:srgbClr val="D8DCE2"/>
            </a:solidFill>
            <a:prstDash val="solid"/>
          </a:ln>
        </p:spPr>
      </p:sp>
      <p:sp>
        <p:nvSpPr>
          <p:cNvPr id="6" name="Shape 4"/>
          <p:cNvSpPr/>
          <p:nvPr/>
        </p:nvSpPr>
        <p:spPr>
          <a:xfrm>
            <a:off x="548640" y="3291840"/>
            <a:ext cx="73152" cy="3017520"/>
          </a:xfrm>
          <a:prstGeom prst="rect">
            <a:avLst/>
          </a:prstGeom>
          <a:solidFill>
            <a:srgbClr val="1B2A4A"/>
          </a:solidFill>
          <a:ln w="12700">
            <a:solidFill>
              <a:srgbClr val="1B2A4A"/>
            </a:solidFill>
            <a:prstDash val="solid"/>
          </a:ln>
        </p:spPr>
      </p:sp>
      <p:sp>
        <p:nvSpPr>
          <p:cNvPr id="7" name="Text 5"/>
          <p:cNvSpPr/>
          <p:nvPr/>
        </p:nvSpPr>
        <p:spPr>
          <a:xfrm>
            <a:off x="777240" y="3474720"/>
            <a:ext cx="5029200" cy="274320"/>
          </a:xfrm>
          <a:prstGeom prst="rect">
            <a:avLst/>
          </a:prstGeom>
          <a:noFill/>
          <a:ln/>
        </p:spPr>
        <p:txBody>
          <a:bodyPr wrap="square" rtlCol="0" anchor="ctr"/>
          <a:lstStyle/>
          <a:p>
            <a:pPr indent="0" marL="0">
              <a:buNone/>
            </a:pPr>
            <a:r>
              <a:rPr lang="en-US" sz="1100" b="1" spc="300" kern="0" dirty="0">
                <a:solidFill>
                  <a:srgbClr val="CE8E31"/>
                </a:solidFill>
                <a:latin typeface="Calibri" pitchFamily="34" charset="0"/>
                <a:ea typeface="Calibri" pitchFamily="34" charset="-122"/>
                <a:cs typeface="Calibri" pitchFamily="34" charset="-120"/>
              </a:rPr>
              <a:t>THE ACTION</a:t>
            </a:r>
            <a:endParaRPr lang="en-US" sz="1100" dirty="0"/>
          </a:p>
        </p:txBody>
      </p:sp>
      <p:sp>
        <p:nvSpPr>
          <p:cNvPr id="8" name="Text 6"/>
          <p:cNvSpPr/>
          <p:nvPr/>
        </p:nvSpPr>
        <p:spPr>
          <a:xfrm>
            <a:off x="777240" y="3794760"/>
            <a:ext cx="5029200" cy="1463040"/>
          </a:xfrm>
          <a:prstGeom prst="rect">
            <a:avLst/>
          </a:prstGeom>
          <a:noFill/>
          <a:ln/>
        </p:spPr>
        <p:txBody>
          <a:bodyPr wrap="square" rtlCol="0" anchor="ctr"/>
          <a:lstStyle/>
          <a:p>
            <a:pPr indent="0" marL="0">
              <a:buNone/>
            </a:pPr>
            <a:r>
              <a:rPr lang="en-US" sz="1600" dirty="0">
                <a:solidFill>
                  <a:srgbClr val="22272E"/>
                </a:solidFill>
                <a:latin typeface="Calibri" pitchFamily="34" charset="0"/>
                <a:ea typeface="Calibri" pitchFamily="34" charset="-122"/>
                <a:cs typeface="Calibri" pitchFamily="34" charset="-120"/>
              </a:rPr>
              <a:t>20–30 minutes. Open the task card. Run the checklist. Ship the artifact. React ✓ in the cohort channel.</a:t>
            </a:r>
            <a:endParaRPr lang="en-US" sz="1600" dirty="0"/>
          </a:p>
        </p:txBody>
      </p:sp>
      <p:sp>
        <p:nvSpPr>
          <p:cNvPr id="9" name="Text 7"/>
          <p:cNvSpPr/>
          <p:nvPr/>
        </p:nvSpPr>
        <p:spPr>
          <a:xfrm>
            <a:off x="777240" y="5669280"/>
            <a:ext cx="5029200" cy="457200"/>
          </a:xfrm>
          <a:prstGeom prst="rect">
            <a:avLst/>
          </a:prstGeom>
          <a:noFill/>
          <a:ln/>
        </p:spPr>
        <p:txBody>
          <a:bodyPr wrap="square" rtlCol="0" anchor="ctr"/>
          <a:lstStyle/>
          <a:p>
            <a:pPr indent="0" marL="0">
              <a:buNone/>
            </a:pPr>
            <a:r>
              <a:rPr lang="en-US" sz="1400" b="1" i="1" dirty="0">
                <a:solidFill>
                  <a:srgbClr val="1B2A4A"/>
                </a:solidFill>
                <a:latin typeface="Calibri" pitchFamily="34" charset="0"/>
                <a:ea typeface="Calibri" pitchFamily="34" charset="-122"/>
                <a:cs typeface="Calibri" pitchFamily="34" charset="-120"/>
              </a:rPr>
              <a:t>AI drafts. The watchman decides.</a:t>
            </a:r>
            <a:endParaRPr lang="en-US" sz="1400" dirty="0"/>
          </a:p>
        </p:txBody>
      </p:sp>
      <p:sp>
        <p:nvSpPr>
          <p:cNvPr id="10" name="Shape 8"/>
          <p:cNvSpPr/>
          <p:nvPr/>
        </p:nvSpPr>
        <p:spPr>
          <a:xfrm>
            <a:off x="6217920" y="3291840"/>
            <a:ext cx="5394960" cy="3017520"/>
          </a:xfrm>
          <a:prstGeom prst="rect">
            <a:avLst/>
          </a:prstGeom>
          <a:solidFill>
            <a:srgbClr val="A8742A"/>
          </a:solidFill>
          <a:ln w="12700">
            <a:solidFill>
              <a:srgbClr val="A8742A"/>
            </a:solidFill>
            <a:prstDash val="solid"/>
          </a:ln>
        </p:spPr>
      </p:sp>
      <p:sp>
        <p:nvSpPr>
          <p:cNvPr id="11" name="Text 9"/>
          <p:cNvSpPr/>
          <p:nvPr/>
        </p:nvSpPr>
        <p:spPr>
          <a:xfrm>
            <a:off x="6446520" y="3520440"/>
            <a:ext cx="5029200" cy="274320"/>
          </a:xfrm>
          <a:prstGeom prst="rect">
            <a:avLst/>
          </a:prstGeom>
          <a:noFill/>
          <a:ln/>
        </p:spPr>
        <p:txBody>
          <a:bodyPr wrap="square" rtlCol="0" anchor="ctr"/>
          <a:lstStyle/>
          <a:p>
            <a:pPr indent="0" marL="0">
              <a:buNone/>
            </a:pPr>
            <a:r>
              <a:rPr lang="en-US" sz="1100" b="1" spc="300" kern="0" dirty="0">
                <a:solidFill>
                  <a:srgbClr val="FFFFFF"/>
                </a:solidFill>
                <a:latin typeface="Calibri" pitchFamily="34" charset="0"/>
                <a:ea typeface="Calibri" pitchFamily="34" charset="-122"/>
                <a:cs typeface="Calibri" pitchFamily="34" charset="-120"/>
              </a:rPr>
              <a:t>SCRIPTURE ANCHOR</a:t>
            </a:r>
            <a:endParaRPr lang="en-US" sz="1100" dirty="0"/>
          </a:p>
        </p:txBody>
      </p:sp>
      <p:sp>
        <p:nvSpPr>
          <p:cNvPr id="12" name="Text 10"/>
          <p:cNvSpPr/>
          <p:nvPr/>
        </p:nvSpPr>
        <p:spPr>
          <a:xfrm>
            <a:off x="6446520" y="3840480"/>
            <a:ext cx="5029200" cy="502920"/>
          </a:xfrm>
          <a:prstGeom prst="rect">
            <a:avLst/>
          </a:prstGeom>
          <a:noFill/>
          <a:ln/>
        </p:spPr>
        <p:txBody>
          <a:bodyPr wrap="square"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Week 8 · Operator Output</a:t>
            </a:r>
            <a:endParaRPr lang="en-US" sz="2000" dirty="0"/>
          </a:p>
        </p:txBody>
      </p:sp>
      <p:sp>
        <p:nvSpPr>
          <p:cNvPr id="13" name="Text 11"/>
          <p:cNvSpPr/>
          <p:nvPr/>
        </p:nvSpPr>
        <p:spPr>
          <a:xfrm>
            <a:off x="6446520" y="4434840"/>
            <a:ext cx="5029200" cy="548640"/>
          </a:xfrm>
          <a:prstGeom prst="rect">
            <a:avLst/>
          </a:prstGeom>
          <a:noFill/>
          <a:ln/>
        </p:spPr>
        <p:txBody>
          <a:bodyPr wrap="square" rtlCol="0" anchor="ctr"/>
          <a:lstStyle/>
          <a:p>
            <a:pPr indent="0" marL="0">
              <a:buNone/>
            </a:pPr>
            <a:r>
              <a:rPr lang="en-US" sz="1800" i="1" dirty="0">
                <a:solidFill>
                  <a:srgbClr val="FFFFFF"/>
                </a:solidFill>
                <a:latin typeface="Calibri" pitchFamily="34" charset="0"/>
                <a:ea typeface="Calibri" pitchFamily="34" charset="-122"/>
                <a:cs typeface="Calibri" pitchFamily="34" charset="-120"/>
              </a:rPr>
              <a:t>Colossians 3:23</a:t>
            </a:r>
            <a:endParaRPr lang="en-US" sz="1800" dirty="0"/>
          </a:p>
        </p:txBody>
      </p:sp>
      <p:sp>
        <p:nvSpPr>
          <p:cNvPr id="14" name="Text 12"/>
          <p:cNvSpPr/>
          <p:nvPr/>
        </p:nvSpPr>
        <p:spPr>
          <a:xfrm>
            <a:off x="6446520" y="5669280"/>
            <a:ext cx="5029200" cy="365760"/>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Read aloud at the open and the close.</a:t>
            </a:r>
            <a:endParaRPr lang="en-US" sz="1300" dirty="0"/>
          </a:p>
        </p:txBody>
      </p:sp>
      <p:sp>
        <p:nvSpPr>
          <p:cNvPr id="15" name="Text 13"/>
          <p:cNvSpPr/>
          <p:nvPr/>
        </p:nvSpPr>
        <p:spPr>
          <a:xfrm>
            <a:off x="548640" y="6492240"/>
            <a:ext cx="7315200" cy="274320"/>
          </a:xfrm>
          <a:prstGeom prst="rect">
            <a:avLst/>
          </a:prstGeom>
          <a:noFill/>
          <a:ln/>
        </p:spPr>
        <p:txBody>
          <a:bodyPr wrap="square" rtlCol="0" anchor="ctr"/>
          <a:lstStyle/>
          <a:p>
            <a:pPr indent="0" marL="0">
              <a:buNone/>
            </a:pPr>
            <a:r>
              <a:rPr lang="en-US" sz="1000" i="1" dirty="0">
                <a:solidFill>
                  <a:srgbClr val="5B6470"/>
                </a:solidFill>
                <a:latin typeface="Calibri" pitchFamily="34" charset="0"/>
                <a:ea typeface="Calibri" pitchFamily="34" charset="-122"/>
                <a:cs typeface="Calibri" pitchFamily="34" charset="-120"/>
              </a:rPr>
              <a:t>Week 8 · Operator Output · Task 1</a:t>
            </a:r>
            <a:endParaRPr lang="en-US" sz="10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0972800" cy="365760"/>
          </a:xfrm>
          <a:prstGeom prst="rect">
            <a:avLst/>
          </a:prstGeom>
          <a:noFill/>
          <a:ln/>
        </p:spPr>
        <p:txBody>
          <a:bodyPr wrap="square" rtlCol="0" anchor="ctr"/>
          <a:lstStyle/>
          <a:p>
            <a:pPr indent="0" marL="0">
              <a:buNone/>
            </a:pPr>
            <a:r>
              <a:rPr lang="en-US" sz="1100" b="1" spc="400" kern="0" dirty="0">
                <a:solidFill>
                  <a:srgbClr val="A8742A"/>
                </a:solidFill>
                <a:latin typeface="Calibri" pitchFamily="34" charset="0"/>
                <a:ea typeface="Calibri" pitchFamily="34" charset="-122"/>
                <a:cs typeface="Calibri" pitchFamily="34" charset="-120"/>
              </a:rPr>
              <a:t>WEEK 8 · TASK 2 · WEDNESDAY</a:t>
            </a:r>
            <a:endParaRPr lang="en-US" sz="1100" dirty="0"/>
          </a:p>
        </p:txBody>
      </p:sp>
      <p:sp>
        <p:nvSpPr>
          <p:cNvPr id="3" name="Text 1"/>
          <p:cNvSpPr/>
          <p:nvPr/>
        </p:nvSpPr>
        <p:spPr>
          <a:xfrm>
            <a:off x="548640" y="822960"/>
            <a:ext cx="11155680" cy="1280160"/>
          </a:xfrm>
          <a:prstGeom prst="rect">
            <a:avLst/>
          </a:prstGeom>
          <a:noFill/>
          <a:ln/>
        </p:spPr>
        <p:txBody>
          <a:bodyPr wrap="square" rtlCol="0" anchor="t"/>
          <a:lstStyle/>
          <a:p>
            <a:pPr indent="0" marL="0">
              <a:buNone/>
            </a:pPr>
            <a:r>
              <a:rPr lang="en-US" sz="3600" b="1" dirty="0">
                <a:solidFill>
                  <a:srgbClr val="1B2A4A"/>
                </a:solidFill>
                <a:latin typeface="Calibri" pitchFamily="34" charset="0"/>
                <a:ea typeface="Calibri" pitchFamily="34" charset="-122"/>
                <a:cs typeface="Calibri" pitchFamily="34" charset="-120"/>
              </a:rPr>
              <a:t>Decision-Support Memo</a:t>
            </a:r>
            <a:endParaRPr lang="en-US" sz="3600" dirty="0"/>
          </a:p>
        </p:txBody>
      </p:sp>
      <p:sp>
        <p:nvSpPr>
          <p:cNvPr id="4" name="Text 2"/>
          <p:cNvSpPr/>
          <p:nvPr/>
        </p:nvSpPr>
        <p:spPr>
          <a:xfrm>
            <a:off x="548640" y="2103120"/>
            <a:ext cx="10972800" cy="731520"/>
          </a:xfrm>
          <a:prstGeom prst="rect">
            <a:avLst/>
          </a:prstGeom>
          <a:noFill/>
          <a:ln/>
        </p:spPr>
        <p:txBody>
          <a:bodyPr wrap="square" rtlCol="0" anchor="ctr"/>
          <a:lstStyle/>
          <a:p>
            <a:pPr indent="0" marL="0">
              <a:buNone/>
            </a:pPr>
            <a:r>
              <a:rPr lang="en-US" sz="1900" i="1" dirty="0">
                <a:solidFill>
                  <a:srgbClr val="5B6470"/>
                </a:solidFill>
                <a:latin typeface="Calibri" pitchFamily="34" charset="0"/>
                <a:ea typeface="Calibri" pitchFamily="34" charset="-122"/>
                <a:cs typeface="Calibri" pitchFamily="34" charset="-120"/>
              </a:rPr>
              <a:t>One decision you've avoided. AI builds the case. You sign.</a:t>
            </a:r>
            <a:endParaRPr lang="en-US" sz="1900" dirty="0"/>
          </a:p>
        </p:txBody>
      </p:sp>
      <p:sp>
        <p:nvSpPr>
          <p:cNvPr id="5" name="Shape 3"/>
          <p:cNvSpPr/>
          <p:nvPr/>
        </p:nvSpPr>
        <p:spPr>
          <a:xfrm>
            <a:off x="548640" y="3291840"/>
            <a:ext cx="5486400" cy="3017520"/>
          </a:xfrm>
          <a:prstGeom prst="rect">
            <a:avLst/>
          </a:prstGeom>
          <a:solidFill>
            <a:srgbClr val="F4F1EA"/>
          </a:solidFill>
          <a:ln w="12700">
            <a:solidFill>
              <a:srgbClr val="D8DCE2"/>
            </a:solidFill>
            <a:prstDash val="solid"/>
          </a:ln>
        </p:spPr>
      </p:sp>
      <p:sp>
        <p:nvSpPr>
          <p:cNvPr id="6" name="Shape 4"/>
          <p:cNvSpPr/>
          <p:nvPr/>
        </p:nvSpPr>
        <p:spPr>
          <a:xfrm>
            <a:off x="548640" y="3291840"/>
            <a:ext cx="73152" cy="3017520"/>
          </a:xfrm>
          <a:prstGeom prst="rect">
            <a:avLst/>
          </a:prstGeom>
          <a:solidFill>
            <a:srgbClr val="1B2A4A"/>
          </a:solidFill>
          <a:ln w="12700">
            <a:solidFill>
              <a:srgbClr val="1B2A4A"/>
            </a:solidFill>
            <a:prstDash val="solid"/>
          </a:ln>
        </p:spPr>
      </p:sp>
      <p:sp>
        <p:nvSpPr>
          <p:cNvPr id="7" name="Text 5"/>
          <p:cNvSpPr/>
          <p:nvPr/>
        </p:nvSpPr>
        <p:spPr>
          <a:xfrm>
            <a:off x="777240" y="3474720"/>
            <a:ext cx="5029200" cy="274320"/>
          </a:xfrm>
          <a:prstGeom prst="rect">
            <a:avLst/>
          </a:prstGeom>
          <a:noFill/>
          <a:ln/>
        </p:spPr>
        <p:txBody>
          <a:bodyPr wrap="square" rtlCol="0" anchor="ctr"/>
          <a:lstStyle/>
          <a:p>
            <a:pPr indent="0" marL="0">
              <a:buNone/>
            </a:pPr>
            <a:r>
              <a:rPr lang="en-US" sz="1100" b="1" spc="300" kern="0" dirty="0">
                <a:solidFill>
                  <a:srgbClr val="CE8E31"/>
                </a:solidFill>
                <a:latin typeface="Calibri" pitchFamily="34" charset="0"/>
                <a:ea typeface="Calibri" pitchFamily="34" charset="-122"/>
                <a:cs typeface="Calibri" pitchFamily="34" charset="-120"/>
              </a:rPr>
              <a:t>THE ACTION</a:t>
            </a:r>
            <a:endParaRPr lang="en-US" sz="1100" dirty="0"/>
          </a:p>
        </p:txBody>
      </p:sp>
      <p:sp>
        <p:nvSpPr>
          <p:cNvPr id="8" name="Text 6"/>
          <p:cNvSpPr/>
          <p:nvPr/>
        </p:nvSpPr>
        <p:spPr>
          <a:xfrm>
            <a:off x="777240" y="3794760"/>
            <a:ext cx="5029200" cy="1463040"/>
          </a:xfrm>
          <a:prstGeom prst="rect">
            <a:avLst/>
          </a:prstGeom>
          <a:noFill/>
          <a:ln/>
        </p:spPr>
        <p:txBody>
          <a:bodyPr wrap="square" rtlCol="0" anchor="ctr"/>
          <a:lstStyle/>
          <a:p>
            <a:pPr indent="0" marL="0">
              <a:buNone/>
            </a:pPr>
            <a:r>
              <a:rPr lang="en-US" sz="1600" dirty="0">
                <a:solidFill>
                  <a:srgbClr val="22272E"/>
                </a:solidFill>
                <a:latin typeface="Calibri" pitchFamily="34" charset="0"/>
                <a:ea typeface="Calibri" pitchFamily="34" charset="-122"/>
                <a:cs typeface="Calibri" pitchFamily="34" charset="-120"/>
              </a:rPr>
              <a:t>20–30 minutes. Open the task card. Run the checklist. Ship the artifact. React ✓ in the cohort channel.</a:t>
            </a:r>
            <a:endParaRPr lang="en-US" sz="1600" dirty="0"/>
          </a:p>
        </p:txBody>
      </p:sp>
      <p:sp>
        <p:nvSpPr>
          <p:cNvPr id="9" name="Text 7"/>
          <p:cNvSpPr/>
          <p:nvPr/>
        </p:nvSpPr>
        <p:spPr>
          <a:xfrm>
            <a:off x="777240" y="5669280"/>
            <a:ext cx="5029200" cy="457200"/>
          </a:xfrm>
          <a:prstGeom prst="rect">
            <a:avLst/>
          </a:prstGeom>
          <a:noFill/>
          <a:ln/>
        </p:spPr>
        <p:txBody>
          <a:bodyPr wrap="square" rtlCol="0" anchor="ctr"/>
          <a:lstStyle/>
          <a:p>
            <a:pPr indent="0" marL="0">
              <a:buNone/>
            </a:pPr>
            <a:r>
              <a:rPr lang="en-US" sz="1400" b="1" i="1" dirty="0">
                <a:solidFill>
                  <a:srgbClr val="1B2A4A"/>
                </a:solidFill>
                <a:latin typeface="Calibri" pitchFamily="34" charset="0"/>
                <a:ea typeface="Calibri" pitchFamily="34" charset="-122"/>
                <a:cs typeface="Calibri" pitchFamily="34" charset="-120"/>
              </a:rPr>
              <a:t>AI drafts. The watchman decides.</a:t>
            </a:r>
            <a:endParaRPr lang="en-US" sz="1400" dirty="0"/>
          </a:p>
        </p:txBody>
      </p:sp>
      <p:sp>
        <p:nvSpPr>
          <p:cNvPr id="10" name="Shape 8"/>
          <p:cNvSpPr/>
          <p:nvPr/>
        </p:nvSpPr>
        <p:spPr>
          <a:xfrm>
            <a:off x="6217920" y="3291840"/>
            <a:ext cx="5394960" cy="3017520"/>
          </a:xfrm>
          <a:prstGeom prst="rect">
            <a:avLst/>
          </a:prstGeom>
          <a:solidFill>
            <a:srgbClr val="A8742A"/>
          </a:solidFill>
          <a:ln w="12700">
            <a:solidFill>
              <a:srgbClr val="A8742A"/>
            </a:solidFill>
            <a:prstDash val="solid"/>
          </a:ln>
        </p:spPr>
      </p:sp>
      <p:sp>
        <p:nvSpPr>
          <p:cNvPr id="11" name="Text 9"/>
          <p:cNvSpPr/>
          <p:nvPr/>
        </p:nvSpPr>
        <p:spPr>
          <a:xfrm>
            <a:off x="6446520" y="3520440"/>
            <a:ext cx="5029200" cy="274320"/>
          </a:xfrm>
          <a:prstGeom prst="rect">
            <a:avLst/>
          </a:prstGeom>
          <a:noFill/>
          <a:ln/>
        </p:spPr>
        <p:txBody>
          <a:bodyPr wrap="square" rtlCol="0" anchor="ctr"/>
          <a:lstStyle/>
          <a:p>
            <a:pPr indent="0" marL="0">
              <a:buNone/>
            </a:pPr>
            <a:r>
              <a:rPr lang="en-US" sz="1100" b="1" spc="300" kern="0" dirty="0">
                <a:solidFill>
                  <a:srgbClr val="FFFFFF"/>
                </a:solidFill>
                <a:latin typeface="Calibri" pitchFamily="34" charset="0"/>
                <a:ea typeface="Calibri" pitchFamily="34" charset="-122"/>
                <a:cs typeface="Calibri" pitchFamily="34" charset="-120"/>
              </a:rPr>
              <a:t>SCRIPTURE ANCHOR</a:t>
            </a:r>
            <a:endParaRPr lang="en-US" sz="1100" dirty="0"/>
          </a:p>
        </p:txBody>
      </p:sp>
      <p:sp>
        <p:nvSpPr>
          <p:cNvPr id="12" name="Text 10"/>
          <p:cNvSpPr/>
          <p:nvPr/>
        </p:nvSpPr>
        <p:spPr>
          <a:xfrm>
            <a:off x="6446520" y="3840480"/>
            <a:ext cx="5029200" cy="502920"/>
          </a:xfrm>
          <a:prstGeom prst="rect">
            <a:avLst/>
          </a:prstGeom>
          <a:noFill/>
          <a:ln/>
        </p:spPr>
        <p:txBody>
          <a:bodyPr wrap="square"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Week 8 · Operator Output</a:t>
            </a:r>
            <a:endParaRPr lang="en-US" sz="2000" dirty="0"/>
          </a:p>
        </p:txBody>
      </p:sp>
      <p:sp>
        <p:nvSpPr>
          <p:cNvPr id="13" name="Text 11"/>
          <p:cNvSpPr/>
          <p:nvPr/>
        </p:nvSpPr>
        <p:spPr>
          <a:xfrm>
            <a:off x="6446520" y="4434840"/>
            <a:ext cx="5029200" cy="548640"/>
          </a:xfrm>
          <a:prstGeom prst="rect">
            <a:avLst/>
          </a:prstGeom>
          <a:noFill/>
          <a:ln/>
        </p:spPr>
        <p:txBody>
          <a:bodyPr wrap="square" rtlCol="0" anchor="ctr"/>
          <a:lstStyle/>
          <a:p>
            <a:pPr indent="0" marL="0">
              <a:buNone/>
            </a:pPr>
            <a:r>
              <a:rPr lang="en-US" sz="1800" i="1" dirty="0">
                <a:solidFill>
                  <a:srgbClr val="FFFFFF"/>
                </a:solidFill>
                <a:latin typeface="Calibri" pitchFamily="34" charset="0"/>
                <a:ea typeface="Calibri" pitchFamily="34" charset="-122"/>
                <a:cs typeface="Calibri" pitchFamily="34" charset="-120"/>
              </a:rPr>
              <a:t>Colossians 3:23</a:t>
            </a:r>
            <a:endParaRPr lang="en-US" sz="1800" dirty="0"/>
          </a:p>
        </p:txBody>
      </p:sp>
      <p:sp>
        <p:nvSpPr>
          <p:cNvPr id="14" name="Text 12"/>
          <p:cNvSpPr/>
          <p:nvPr/>
        </p:nvSpPr>
        <p:spPr>
          <a:xfrm>
            <a:off x="6446520" y="5669280"/>
            <a:ext cx="5029200" cy="365760"/>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Read aloud at the open and the close.</a:t>
            </a:r>
            <a:endParaRPr lang="en-US" sz="1300" dirty="0"/>
          </a:p>
        </p:txBody>
      </p:sp>
      <p:sp>
        <p:nvSpPr>
          <p:cNvPr id="15" name="Text 13"/>
          <p:cNvSpPr/>
          <p:nvPr/>
        </p:nvSpPr>
        <p:spPr>
          <a:xfrm>
            <a:off x="548640" y="6492240"/>
            <a:ext cx="7315200" cy="274320"/>
          </a:xfrm>
          <a:prstGeom prst="rect">
            <a:avLst/>
          </a:prstGeom>
          <a:noFill/>
          <a:ln/>
        </p:spPr>
        <p:txBody>
          <a:bodyPr wrap="square" rtlCol="0" anchor="ctr"/>
          <a:lstStyle/>
          <a:p>
            <a:pPr indent="0" marL="0">
              <a:buNone/>
            </a:pPr>
            <a:r>
              <a:rPr lang="en-US" sz="1000" i="1" dirty="0">
                <a:solidFill>
                  <a:srgbClr val="5B6470"/>
                </a:solidFill>
                <a:latin typeface="Calibri" pitchFamily="34" charset="0"/>
                <a:ea typeface="Calibri" pitchFamily="34" charset="-122"/>
                <a:cs typeface="Calibri" pitchFamily="34" charset="-120"/>
              </a:rPr>
              <a:t>Week 8 · Operator Output · Task 2</a:t>
            </a:r>
            <a:endParaRPr lang="en-US" sz="10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0972800" cy="365760"/>
          </a:xfrm>
          <a:prstGeom prst="rect">
            <a:avLst/>
          </a:prstGeom>
          <a:noFill/>
          <a:ln/>
        </p:spPr>
        <p:txBody>
          <a:bodyPr wrap="square" rtlCol="0" anchor="ctr"/>
          <a:lstStyle/>
          <a:p>
            <a:pPr indent="0" marL="0">
              <a:buNone/>
            </a:pPr>
            <a:r>
              <a:rPr lang="en-US" sz="1100" b="1" spc="400" kern="0" dirty="0">
                <a:solidFill>
                  <a:srgbClr val="A8742A"/>
                </a:solidFill>
                <a:latin typeface="Calibri" pitchFamily="34" charset="0"/>
                <a:ea typeface="Calibri" pitchFamily="34" charset="-122"/>
                <a:cs typeface="Calibri" pitchFamily="34" charset="-120"/>
              </a:rPr>
              <a:t>WEEK 8 · TASK 3 · FRIDAY</a:t>
            </a:r>
            <a:endParaRPr lang="en-US" sz="1100" dirty="0"/>
          </a:p>
        </p:txBody>
      </p:sp>
      <p:sp>
        <p:nvSpPr>
          <p:cNvPr id="3" name="Text 1"/>
          <p:cNvSpPr/>
          <p:nvPr/>
        </p:nvSpPr>
        <p:spPr>
          <a:xfrm>
            <a:off x="548640" y="822960"/>
            <a:ext cx="11155680" cy="1280160"/>
          </a:xfrm>
          <a:prstGeom prst="rect">
            <a:avLst/>
          </a:prstGeom>
          <a:noFill/>
          <a:ln/>
        </p:spPr>
        <p:txBody>
          <a:bodyPr wrap="square" rtlCol="0" anchor="t"/>
          <a:lstStyle/>
          <a:p>
            <a:pPr indent="0" marL="0">
              <a:buNone/>
            </a:pPr>
            <a:r>
              <a:rPr lang="en-US" sz="3600" b="1" dirty="0">
                <a:solidFill>
                  <a:srgbClr val="1B2A4A"/>
                </a:solidFill>
                <a:latin typeface="Calibri" pitchFamily="34" charset="0"/>
                <a:ea typeface="Calibri" pitchFamily="34" charset="-122"/>
                <a:cs typeface="Calibri" pitchFamily="34" charset="-120"/>
              </a:rPr>
              <a:t>Ship One Piece in Your Voice</a:t>
            </a:r>
            <a:endParaRPr lang="en-US" sz="3600" dirty="0"/>
          </a:p>
        </p:txBody>
      </p:sp>
      <p:sp>
        <p:nvSpPr>
          <p:cNvPr id="4" name="Text 2"/>
          <p:cNvSpPr/>
          <p:nvPr/>
        </p:nvSpPr>
        <p:spPr>
          <a:xfrm>
            <a:off x="548640" y="2103120"/>
            <a:ext cx="10972800" cy="731520"/>
          </a:xfrm>
          <a:prstGeom prst="rect">
            <a:avLst/>
          </a:prstGeom>
          <a:noFill/>
          <a:ln/>
        </p:spPr>
        <p:txBody>
          <a:bodyPr wrap="square" rtlCol="0" anchor="ctr"/>
          <a:lstStyle/>
          <a:p>
            <a:pPr indent="0" marL="0">
              <a:buNone/>
            </a:pPr>
            <a:r>
              <a:rPr lang="en-US" sz="1900" i="1" dirty="0">
                <a:solidFill>
                  <a:srgbClr val="5B6470"/>
                </a:solidFill>
                <a:latin typeface="Calibri" pitchFamily="34" charset="0"/>
                <a:ea typeface="Calibri" pitchFamily="34" charset="-122"/>
                <a:cs typeface="Calibri" pitchFamily="34" charset="-120"/>
              </a:rPr>
              <a:t>Public writing under your name. AI-assisted, you-edited, you-signed.</a:t>
            </a:r>
            <a:endParaRPr lang="en-US" sz="1900" dirty="0"/>
          </a:p>
        </p:txBody>
      </p:sp>
      <p:sp>
        <p:nvSpPr>
          <p:cNvPr id="5" name="Shape 3"/>
          <p:cNvSpPr/>
          <p:nvPr/>
        </p:nvSpPr>
        <p:spPr>
          <a:xfrm>
            <a:off x="548640" y="3291840"/>
            <a:ext cx="5486400" cy="3017520"/>
          </a:xfrm>
          <a:prstGeom prst="rect">
            <a:avLst/>
          </a:prstGeom>
          <a:solidFill>
            <a:srgbClr val="F4F1EA"/>
          </a:solidFill>
          <a:ln w="12700">
            <a:solidFill>
              <a:srgbClr val="D8DCE2"/>
            </a:solidFill>
            <a:prstDash val="solid"/>
          </a:ln>
        </p:spPr>
      </p:sp>
      <p:sp>
        <p:nvSpPr>
          <p:cNvPr id="6" name="Shape 4"/>
          <p:cNvSpPr/>
          <p:nvPr/>
        </p:nvSpPr>
        <p:spPr>
          <a:xfrm>
            <a:off x="548640" y="3291840"/>
            <a:ext cx="73152" cy="3017520"/>
          </a:xfrm>
          <a:prstGeom prst="rect">
            <a:avLst/>
          </a:prstGeom>
          <a:solidFill>
            <a:srgbClr val="1B2A4A"/>
          </a:solidFill>
          <a:ln w="12700">
            <a:solidFill>
              <a:srgbClr val="1B2A4A"/>
            </a:solidFill>
            <a:prstDash val="solid"/>
          </a:ln>
        </p:spPr>
      </p:sp>
      <p:sp>
        <p:nvSpPr>
          <p:cNvPr id="7" name="Text 5"/>
          <p:cNvSpPr/>
          <p:nvPr/>
        </p:nvSpPr>
        <p:spPr>
          <a:xfrm>
            <a:off x="777240" y="3474720"/>
            <a:ext cx="5029200" cy="274320"/>
          </a:xfrm>
          <a:prstGeom prst="rect">
            <a:avLst/>
          </a:prstGeom>
          <a:noFill/>
          <a:ln/>
        </p:spPr>
        <p:txBody>
          <a:bodyPr wrap="square" rtlCol="0" anchor="ctr"/>
          <a:lstStyle/>
          <a:p>
            <a:pPr indent="0" marL="0">
              <a:buNone/>
            </a:pPr>
            <a:r>
              <a:rPr lang="en-US" sz="1100" b="1" spc="300" kern="0" dirty="0">
                <a:solidFill>
                  <a:srgbClr val="CE8E31"/>
                </a:solidFill>
                <a:latin typeface="Calibri" pitchFamily="34" charset="0"/>
                <a:ea typeface="Calibri" pitchFamily="34" charset="-122"/>
                <a:cs typeface="Calibri" pitchFamily="34" charset="-120"/>
              </a:rPr>
              <a:t>THE ACTION</a:t>
            </a:r>
            <a:endParaRPr lang="en-US" sz="1100" dirty="0"/>
          </a:p>
        </p:txBody>
      </p:sp>
      <p:sp>
        <p:nvSpPr>
          <p:cNvPr id="8" name="Text 6"/>
          <p:cNvSpPr/>
          <p:nvPr/>
        </p:nvSpPr>
        <p:spPr>
          <a:xfrm>
            <a:off x="777240" y="3794760"/>
            <a:ext cx="5029200" cy="1463040"/>
          </a:xfrm>
          <a:prstGeom prst="rect">
            <a:avLst/>
          </a:prstGeom>
          <a:noFill/>
          <a:ln/>
        </p:spPr>
        <p:txBody>
          <a:bodyPr wrap="square" rtlCol="0" anchor="ctr"/>
          <a:lstStyle/>
          <a:p>
            <a:pPr indent="0" marL="0">
              <a:buNone/>
            </a:pPr>
            <a:r>
              <a:rPr lang="en-US" sz="1600" dirty="0">
                <a:solidFill>
                  <a:srgbClr val="22272E"/>
                </a:solidFill>
                <a:latin typeface="Calibri" pitchFamily="34" charset="0"/>
                <a:ea typeface="Calibri" pitchFamily="34" charset="-122"/>
                <a:cs typeface="Calibri" pitchFamily="34" charset="-120"/>
              </a:rPr>
              <a:t>20–30 minutes. Open the task card. Run the checklist. Ship the artifact. React ✓ in the cohort channel.</a:t>
            </a:r>
            <a:endParaRPr lang="en-US" sz="1600" dirty="0"/>
          </a:p>
        </p:txBody>
      </p:sp>
      <p:sp>
        <p:nvSpPr>
          <p:cNvPr id="9" name="Text 7"/>
          <p:cNvSpPr/>
          <p:nvPr/>
        </p:nvSpPr>
        <p:spPr>
          <a:xfrm>
            <a:off x="777240" y="5669280"/>
            <a:ext cx="5029200" cy="457200"/>
          </a:xfrm>
          <a:prstGeom prst="rect">
            <a:avLst/>
          </a:prstGeom>
          <a:noFill/>
          <a:ln/>
        </p:spPr>
        <p:txBody>
          <a:bodyPr wrap="square" rtlCol="0" anchor="ctr"/>
          <a:lstStyle/>
          <a:p>
            <a:pPr indent="0" marL="0">
              <a:buNone/>
            </a:pPr>
            <a:r>
              <a:rPr lang="en-US" sz="1400" b="1" i="1" dirty="0">
                <a:solidFill>
                  <a:srgbClr val="1B2A4A"/>
                </a:solidFill>
                <a:latin typeface="Calibri" pitchFamily="34" charset="0"/>
                <a:ea typeface="Calibri" pitchFamily="34" charset="-122"/>
                <a:cs typeface="Calibri" pitchFamily="34" charset="-120"/>
              </a:rPr>
              <a:t>AI drafts. The watchman decides.</a:t>
            </a:r>
            <a:endParaRPr lang="en-US" sz="1400" dirty="0"/>
          </a:p>
        </p:txBody>
      </p:sp>
      <p:sp>
        <p:nvSpPr>
          <p:cNvPr id="10" name="Shape 8"/>
          <p:cNvSpPr/>
          <p:nvPr/>
        </p:nvSpPr>
        <p:spPr>
          <a:xfrm>
            <a:off x="6217920" y="3291840"/>
            <a:ext cx="5394960" cy="3017520"/>
          </a:xfrm>
          <a:prstGeom prst="rect">
            <a:avLst/>
          </a:prstGeom>
          <a:solidFill>
            <a:srgbClr val="A8742A"/>
          </a:solidFill>
          <a:ln w="12700">
            <a:solidFill>
              <a:srgbClr val="A8742A"/>
            </a:solidFill>
            <a:prstDash val="solid"/>
          </a:ln>
        </p:spPr>
      </p:sp>
      <p:sp>
        <p:nvSpPr>
          <p:cNvPr id="11" name="Text 9"/>
          <p:cNvSpPr/>
          <p:nvPr/>
        </p:nvSpPr>
        <p:spPr>
          <a:xfrm>
            <a:off x="6446520" y="3520440"/>
            <a:ext cx="5029200" cy="274320"/>
          </a:xfrm>
          <a:prstGeom prst="rect">
            <a:avLst/>
          </a:prstGeom>
          <a:noFill/>
          <a:ln/>
        </p:spPr>
        <p:txBody>
          <a:bodyPr wrap="square" rtlCol="0" anchor="ctr"/>
          <a:lstStyle/>
          <a:p>
            <a:pPr indent="0" marL="0">
              <a:buNone/>
            </a:pPr>
            <a:r>
              <a:rPr lang="en-US" sz="1100" b="1" spc="300" kern="0" dirty="0">
                <a:solidFill>
                  <a:srgbClr val="FFFFFF"/>
                </a:solidFill>
                <a:latin typeface="Calibri" pitchFamily="34" charset="0"/>
                <a:ea typeface="Calibri" pitchFamily="34" charset="-122"/>
                <a:cs typeface="Calibri" pitchFamily="34" charset="-120"/>
              </a:rPr>
              <a:t>SCRIPTURE ANCHOR</a:t>
            </a:r>
            <a:endParaRPr lang="en-US" sz="1100" dirty="0"/>
          </a:p>
        </p:txBody>
      </p:sp>
      <p:sp>
        <p:nvSpPr>
          <p:cNvPr id="12" name="Text 10"/>
          <p:cNvSpPr/>
          <p:nvPr/>
        </p:nvSpPr>
        <p:spPr>
          <a:xfrm>
            <a:off x="6446520" y="3840480"/>
            <a:ext cx="5029200" cy="502920"/>
          </a:xfrm>
          <a:prstGeom prst="rect">
            <a:avLst/>
          </a:prstGeom>
          <a:noFill/>
          <a:ln/>
        </p:spPr>
        <p:txBody>
          <a:bodyPr wrap="square"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Week 8 · Operator Output</a:t>
            </a:r>
            <a:endParaRPr lang="en-US" sz="2000" dirty="0"/>
          </a:p>
        </p:txBody>
      </p:sp>
      <p:sp>
        <p:nvSpPr>
          <p:cNvPr id="13" name="Text 11"/>
          <p:cNvSpPr/>
          <p:nvPr/>
        </p:nvSpPr>
        <p:spPr>
          <a:xfrm>
            <a:off x="6446520" y="4434840"/>
            <a:ext cx="5029200" cy="548640"/>
          </a:xfrm>
          <a:prstGeom prst="rect">
            <a:avLst/>
          </a:prstGeom>
          <a:noFill/>
          <a:ln/>
        </p:spPr>
        <p:txBody>
          <a:bodyPr wrap="square" rtlCol="0" anchor="ctr"/>
          <a:lstStyle/>
          <a:p>
            <a:pPr indent="0" marL="0">
              <a:buNone/>
            </a:pPr>
            <a:r>
              <a:rPr lang="en-US" sz="1800" i="1" dirty="0">
                <a:solidFill>
                  <a:srgbClr val="FFFFFF"/>
                </a:solidFill>
                <a:latin typeface="Calibri" pitchFamily="34" charset="0"/>
                <a:ea typeface="Calibri" pitchFamily="34" charset="-122"/>
                <a:cs typeface="Calibri" pitchFamily="34" charset="-120"/>
              </a:rPr>
              <a:t>Colossians 3:23</a:t>
            </a:r>
            <a:endParaRPr lang="en-US" sz="1800" dirty="0"/>
          </a:p>
        </p:txBody>
      </p:sp>
      <p:sp>
        <p:nvSpPr>
          <p:cNvPr id="14" name="Text 12"/>
          <p:cNvSpPr/>
          <p:nvPr/>
        </p:nvSpPr>
        <p:spPr>
          <a:xfrm>
            <a:off x="6446520" y="5669280"/>
            <a:ext cx="5029200" cy="365760"/>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Read aloud at the open and the close.</a:t>
            </a:r>
            <a:endParaRPr lang="en-US" sz="1300" dirty="0"/>
          </a:p>
        </p:txBody>
      </p:sp>
      <p:sp>
        <p:nvSpPr>
          <p:cNvPr id="15" name="Text 13"/>
          <p:cNvSpPr/>
          <p:nvPr/>
        </p:nvSpPr>
        <p:spPr>
          <a:xfrm>
            <a:off x="548640" y="6492240"/>
            <a:ext cx="7315200" cy="274320"/>
          </a:xfrm>
          <a:prstGeom prst="rect">
            <a:avLst/>
          </a:prstGeom>
          <a:noFill/>
          <a:ln/>
        </p:spPr>
        <p:txBody>
          <a:bodyPr wrap="square" rtlCol="0" anchor="ctr"/>
          <a:lstStyle/>
          <a:p>
            <a:pPr indent="0" marL="0">
              <a:buNone/>
            </a:pPr>
            <a:r>
              <a:rPr lang="en-US" sz="1000" i="1" dirty="0">
                <a:solidFill>
                  <a:srgbClr val="5B6470"/>
                </a:solidFill>
                <a:latin typeface="Calibri" pitchFamily="34" charset="0"/>
                <a:ea typeface="Calibri" pitchFamily="34" charset="-122"/>
                <a:cs typeface="Calibri" pitchFamily="34" charset="-120"/>
              </a:rPr>
              <a:t>Week 8 · Operator Output · Task 3</a:t>
            </a:r>
            <a:endParaRPr lang="en-US" sz="10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1B2A4A"/>
        </a:solidFill>
      </p:bgPr>
    </p:bg>
    <p:spTree>
      <p:nvGrpSpPr>
        <p:cNvPr id="1" name=""/>
        <p:cNvGrpSpPr/>
        <p:nvPr/>
      </p:nvGrpSpPr>
      <p:grpSpPr>
        <a:xfrm>
          <a:off x="0" y="0"/>
          <a:ext cx="0" cy="0"/>
          <a:chOff x="0" y="0"/>
          <a:chExt cx="0" cy="0"/>
        </a:xfrm>
      </p:grpSpPr>
      <p:sp>
        <p:nvSpPr>
          <p:cNvPr id="2" name="Text 0"/>
          <p:cNvSpPr/>
          <p:nvPr/>
        </p:nvSpPr>
        <p:spPr>
          <a:xfrm>
            <a:off x="548640" y="1463040"/>
            <a:ext cx="10972800" cy="457200"/>
          </a:xfrm>
          <a:prstGeom prst="rect">
            <a:avLst/>
          </a:prstGeom>
          <a:noFill/>
          <a:ln/>
        </p:spPr>
        <p:txBody>
          <a:bodyPr wrap="square" rtlCol="0" anchor="ctr"/>
          <a:lstStyle/>
          <a:p>
            <a:pPr indent="0" marL="0">
              <a:buNone/>
            </a:pPr>
            <a:r>
              <a:rPr lang="en-US" sz="1400" b="1" spc="500" kern="0" dirty="0">
                <a:solidFill>
                  <a:srgbClr val="3B5998"/>
                </a:solidFill>
                <a:latin typeface="Calibri" pitchFamily="34" charset="0"/>
                <a:ea typeface="Calibri" pitchFamily="34" charset="-122"/>
                <a:cs typeface="Calibri" pitchFamily="34" charset="-120"/>
              </a:rPr>
              <a:t>WEEK 9  ·  BLOCK IV — MINISTRY LAYER</a:t>
            </a:r>
            <a:endParaRPr lang="en-US" sz="1400" dirty="0"/>
          </a:p>
        </p:txBody>
      </p:sp>
      <p:sp>
        <p:nvSpPr>
          <p:cNvPr id="3" name="Text 1"/>
          <p:cNvSpPr/>
          <p:nvPr/>
        </p:nvSpPr>
        <p:spPr>
          <a:xfrm>
            <a:off x="548640" y="1920240"/>
            <a:ext cx="11338560" cy="1371600"/>
          </a:xfrm>
          <a:prstGeom prst="rect">
            <a:avLst/>
          </a:prstGeom>
          <a:noFill/>
          <a:ln/>
        </p:spPr>
        <p:txBody>
          <a:bodyPr wrap="square" rtlCol="0" anchor="ctr"/>
          <a:lstStyle/>
          <a:p>
            <a:pPr indent="0" marL="0">
              <a:buNone/>
            </a:pPr>
            <a:r>
              <a:rPr lang="en-US" sz="5400" b="1" dirty="0">
                <a:solidFill>
                  <a:srgbClr val="FFFFFF"/>
                </a:solidFill>
                <a:latin typeface="Calibri" pitchFamily="34" charset="0"/>
                <a:ea typeface="Calibri" pitchFamily="34" charset="-122"/>
                <a:cs typeface="Calibri" pitchFamily="34" charset="-120"/>
              </a:rPr>
              <a:t>MINISTRY TOOLS</a:t>
            </a:r>
            <a:endParaRPr lang="en-US" sz="5400" dirty="0"/>
          </a:p>
        </p:txBody>
      </p:sp>
      <p:sp>
        <p:nvSpPr>
          <p:cNvPr id="4" name="Shape 2"/>
          <p:cNvSpPr/>
          <p:nvPr/>
        </p:nvSpPr>
        <p:spPr>
          <a:xfrm>
            <a:off x="548640" y="3383280"/>
            <a:ext cx="1828800" cy="73152"/>
          </a:xfrm>
          <a:prstGeom prst="rect">
            <a:avLst/>
          </a:prstGeom>
          <a:solidFill>
            <a:srgbClr val="3B5998"/>
          </a:solidFill>
          <a:ln w="12700">
            <a:solidFill>
              <a:srgbClr val="3B5998"/>
            </a:solidFill>
            <a:prstDash val="solid"/>
          </a:ln>
        </p:spPr>
      </p:sp>
      <p:sp>
        <p:nvSpPr>
          <p:cNvPr id="5" name="Text 3"/>
          <p:cNvSpPr/>
          <p:nvPr/>
        </p:nvSpPr>
        <p:spPr>
          <a:xfrm>
            <a:off x="548640" y="3566160"/>
            <a:ext cx="10515600" cy="1097280"/>
          </a:xfrm>
          <a:prstGeom prst="rect">
            <a:avLst/>
          </a:prstGeom>
          <a:noFill/>
          <a:ln/>
        </p:spPr>
        <p:txBody>
          <a:bodyPr wrap="square" rtlCol="0" anchor="ctr"/>
          <a:lstStyle/>
          <a:p>
            <a:pPr indent="0" marL="0">
              <a:buNone/>
            </a:pPr>
            <a:r>
              <a:rPr lang="en-US" sz="2200" i="1" dirty="0">
                <a:solidFill>
                  <a:srgbClr val="94A3B8"/>
                </a:solidFill>
                <a:latin typeface="Calibri" pitchFamily="34" charset="0"/>
                <a:ea typeface="Calibri" pitchFamily="34" charset="-122"/>
                <a:cs typeface="Calibri" pitchFamily="34" charset="-120"/>
              </a:rPr>
              <a:t>Sermon to weekly actions; a ten-minute Scripture-study loop with AI as partner; a teaching aid you'll actually use Sunday.</a:t>
            </a:r>
            <a:endParaRPr lang="en-US" sz="2200" dirty="0"/>
          </a:p>
        </p:txBody>
      </p:sp>
      <p:sp>
        <p:nvSpPr>
          <p:cNvPr id="6" name="Text 4"/>
          <p:cNvSpPr/>
          <p:nvPr/>
        </p:nvSpPr>
        <p:spPr>
          <a:xfrm>
            <a:off x="548640" y="5029200"/>
            <a:ext cx="10972800" cy="274320"/>
          </a:xfrm>
          <a:prstGeom prst="rect">
            <a:avLst/>
          </a:prstGeom>
          <a:noFill/>
          <a:ln/>
        </p:spPr>
        <p:txBody>
          <a:bodyPr wrap="square" rtlCol="0" anchor="ctr"/>
          <a:lstStyle/>
          <a:p>
            <a:pPr indent="0" marL="0">
              <a:buNone/>
            </a:pPr>
            <a:r>
              <a:rPr lang="en-US" sz="1000" b="1" spc="400" kern="0" dirty="0">
                <a:solidFill>
                  <a:srgbClr val="CE8E31"/>
                </a:solidFill>
                <a:latin typeface="Calibri" pitchFamily="34" charset="0"/>
                <a:ea typeface="Calibri" pitchFamily="34" charset="-122"/>
                <a:cs typeface="Calibri" pitchFamily="34" charset="-120"/>
              </a:rPr>
              <a:t>SCRIPTURE</a:t>
            </a:r>
            <a:endParaRPr lang="en-US" sz="1000" dirty="0"/>
          </a:p>
        </p:txBody>
      </p:sp>
      <p:sp>
        <p:nvSpPr>
          <p:cNvPr id="7" name="Text 5"/>
          <p:cNvSpPr/>
          <p:nvPr/>
        </p:nvSpPr>
        <p:spPr>
          <a:xfrm>
            <a:off x="548640" y="5303520"/>
            <a:ext cx="10972800" cy="457200"/>
          </a:xfrm>
          <a:prstGeom prst="rect">
            <a:avLst/>
          </a:prstGeom>
          <a:noFill/>
          <a:ln/>
        </p:spPr>
        <p:txBody>
          <a:bodyPr wrap="square" rtlCol="0" anchor="ctr"/>
          <a:lstStyle/>
          <a:p>
            <a:pPr indent="0" marL="0">
              <a:buNone/>
            </a:pPr>
            <a:r>
              <a:rPr lang="en-US" sz="2000" dirty="0">
                <a:solidFill>
                  <a:srgbClr val="FFFFFF"/>
                </a:solidFill>
                <a:latin typeface="Calibri" pitchFamily="34" charset="0"/>
                <a:ea typeface="Calibri" pitchFamily="34" charset="-122"/>
                <a:cs typeface="Calibri" pitchFamily="34" charset="-120"/>
              </a:rPr>
              <a:t>2 Timothy 3:16–17</a:t>
            </a:r>
            <a:endParaRPr lang="en-US" sz="2000" dirty="0"/>
          </a:p>
        </p:txBody>
      </p:sp>
      <p:sp>
        <p:nvSpPr>
          <p:cNvPr id="8" name="Text 6"/>
          <p:cNvSpPr/>
          <p:nvPr/>
        </p:nvSpPr>
        <p:spPr>
          <a:xfrm>
            <a:off x="548640" y="6492240"/>
            <a:ext cx="7315200" cy="274320"/>
          </a:xfrm>
          <a:prstGeom prst="rect">
            <a:avLst/>
          </a:prstGeom>
          <a:noFill/>
          <a:ln/>
        </p:spPr>
        <p:txBody>
          <a:bodyPr wrap="square" rtlCol="0" anchor="ctr"/>
          <a:lstStyle/>
          <a:p>
            <a:pPr indent="0" marL="0">
              <a:buNone/>
            </a:pPr>
            <a:r>
              <a:rPr lang="en-US" sz="1000" i="1" dirty="0">
                <a:solidFill>
                  <a:srgbClr val="5B6470"/>
                </a:solidFill>
                <a:latin typeface="Calibri" pitchFamily="34" charset="0"/>
                <a:ea typeface="Calibri" pitchFamily="34" charset="-122"/>
                <a:cs typeface="Calibri" pitchFamily="34" charset="-120"/>
              </a:rPr>
              <a:t>Week 9 · Ministry Tools</a:t>
            </a:r>
            <a:endParaRPr lang="en-US" sz="10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0972800" cy="365760"/>
          </a:xfrm>
          <a:prstGeom prst="rect">
            <a:avLst/>
          </a:prstGeom>
          <a:noFill/>
          <a:ln/>
        </p:spPr>
        <p:txBody>
          <a:bodyPr wrap="square" rtlCol="0" anchor="ctr"/>
          <a:lstStyle/>
          <a:p>
            <a:pPr indent="0" marL="0">
              <a:buNone/>
            </a:pPr>
            <a:r>
              <a:rPr lang="en-US" sz="1100" b="1" spc="400" kern="0" dirty="0">
                <a:solidFill>
                  <a:srgbClr val="3B5998"/>
                </a:solidFill>
                <a:latin typeface="Calibri" pitchFamily="34" charset="0"/>
                <a:ea typeface="Calibri" pitchFamily="34" charset="-122"/>
                <a:cs typeface="Calibri" pitchFamily="34" charset="-120"/>
              </a:rPr>
              <a:t>WEEK 9 · TASK 1 · MONDAY</a:t>
            </a:r>
            <a:endParaRPr lang="en-US" sz="1100" dirty="0"/>
          </a:p>
        </p:txBody>
      </p:sp>
      <p:sp>
        <p:nvSpPr>
          <p:cNvPr id="3" name="Text 1"/>
          <p:cNvSpPr/>
          <p:nvPr/>
        </p:nvSpPr>
        <p:spPr>
          <a:xfrm>
            <a:off x="548640" y="822960"/>
            <a:ext cx="11155680" cy="1280160"/>
          </a:xfrm>
          <a:prstGeom prst="rect">
            <a:avLst/>
          </a:prstGeom>
          <a:noFill/>
          <a:ln/>
        </p:spPr>
        <p:txBody>
          <a:bodyPr wrap="square" rtlCol="0" anchor="t"/>
          <a:lstStyle/>
          <a:p>
            <a:pPr indent="0" marL="0">
              <a:buNone/>
            </a:pPr>
            <a:r>
              <a:rPr lang="en-US" sz="3600" b="1" dirty="0">
                <a:solidFill>
                  <a:srgbClr val="1B2A4A"/>
                </a:solidFill>
                <a:latin typeface="Calibri" pitchFamily="34" charset="0"/>
                <a:ea typeface="Calibri" pitchFamily="34" charset="-122"/>
                <a:cs typeface="Calibri" pitchFamily="34" charset="-120"/>
              </a:rPr>
              <a:t>Sermon → Watchman's Actions</a:t>
            </a:r>
            <a:endParaRPr lang="en-US" sz="3600" dirty="0"/>
          </a:p>
        </p:txBody>
      </p:sp>
      <p:sp>
        <p:nvSpPr>
          <p:cNvPr id="4" name="Text 2"/>
          <p:cNvSpPr/>
          <p:nvPr/>
        </p:nvSpPr>
        <p:spPr>
          <a:xfrm>
            <a:off x="548640" y="2103120"/>
            <a:ext cx="10972800" cy="731520"/>
          </a:xfrm>
          <a:prstGeom prst="rect">
            <a:avLst/>
          </a:prstGeom>
          <a:noFill/>
          <a:ln/>
        </p:spPr>
        <p:txBody>
          <a:bodyPr wrap="square" rtlCol="0" anchor="ctr"/>
          <a:lstStyle/>
          <a:p>
            <a:pPr indent="0" marL="0">
              <a:buNone/>
            </a:pPr>
            <a:r>
              <a:rPr lang="en-US" sz="1900" i="1" dirty="0">
                <a:solidFill>
                  <a:srgbClr val="5B6470"/>
                </a:solidFill>
                <a:latin typeface="Calibri" pitchFamily="34" charset="0"/>
                <a:ea typeface="Calibri" pitchFamily="34" charset="-122"/>
                <a:cs typeface="Calibri" pitchFamily="34" charset="-120"/>
              </a:rPr>
              <a:t>This Sunday's sermon becomes five actions you'll do this week.</a:t>
            </a:r>
            <a:endParaRPr lang="en-US" sz="1900" dirty="0"/>
          </a:p>
        </p:txBody>
      </p:sp>
      <p:sp>
        <p:nvSpPr>
          <p:cNvPr id="5" name="Shape 3"/>
          <p:cNvSpPr/>
          <p:nvPr/>
        </p:nvSpPr>
        <p:spPr>
          <a:xfrm>
            <a:off x="548640" y="3291840"/>
            <a:ext cx="5486400" cy="3017520"/>
          </a:xfrm>
          <a:prstGeom prst="rect">
            <a:avLst/>
          </a:prstGeom>
          <a:solidFill>
            <a:srgbClr val="F4F1EA"/>
          </a:solidFill>
          <a:ln w="12700">
            <a:solidFill>
              <a:srgbClr val="D8DCE2"/>
            </a:solidFill>
            <a:prstDash val="solid"/>
          </a:ln>
        </p:spPr>
      </p:sp>
      <p:sp>
        <p:nvSpPr>
          <p:cNvPr id="6" name="Shape 4"/>
          <p:cNvSpPr/>
          <p:nvPr/>
        </p:nvSpPr>
        <p:spPr>
          <a:xfrm>
            <a:off x="548640" y="3291840"/>
            <a:ext cx="73152" cy="3017520"/>
          </a:xfrm>
          <a:prstGeom prst="rect">
            <a:avLst/>
          </a:prstGeom>
          <a:solidFill>
            <a:srgbClr val="1B2A4A"/>
          </a:solidFill>
          <a:ln w="12700">
            <a:solidFill>
              <a:srgbClr val="1B2A4A"/>
            </a:solidFill>
            <a:prstDash val="solid"/>
          </a:ln>
        </p:spPr>
      </p:sp>
      <p:sp>
        <p:nvSpPr>
          <p:cNvPr id="7" name="Text 5"/>
          <p:cNvSpPr/>
          <p:nvPr/>
        </p:nvSpPr>
        <p:spPr>
          <a:xfrm>
            <a:off x="777240" y="3474720"/>
            <a:ext cx="5029200" cy="274320"/>
          </a:xfrm>
          <a:prstGeom prst="rect">
            <a:avLst/>
          </a:prstGeom>
          <a:noFill/>
          <a:ln/>
        </p:spPr>
        <p:txBody>
          <a:bodyPr wrap="square" rtlCol="0" anchor="ctr"/>
          <a:lstStyle/>
          <a:p>
            <a:pPr indent="0" marL="0">
              <a:buNone/>
            </a:pPr>
            <a:r>
              <a:rPr lang="en-US" sz="1100" b="1" spc="300" kern="0" dirty="0">
                <a:solidFill>
                  <a:srgbClr val="CE8E31"/>
                </a:solidFill>
                <a:latin typeface="Calibri" pitchFamily="34" charset="0"/>
                <a:ea typeface="Calibri" pitchFamily="34" charset="-122"/>
                <a:cs typeface="Calibri" pitchFamily="34" charset="-120"/>
              </a:rPr>
              <a:t>THE ACTION</a:t>
            </a:r>
            <a:endParaRPr lang="en-US" sz="1100" dirty="0"/>
          </a:p>
        </p:txBody>
      </p:sp>
      <p:sp>
        <p:nvSpPr>
          <p:cNvPr id="8" name="Text 6"/>
          <p:cNvSpPr/>
          <p:nvPr/>
        </p:nvSpPr>
        <p:spPr>
          <a:xfrm>
            <a:off x="777240" y="3794760"/>
            <a:ext cx="5029200" cy="1463040"/>
          </a:xfrm>
          <a:prstGeom prst="rect">
            <a:avLst/>
          </a:prstGeom>
          <a:noFill/>
          <a:ln/>
        </p:spPr>
        <p:txBody>
          <a:bodyPr wrap="square" rtlCol="0" anchor="ctr"/>
          <a:lstStyle/>
          <a:p>
            <a:pPr indent="0" marL="0">
              <a:buNone/>
            </a:pPr>
            <a:r>
              <a:rPr lang="en-US" sz="1600" dirty="0">
                <a:solidFill>
                  <a:srgbClr val="22272E"/>
                </a:solidFill>
                <a:latin typeface="Calibri" pitchFamily="34" charset="0"/>
                <a:ea typeface="Calibri" pitchFamily="34" charset="-122"/>
                <a:cs typeface="Calibri" pitchFamily="34" charset="-120"/>
              </a:rPr>
              <a:t>20–30 minutes. Open the task card. Run the checklist. Ship the artifact. React ✓ in the cohort channel.</a:t>
            </a:r>
            <a:endParaRPr lang="en-US" sz="1600" dirty="0"/>
          </a:p>
        </p:txBody>
      </p:sp>
      <p:sp>
        <p:nvSpPr>
          <p:cNvPr id="9" name="Text 7"/>
          <p:cNvSpPr/>
          <p:nvPr/>
        </p:nvSpPr>
        <p:spPr>
          <a:xfrm>
            <a:off x="777240" y="5669280"/>
            <a:ext cx="5029200" cy="457200"/>
          </a:xfrm>
          <a:prstGeom prst="rect">
            <a:avLst/>
          </a:prstGeom>
          <a:noFill/>
          <a:ln/>
        </p:spPr>
        <p:txBody>
          <a:bodyPr wrap="square" rtlCol="0" anchor="ctr"/>
          <a:lstStyle/>
          <a:p>
            <a:pPr indent="0" marL="0">
              <a:buNone/>
            </a:pPr>
            <a:r>
              <a:rPr lang="en-US" sz="1400" b="1" i="1" dirty="0">
                <a:solidFill>
                  <a:srgbClr val="1B2A4A"/>
                </a:solidFill>
                <a:latin typeface="Calibri" pitchFamily="34" charset="0"/>
                <a:ea typeface="Calibri" pitchFamily="34" charset="-122"/>
                <a:cs typeface="Calibri" pitchFamily="34" charset="-120"/>
              </a:rPr>
              <a:t>AI drafts. The watchman decides.</a:t>
            </a:r>
            <a:endParaRPr lang="en-US" sz="1400" dirty="0"/>
          </a:p>
        </p:txBody>
      </p:sp>
      <p:sp>
        <p:nvSpPr>
          <p:cNvPr id="10" name="Shape 8"/>
          <p:cNvSpPr/>
          <p:nvPr/>
        </p:nvSpPr>
        <p:spPr>
          <a:xfrm>
            <a:off x="6217920" y="3291840"/>
            <a:ext cx="5394960" cy="3017520"/>
          </a:xfrm>
          <a:prstGeom prst="rect">
            <a:avLst/>
          </a:prstGeom>
          <a:solidFill>
            <a:srgbClr val="3B5998"/>
          </a:solidFill>
          <a:ln w="12700">
            <a:solidFill>
              <a:srgbClr val="3B5998"/>
            </a:solidFill>
            <a:prstDash val="solid"/>
          </a:ln>
        </p:spPr>
      </p:sp>
      <p:sp>
        <p:nvSpPr>
          <p:cNvPr id="11" name="Text 9"/>
          <p:cNvSpPr/>
          <p:nvPr/>
        </p:nvSpPr>
        <p:spPr>
          <a:xfrm>
            <a:off x="6446520" y="3520440"/>
            <a:ext cx="5029200" cy="274320"/>
          </a:xfrm>
          <a:prstGeom prst="rect">
            <a:avLst/>
          </a:prstGeom>
          <a:noFill/>
          <a:ln/>
        </p:spPr>
        <p:txBody>
          <a:bodyPr wrap="square" rtlCol="0" anchor="ctr"/>
          <a:lstStyle/>
          <a:p>
            <a:pPr indent="0" marL="0">
              <a:buNone/>
            </a:pPr>
            <a:r>
              <a:rPr lang="en-US" sz="1100" b="1" spc="300" kern="0" dirty="0">
                <a:solidFill>
                  <a:srgbClr val="FFFFFF"/>
                </a:solidFill>
                <a:latin typeface="Calibri" pitchFamily="34" charset="0"/>
                <a:ea typeface="Calibri" pitchFamily="34" charset="-122"/>
                <a:cs typeface="Calibri" pitchFamily="34" charset="-120"/>
              </a:rPr>
              <a:t>SCRIPTURE ANCHOR</a:t>
            </a:r>
            <a:endParaRPr lang="en-US" sz="1100" dirty="0"/>
          </a:p>
        </p:txBody>
      </p:sp>
      <p:sp>
        <p:nvSpPr>
          <p:cNvPr id="12" name="Text 10"/>
          <p:cNvSpPr/>
          <p:nvPr/>
        </p:nvSpPr>
        <p:spPr>
          <a:xfrm>
            <a:off x="6446520" y="3840480"/>
            <a:ext cx="5029200" cy="502920"/>
          </a:xfrm>
          <a:prstGeom prst="rect">
            <a:avLst/>
          </a:prstGeom>
          <a:noFill/>
          <a:ln/>
        </p:spPr>
        <p:txBody>
          <a:bodyPr wrap="square"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Week 9 · Ministry Tools</a:t>
            </a:r>
            <a:endParaRPr lang="en-US" sz="2000" dirty="0"/>
          </a:p>
        </p:txBody>
      </p:sp>
      <p:sp>
        <p:nvSpPr>
          <p:cNvPr id="13" name="Text 11"/>
          <p:cNvSpPr/>
          <p:nvPr/>
        </p:nvSpPr>
        <p:spPr>
          <a:xfrm>
            <a:off x="6446520" y="4434840"/>
            <a:ext cx="5029200" cy="548640"/>
          </a:xfrm>
          <a:prstGeom prst="rect">
            <a:avLst/>
          </a:prstGeom>
          <a:noFill/>
          <a:ln/>
        </p:spPr>
        <p:txBody>
          <a:bodyPr wrap="square" rtlCol="0" anchor="ctr"/>
          <a:lstStyle/>
          <a:p>
            <a:pPr indent="0" marL="0">
              <a:buNone/>
            </a:pPr>
            <a:r>
              <a:rPr lang="en-US" sz="1800" i="1" dirty="0">
                <a:solidFill>
                  <a:srgbClr val="FFFFFF"/>
                </a:solidFill>
                <a:latin typeface="Calibri" pitchFamily="34" charset="0"/>
                <a:ea typeface="Calibri" pitchFamily="34" charset="-122"/>
                <a:cs typeface="Calibri" pitchFamily="34" charset="-120"/>
              </a:rPr>
              <a:t>2 Timothy 3:16–17</a:t>
            </a:r>
            <a:endParaRPr lang="en-US" sz="1800" dirty="0"/>
          </a:p>
        </p:txBody>
      </p:sp>
      <p:sp>
        <p:nvSpPr>
          <p:cNvPr id="14" name="Text 12"/>
          <p:cNvSpPr/>
          <p:nvPr/>
        </p:nvSpPr>
        <p:spPr>
          <a:xfrm>
            <a:off x="6446520" y="5669280"/>
            <a:ext cx="5029200" cy="365760"/>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Read aloud at the open and the close.</a:t>
            </a:r>
            <a:endParaRPr lang="en-US" sz="1300" dirty="0"/>
          </a:p>
        </p:txBody>
      </p:sp>
      <p:sp>
        <p:nvSpPr>
          <p:cNvPr id="15" name="Text 13"/>
          <p:cNvSpPr/>
          <p:nvPr/>
        </p:nvSpPr>
        <p:spPr>
          <a:xfrm>
            <a:off x="548640" y="6492240"/>
            <a:ext cx="7315200" cy="274320"/>
          </a:xfrm>
          <a:prstGeom prst="rect">
            <a:avLst/>
          </a:prstGeom>
          <a:noFill/>
          <a:ln/>
        </p:spPr>
        <p:txBody>
          <a:bodyPr wrap="square" rtlCol="0" anchor="ctr"/>
          <a:lstStyle/>
          <a:p>
            <a:pPr indent="0" marL="0">
              <a:buNone/>
            </a:pPr>
            <a:r>
              <a:rPr lang="en-US" sz="1000" i="1" dirty="0">
                <a:solidFill>
                  <a:srgbClr val="5B6470"/>
                </a:solidFill>
                <a:latin typeface="Calibri" pitchFamily="34" charset="0"/>
                <a:ea typeface="Calibri" pitchFamily="34" charset="-122"/>
                <a:cs typeface="Calibri" pitchFamily="34" charset="-120"/>
              </a:rPr>
              <a:t>Week 9 · Ministry Tools · Task 1</a:t>
            </a:r>
            <a:endParaRPr lang="en-US" sz="10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0972800" cy="365760"/>
          </a:xfrm>
          <a:prstGeom prst="rect">
            <a:avLst/>
          </a:prstGeom>
          <a:noFill/>
          <a:ln/>
        </p:spPr>
        <p:txBody>
          <a:bodyPr wrap="square" rtlCol="0" anchor="ctr"/>
          <a:lstStyle/>
          <a:p>
            <a:pPr indent="0" marL="0">
              <a:buNone/>
            </a:pPr>
            <a:r>
              <a:rPr lang="en-US" sz="1100" b="1" spc="400" kern="0" dirty="0">
                <a:solidFill>
                  <a:srgbClr val="3B5998"/>
                </a:solidFill>
                <a:latin typeface="Calibri" pitchFamily="34" charset="0"/>
                <a:ea typeface="Calibri" pitchFamily="34" charset="-122"/>
                <a:cs typeface="Calibri" pitchFamily="34" charset="-120"/>
              </a:rPr>
              <a:t>WEEK 9 · TASK 2 · WEDNESDAY</a:t>
            </a:r>
            <a:endParaRPr lang="en-US" sz="1100" dirty="0"/>
          </a:p>
        </p:txBody>
      </p:sp>
      <p:sp>
        <p:nvSpPr>
          <p:cNvPr id="3" name="Text 1"/>
          <p:cNvSpPr/>
          <p:nvPr/>
        </p:nvSpPr>
        <p:spPr>
          <a:xfrm>
            <a:off x="548640" y="822960"/>
            <a:ext cx="11155680" cy="1280160"/>
          </a:xfrm>
          <a:prstGeom prst="rect">
            <a:avLst/>
          </a:prstGeom>
          <a:noFill/>
          <a:ln/>
        </p:spPr>
        <p:txBody>
          <a:bodyPr wrap="square" rtlCol="0" anchor="t"/>
          <a:lstStyle/>
          <a:p>
            <a:pPr indent="0" marL="0">
              <a:buNone/>
            </a:pPr>
            <a:r>
              <a:rPr lang="en-US" sz="3600" b="1" dirty="0">
                <a:solidFill>
                  <a:srgbClr val="1B2A4A"/>
                </a:solidFill>
                <a:latin typeface="Calibri" pitchFamily="34" charset="0"/>
                <a:ea typeface="Calibri" pitchFamily="34" charset="-122"/>
                <a:cs typeface="Calibri" pitchFamily="34" charset="-120"/>
              </a:rPr>
              <a:t>10-Minute Scripture Study with AI</a:t>
            </a:r>
            <a:endParaRPr lang="en-US" sz="3600" dirty="0"/>
          </a:p>
        </p:txBody>
      </p:sp>
      <p:sp>
        <p:nvSpPr>
          <p:cNvPr id="4" name="Text 2"/>
          <p:cNvSpPr/>
          <p:nvPr/>
        </p:nvSpPr>
        <p:spPr>
          <a:xfrm>
            <a:off x="548640" y="2103120"/>
            <a:ext cx="10972800" cy="731520"/>
          </a:xfrm>
          <a:prstGeom prst="rect">
            <a:avLst/>
          </a:prstGeom>
          <a:noFill/>
          <a:ln/>
        </p:spPr>
        <p:txBody>
          <a:bodyPr wrap="square" rtlCol="0" anchor="ctr"/>
          <a:lstStyle/>
          <a:p>
            <a:pPr indent="0" marL="0">
              <a:buNone/>
            </a:pPr>
            <a:r>
              <a:rPr lang="en-US" sz="1900" i="1" dirty="0">
                <a:solidFill>
                  <a:srgbClr val="5B6470"/>
                </a:solidFill>
                <a:latin typeface="Calibri" pitchFamily="34" charset="0"/>
                <a:ea typeface="Calibri" pitchFamily="34" charset="-122"/>
                <a:cs typeface="Calibri" pitchFamily="34" charset="-120"/>
              </a:rPr>
              <a:t>Claude is the study partner, not the teacher. Learn to ask.</a:t>
            </a:r>
            <a:endParaRPr lang="en-US" sz="1900" dirty="0"/>
          </a:p>
        </p:txBody>
      </p:sp>
      <p:sp>
        <p:nvSpPr>
          <p:cNvPr id="5" name="Shape 3"/>
          <p:cNvSpPr/>
          <p:nvPr/>
        </p:nvSpPr>
        <p:spPr>
          <a:xfrm>
            <a:off x="548640" y="3291840"/>
            <a:ext cx="5486400" cy="3017520"/>
          </a:xfrm>
          <a:prstGeom prst="rect">
            <a:avLst/>
          </a:prstGeom>
          <a:solidFill>
            <a:srgbClr val="F4F1EA"/>
          </a:solidFill>
          <a:ln w="12700">
            <a:solidFill>
              <a:srgbClr val="D8DCE2"/>
            </a:solidFill>
            <a:prstDash val="solid"/>
          </a:ln>
        </p:spPr>
      </p:sp>
      <p:sp>
        <p:nvSpPr>
          <p:cNvPr id="6" name="Shape 4"/>
          <p:cNvSpPr/>
          <p:nvPr/>
        </p:nvSpPr>
        <p:spPr>
          <a:xfrm>
            <a:off x="548640" y="3291840"/>
            <a:ext cx="73152" cy="3017520"/>
          </a:xfrm>
          <a:prstGeom prst="rect">
            <a:avLst/>
          </a:prstGeom>
          <a:solidFill>
            <a:srgbClr val="1B2A4A"/>
          </a:solidFill>
          <a:ln w="12700">
            <a:solidFill>
              <a:srgbClr val="1B2A4A"/>
            </a:solidFill>
            <a:prstDash val="solid"/>
          </a:ln>
        </p:spPr>
      </p:sp>
      <p:sp>
        <p:nvSpPr>
          <p:cNvPr id="7" name="Text 5"/>
          <p:cNvSpPr/>
          <p:nvPr/>
        </p:nvSpPr>
        <p:spPr>
          <a:xfrm>
            <a:off x="777240" y="3474720"/>
            <a:ext cx="5029200" cy="274320"/>
          </a:xfrm>
          <a:prstGeom prst="rect">
            <a:avLst/>
          </a:prstGeom>
          <a:noFill/>
          <a:ln/>
        </p:spPr>
        <p:txBody>
          <a:bodyPr wrap="square" rtlCol="0" anchor="ctr"/>
          <a:lstStyle/>
          <a:p>
            <a:pPr indent="0" marL="0">
              <a:buNone/>
            </a:pPr>
            <a:r>
              <a:rPr lang="en-US" sz="1100" b="1" spc="300" kern="0" dirty="0">
                <a:solidFill>
                  <a:srgbClr val="CE8E31"/>
                </a:solidFill>
                <a:latin typeface="Calibri" pitchFamily="34" charset="0"/>
                <a:ea typeface="Calibri" pitchFamily="34" charset="-122"/>
                <a:cs typeface="Calibri" pitchFamily="34" charset="-120"/>
              </a:rPr>
              <a:t>THE ACTION</a:t>
            </a:r>
            <a:endParaRPr lang="en-US" sz="1100" dirty="0"/>
          </a:p>
        </p:txBody>
      </p:sp>
      <p:sp>
        <p:nvSpPr>
          <p:cNvPr id="8" name="Text 6"/>
          <p:cNvSpPr/>
          <p:nvPr/>
        </p:nvSpPr>
        <p:spPr>
          <a:xfrm>
            <a:off x="777240" y="3794760"/>
            <a:ext cx="5029200" cy="1463040"/>
          </a:xfrm>
          <a:prstGeom prst="rect">
            <a:avLst/>
          </a:prstGeom>
          <a:noFill/>
          <a:ln/>
        </p:spPr>
        <p:txBody>
          <a:bodyPr wrap="square" rtlCol="0" anchor="ctr"/>
          <a:lstStyle/>
          <a:p>
            <a:pPr indent="0" marL="0">
              <a:buNone/>
            </a:pPr>
            <a:r>
              <a:rPr lang="en-US" sz="1600" dirty="0">
                <a:solidFill>
                  <a:srgbClr val="22272E"/>
                </a:solidFill>
                <a:latin typeface="Calibri" pitchFamily="34" charset="0"/>
                <a:ea typeface="Calibri" pitchFamily="34" charset="-122"/>
                <a:cs typeface="Calibri" pitchFamily="34" charset="-120"/>
              </a:rPr>
              <a:t>20–30 minutes. Open the task card. Run the checklist. Ship the artifact. React ✓ in the cohort channel.</a:t>
            </a:r>
            <a:endParaRPr lang="en-US" sz="1600" dirty="0"/>
          </a:p>
        </p:txBody>
      </p:sp>
      <p:sp>
        <p:nvSpPr>
          <p:cNvPr id="9" name="Text 7"/>
          <p:cNvSpPr/>
          <p:nvPr/>
        </p:nvSpPr>
        <p:spPr>
          <a:xfrm>
            <a:off x="777240" y="5669280"/>
            <a:ext cx="5029200" cy="457200"/>
          </a:xfrm>
          <a:prstGeom prst="rect">
            <a:avLst/>
          </a:prstGeom>
          <a:noFill/>
          <a:ln/>
        </p:spPr>
        <p:txBody>
          <a:bodyPr wrap="square" rtlCol="0" anchor="ctr"/>
          <a:lstStyle/>
          <a:p>
            <a:pPr indent="0" marL="0">
              <a:buNone/>
            </a:pPr>
            <a:r>
              <a:rPr lang="en-US" sz="1400" b="1" i="1" dirty="0">
                <a:solidFill>
                  <a:srgbClr val="1B2A4A"/>
                </a:solidFill>
                <a:latin typeface="Calibri" pitchFamily="34" charset="0"/>
                <a:ea typeface="Calibri" pitchFamily="34" charset="-122"/>
                <a:cs typeface="Calibri" pitchFamily="34" charset="-120"/>
              </a:rPr>
              <a:t>AI drafts. The watchman decides.</a:t>
            </a:r>
            <a:endParaRPr lang="en-US" sz="1400" dirty="0"/>
          </a:p>
        </p:txBody>
      </p:sp>
      <p:sp>
        <p:nvSpPr>
          <p:cNvPr id="10" name="Shape 8"/>
          <p:cNvSpPr/>
          <p:nvPr/>
        </p:nvSpPr>
        <p:spPr>
          <a:xfrm>
            <a:off x="6217920" y="3291840"/>
            <a:ext cx="5394960" cy="3017520"/>
          </a:xfrm>
          <a:prstGeom prst="rect">
            <a:avLst/>
          </a:prstGeom>
          <a:solidFill>
            <a:srgbClr val="3B5998"/>
          </a:solidFill>
          <a:ln w="12700">
            <a:solidFill>
              <a:srgbClr val="3B5998"/>
            </a:solidFill>
            <a:prstDash val="solid"/>
          </a:ln>
        </p:spPr>
      </p:sp>
      <p:sp>
        <p:nvSpPr>
          <p:cNvPr id="11" name="Text 9"/>
          <p:cNvSpPr/>
          <p:nvPr/>
        </p:nvSpPr>
        <p:spPr>
          <a:xfrm>
            <a:off x="6446520" y="3520440"/>
            <a:ext cx="5029200" cy="274320"/>
          </a:xfrm>
          <a:prstGeom prst="rect">
            <a:avLst/>
          </a:prstGeom>
          <a:noFill/>
          <a:ln/>
        </p:spPr>
        <p:txBody>
          <a:bodyPr wrap="square" rtlCol="0" anchor="ctr"/>
          <a:lstStyle/>
          <a:p>
            <a:pPr indent="0" marL="0">
              <a:buNone/>
            </a:pPr>
            <a:r>
              <a:rPr lang="en-US" sz="1100" b="1" spc="300" kern="0" dirty="0">
                <a:solidFill>
                  <a:srgbClr val="FFFFFF"/>
                </a:solidFill>
                <a:latin typeface="Calibri" pitchFamily="34" charset="0"/>
                <a:ea typeface="Calibri" pitchFamily="34" charset="-122"/>
                <a:cs typeface="Calibri" pitchFamily="34" charset="-120"/>
              </a:rPr>
              <a:t>SCRIPTURE ANCHOR</a:t>
            </a:r>
            <a:endParaRPr lang="en-US" sz="1100" dirty="0"/>
          </a:p>
        </p:txBody>
      </p:sp>
      <p:sp>
        <p:nvSpPr>
          <p:cNvPr id="12" name="Text 10"/>
          <p:cNvSpPr/>
          <p:nvPr/>
        </p:nvSpPr>
        <p:spPr>
          <a:xfrm>
            <a:off x="6446520" y="3840480"/>
            <a:ext cx="5029200" cy="502920"/>
          </a:xfrm>
          <a:prstGeom prst="rect">
            <a:avLst/>
          </a:prstGeom>
          <a:noFill/>
          <a:ln/>
        </p:spPr>
        <p:txBody>
          <a:bodyPr wrap="square"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Week 9 · Ministry Tools</a:t>
            </a:r>
            <a:endParaRPr lang="en-US" sz="2000" dirty="0"/>
          </a:p>
        </p:txBody>
      </p:sp>
      <p:sp>
        <p:nvSpPr>
          <p:cNvPr id="13" name="Text 11"/>
          <p:cNvSpPr/>
          <p:nvPr/>
        </p:nvSpPr>
        <p:spPr>
          <a:xfrm>
            <a:off x="6446520" y="4434840"/>
            <a:ext cx="5029200" cy="548640"/>
          </a:xfrm>
          <a:prstGeom prst="rect">
            <a:avLst/>
          </a:prstGeom>
          <a:noFill/>
          <a:ln/>
        </p:spPr>
        <p:txBody>
          <a:bodyPr wrap="square" rtlCol="0" anchor="ctr"/>
          <a:lstStyle/>
          <a:p>
            <a:pPr indent="0" marL="0">
              <a:buNone/>
            </a:pPr>
            <a:r>
              <a:rPr lang="en-US" sz="1800" i="1" dirty="0">
                <a:solidFill>
                  <a:srgbClr val="FFFFFF"/>
                </a:solidFill>
                <a:latin typeface="Calibri" pitchFamily="34" charset="0"/>
                <a:ea typeface="Calibri" pitchFamily="34" charset="-122"/>
                <a:cs typeface="Calibri" pitchFamily="34" charset="-120"/>
              </a:rPr>
              <a:t>2 Timothy 3:16–17</a:t>
            </a:r>
            <a:endParaRPr lang="en-US" sz="1800" dirty="0"/>
          </a:p>
        </p:txBody>
      </p:sp>
      <p:sp>
        <p:nvSpPr>
          <p:cNvPr id="14" name="Text 12"/>
          <p:cNvSpPr/>
          <p:nvPr/>
        </p:nvSpPr>
        <p:spPr>
          <a:xfrm>
            <a:off x="6446520" y="5669280"/>
            <a:ext cx="5029200" cy="365760"/>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Read aloud at the open and the close.</a:t>
            </a:r>
            <a:endParaRPr lang="en-US" sz="1300" dirty="0"/>
          </a:p>
        </p:txBody>
      </p:sp>
      <p:sp>
        <p:nvSpPr>
          <p:cNvPr id="15" name="Text 13"/>
          <p:cNvSpPr/>
          <p:nvPr/>
        </p:nvSpPr>
        <p:spPr>
          <a:xfrm>
            <a:off x="548640" y="6492240"/>
            <a:ext cx="7315200" cy="274320"/>
          </a:xfrm>
          <a:prstGeom prst="rect">
            <a:avLst/>
          </a:prstGeom>
          <a:noFill/>
          <a:ln/>
        </p:spPr>
        <p:txBody>
          <a:bodyPr wrap="square" rtlCol="0" anchor="ctr"/>
          <a:lstStyle/>
          <a:p>
            <a:pPr indent="0" marL="0">
              <a:buNone/>
            </a:pPr>
            <a:r>
              <a:rPr lang="en-US" sz="1000" i="1" dirty="0">
                <a:solidFill>
                  <a:srgbClr val="5B6470"/>
                </a:solidFill>
                <a:latin typeface="Calibri" pitchFamily="34" charset="0"/>
                <a:ea typeface="Calibri" pitchFamily="34" charset="-122"/>
                <a:cs typeface="Calibri" pitchFamily="34" charset="-120"/>
              </a:rPr>
              <a:t>Week 9 · Ministry Tools · Task 2</a:t>
            </a:r>
            <a:endParaRPr lang="en-US" sz="10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0972800" cy="365760"/>
          </a:xfrm>
          <a:prstGeom prst="rect">
            <a:avLst/>
          </a:prstGeom>
          <a:noFill/>
          <a:ln/>
        </p:spPr>
        <p:txBody>
          <a:bodyPr wrap="square" rtlCol="0" anchor="ctr"/>
          <a:lstStyle/>
          <a:p>
            <a:pPr indent="0" marL="0">
              <a:buNone/>
            </a:pPr>
            <a:r>
              <a:rPr lang="en-US" sz="1100" b="1" spc="400" kern="0" dirty="0">
                <a:solidFill>
                  <a:srgbClr val="3B5998"/>
                </a:solidFill>
                <a:latin typeface="Calibri" pitchFamily="34" charset="0"/>
                <a:ea typeface="Calibri" pitchFamily="34" charset="-122"/>
                <a:cs typeface="Calibri" pitchFamily="34" charset="-120"/>
              </a:rPr>
              <a:t>WEEK 9 · TASK 3 · FRIDAY</a:t>
            </a:r>
            <a:endParaRPr lang="en-US" sz="1100" dirty="0"/>
          </a:p>
        </p:txBody>
      </p:sp>
      <p:sp>
        <p:nvSpPr>
          <p:cNvPr id="3" name="Text 1"/>
          <p:cNvSpPr/>
          <p:nvPr/>
        </p:nvSpPr>
        <p:spPr>
          <a:xfrm>
            <a:off x="548640" y="822960"/>
            <a:ext cx="11155680" cy="1280160"/>
          </a:xfrm>
          <a:prstGeom prst="rect">
            <a:avLst/>
          </a:prstGeom>
          <a:noFill/>
          <a:ln/>
        </p:spPr>
        <p:txBody>
          <a:bodyPr wrap="square" rtlCol="0" anchor="t"/>
          <a:lstStyle/>
          <a:p>
            <a:pPr indent="0" marL="0">
              <a:buNone/>
            </a:pPr>
            <a:r>
              <a:rPr lang="en-US" sz="3600" b="1" dirty="0">
                <a:solidFill>
                  <a:srgbClr val="1B2A4A"/>
                </a:solidFill>
                <a:latin typeface="Calibri" pitchFamily="34" charset="0"/>
                <a:ea typeface="Calibri" pitchFamily="34" charset="-122"/>
                <a:cs typeface="Calibri" pitchFamily="34" charset="-120"/>
              </a:rPr>
              <a:t>Build a Teaching Aid for One Passage</a:t>
            </a:r>
            <a:endParaRPr lang="en-US" sz="3600" dirty="0"/>
          </a:p>
        </p:txBody>
      </p:sp>
      <p:sp>
        <p:nvSpPr>
          <p:cNvPr id="4" name="Text 2"/>
          <p:cNvSpPr/>
          <p:nvPr/>
        </p:nvSpPr>
        <p:spPr>
          <a:xfrm>
            <a:off x="548640" y="2103120"/>
            <a:ext cx="10972800" cy="731520"/>
          </a:xfrm>
          <a:prstGeom prst="rect">
            <a:avLst/>
          </a:prstGeom>
          <a:noFill/>
          <a:ln/>
        </p:spPr>
        <p:txBody>
          <a:bodyPr wrap="square" rtlCol="0" anchor="ctr"/>
          <a:lstStyle/>
          <a:p>
            <a:pPr indent="0" marL="0">
              <a:buNone/>
            </a:pPr>
            <a:r>
              <a:rPr lang="en-US" sz="1900" i="1" dirty="0">
                <a:solidFill>
                  <a:srgbClr val="5B6470"/>
                </a:solidFill>
                <a:latin typeface="Calibri" pitchFamily="34" charset="0"/>
                <a:ea typeface="Calibri" pitchFamily="34" charset="-122"/>
                <a:cs typeface="Calibri" pitchFamily="34" charset="-120"/>
              </a:rPr>
              <a:t>A handout, discussion questions, application points. Use it Sunday.</a:t>
            </a:r>
            <a:endParaRPr lang="en-US" sz="1900" dirty="0"/>
          </a:p>
        </p:txBody>
      </p:sp>
      <p:sp>
        <p:nvSpPr>
          <p:cNvPr id="5" name="Shape 3"/>
          <p:cNvSpPr/>
          <p:nvPr/>
        </p:nvSpPr>
        <p:spPr>
          <a:xfrm>
            <a:off x="548640" y="3291840"/>
            <a:ext cx="5486400" cy="3017520"/>
          </a:xfrm>
          <a:prstGeom prst="rect">
            <a:avLst/>
          </a:prstGeom>
          <a:solidFill>
            <a:srgbClr val="F4F1EA"/>
          </a:solidFill>
          <a:ln w="12700">
            <a:solidFill>
              <a:srgbClr val="D8DCE2"/>
            </a:solidFill>
            <a:prstDash val="solid"/>
          </a:ln>
        </p:spPr>
      </p:sp>
      <p:sp>
        <p:nvSpPr>
          <p:cNvPr id="6" name="Shape 4"/>
          <p:cNvSpPr/>
          <p:nvPr/>
        </p:nvSpPr>
        <p:spPr>
          <a:xfrm>
            <a:off x="548640" y="3291840"/>
            <a:ext cx="73152" cy="3017520"/>
          </a:xfrm>
          <a:prstGeom prst="rect">
            <a:avLst/>
          </a:prstGeom>
          <a:solidFill>
            <a:srgbClr val="1B2A4A"/>
          </a:solidFill>
          <a:ln w="12700">
            <a:solidFill>
              <a:srgbClr val="1B2A4A"/>
            </a:solidFill>
            <a:prstDash val="solid"/>
          </a:ln>
        </p:spPr>
      </p:sp>
      <p:sp>
        <p:nvSpPr>
          <p:cNvPr id="7" name="Text 5"/>
          <p:cNvSpPr/>
          <p:nvPr/>
        </p:nvSpPr>
        <p:spPr>
          <a:xfrm>
            <a:off x="777240" y="3474720"/>
            <a:ext cx="5029200" cy="274320"/>
          </a:xfrm>
          <a:prstGeom prst="rect">
            <a:avLst/>
          </a:prstGeom>
          <a:noFill/>
          <a:ln/>
        </p:spPr>
        <p:txBody>
          <a:bodyPr wrap="square" rtlCol="0" anchor="ctr"/>
          <a:lstStyle/>
          <a:p>
            <a:pPr indent="0" marL="0">
              <a:buNone/>
            </a:pPr>
            <a:r>
              <a:rPr lang="en-US" sz="1100" b="1" spc="300" kern="0" dirty="0">
                <a:solidFill>
                  <a:srgbClr val="CE8E31"/>
                </a:solidFill>
                <a:latin typeface="Calibri" pitchFamily="34" charset="0"/>
                <a:ea typeface="Calibri" pitchFamily="34" charset="-122"/>
                <a:cs typeface="Calibri" pitchFamily="34" charset="-120"/>
              </a:rPr>
              <a:t>THE ACTION</a:t>
            </a:r>
            <a:endParaRPr lang="en-US" sz="1100" dirty="0"/>
          </a:p>
        </p:txBody>
      </p:sp>
      <p:sp>
        <p:nvSpPr>
          <p:cNvPr id="8" name="Text 6"/>
          <p:cNvSpPr/>
          <p:nvPr/>
        </p:nvSpPr>
        <p:spPr>
          <a:xfrm>
            <a:off x="777240" y="3794760"/>
            <a:ext cx="5029200" cy="1463040"/>
          </a:xfrm>
          <a:prstGeom prst="rect">
            <a:avLst/>
          </a:prstGeom>
          <a:noFill/>
          <a:ln/>
        </p:spPr>
        <p:txBody>
          <a:bodyPr wrap="square" rtlCol="0" anchor="ctr"/>
          <a:lstStyle/>
          <a:p>
            <a:pPr indent="0" marL="0">
              <a:buNone/>
            </a:pPr>
            <a:r>
              <a:rPr lang="en-US" sz="1600" dirty="0">
                <a:solidFill>
                  <a:srgbClr val="22272E"/>
                </a:solidFill>
                <a:latin typeface="Calibri" pitchFamily="34" charset="0"/>
                <a:ea typeface="Calibri" pitchFamily="34" charset="-122"/>
                <a:cs typeface="Calibri" pitchFamily="34" charset="-120"/>
              </a:rPr>
              <a:t>20–30 minutes. Open the task card. Run the checklist. Ship the artifact. React ✓ in the cohort channel.</a:t>
            </a:r>
            <a:endParaRPr lang="en-US" sz="1600" dirty="0"/>
          </a:p>
        </p:txBody>
      </p:sp>
      <p:sp>
        <p:nvSpPr>
          <p:cNvPr id="9" name="Text 7"/>
          <p:cNvSpPr/>
          <p:nvPr/>
        </p:nvSpPr>
        <p:spPr>
          <a:xfrm>
            <a:off x="777240" y="5669280"/>
            <a:ext cx="5029200" cy="457200"/>
          </a:xfrm>
          <a:prstGeom prst="rect">
            <a:avLst/>
          </a:prstGeom>
          <a:noFill/>
          <a:ln/>
        </p:spPr>
        <p:txBody>
          <a:bodyPr wrap="square" rtlCol="0" anchor="ctr"/>
          <a:lstStyle/>
          <a:p>
            <a:pPr indent="0" marL="0">
              <a:buNone/>
            </a:pPr>
            <a:r>
              <a:rPr lang="en-US" sz="1400" b="1" i="1" dirty="0">
                <a:solidFill>
                  <a:srgbClr val="1B2A4A"/>
                </a:solidFill>
                <a:latin typeface="Calibri" pitchFamily="34" charset="0"/>
                <a:ea typeface="Calibri" pitchFamily="34" charset="-122"/>
                <a:cs typeface="Calibri" pitchFamily="34" charset="-120"/>
              </a:rPr>
              <a:t>AI drafts. The watchman decides.</a:t>
            </a:r>
            <a:endParaRPr lang="en-US" sz="1400" dirty="0"/>
          </a:p>
        </p:txBody>
      </p:sp>
      <p:sp>
        <p:nvSpPr>
          <p:cNvPr id="10" name="Shape 8"/>
          <p:cNvSpPr/>
          <p:nvPr/>
        </p:nvSpPr>
        <p:spPr>
          <a:xfrm>
            <a:off x="6217920" y="3291840"/>
            <a:ext cx="5394960" cy="3017520"/>
          </a:xfrm>
          <a:prstGeom prst="rect">
            <a:avLst/>
          </a:prstGeom>
          <a:solidFill>
            <a:srgbClr val="3B5998"/>
          </a:solidFill>
          <a:ln w="12700">
            <a:solidFill>
              <a:srgbClr val="3B5998"/>
            </a:solidFill>
            <a:prstDash val="solid"/>
          </a:ln>
        </p:spPr>
      </p:sp>
      <p:sp>
        <p:nvSpPr>
          <p:cNvPr id="11" name="Text 9"/>
          <p:cNvSpPr/>
          <p:nvPr/>
        </p:nvSpPr>
        <p:spPr>
          <a:xfrm>
            <a:off x="6446520" y="3520440"/>
            <a:ext cx="5029200" cy="274320"/>
          </a:xfrm>
          <a:prstGeom prst="rect">
            <a:avLst/>
          </a:prstGeom>
          <a:noFill/>
          <a:ln/>
        </p:spPr>
        <p:txBody>
          <a:bodyPr wrap="square" rtlCol="0" anchor="ctr"/>
          <a:lstStyle/>
          <a:p>
            <a:pPr indent="0" marL="0">
              <a:buNone/>
            </a:pPr>
            <a:r>
              <a:rPr lang="en-US" sz="1100" b="1" spc="300" kern="0" dirty="0">
                <a:solidFill>
                  <a:srgbClr val="FFFFFF"/>
                </a:solidFill>
                <a:latin typeface="Calibri" pitchFamily="34" charset="0"/>
                <a:ea typeface="Calibri" pitchFamily="34" charset="-122"/>
                <a:cs typeface="Calibri" pitchFamily="34" charset="-120"/>
              </a:rPr>
              <a:t>SCRIPTURE ANCHOR</a:t>
            </a:r>
            <a:endParaRPr lang="en-US" sz="1100" dirty="0"/>
          </a:p>
        </p:txBody>
      </p:sp>
      <p:sp>
        <p:nvSpPr>
          <p:cNvPr id="12" name="Text 10"/>
          <p:cNvSpPr/>
          <p:nvPr/>
        </p:nvSpPr>
        <p:spPr>
          <a:xfrm>
            <a:off x="6446520" y="3840480"/>
            <a:ext cx="5029200" cy="502920"/>
          </a:xfrm>
          <a:prstGeom prst="rect">
            <a:avLst/>
          </a:prstGeom>
          <a:noFill/>
          <a:ln/>
        </p:spPr>
        <p:txBody>
          <a:bodyPr wrap="square"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Week 9 · Ministry Tools</a:t>
            </a:r>
            <a:endParaRPr lang="en-US" sz="2000" dirty="0"/>
          </a:p>
        </p:txBody>
      </p:sp>
      <p:sp>
        <p:nvSpPr>
          <p:cNvPr id="13" name="Text 11"/>
          <p:cNvSpPr/>
          <p:nvPr/>
        </p:nvSpPr>
        <p:spPr>
          <a:xfrm>
            <a:off x="6446520" y="4434840"/>
            <a:ext cx="5029200" cy="548640"/>
          </a:xfrm>
          <a:prstGeom prst="rect">
            <a:avLst/>
          </a:prstGeom>
          <a:noFill/>
          <a:ln/>
        </p:spPr>
        <p:txBody>
          <a:bodyPr wrap="square" rtlCol="0" anchor="ctr"/>
          <a:lstStyle/>
          <a:p>
            <a:pPr indent="0" marL="0">
              <a:buNone/>
            </a:pPr>
            <a:r>
              <a:rPr lang="en-US" sz="1800" i="1" dirty="0">
                <a:solidFill>
                  <a:srgbClr val="FFFFFF"/>
                </a:solidFill>
                <a:latin typeface="Calibri" pitchFamily="34" charset="0"/>
                <a:ea typeface="Calibri" pitchFamily="34" charset="-122"/>
                <a:cs typeface="Calibri" pitchFamily="34" charset="-120"/>
              </a:rPr>
              <a:t>2 Timothy 3:16–17</a:t>
            </a:r>
            <a:endParaRPr lang="en-US" sz="1800" dirty="0"/>
          </a:p>
        </p:txBody>
      </p:sp>
      <p:sp>
        <p:nvSpPr>
          <p:cNvPr id="14" name="Text 12"/>
          <p:cNvSpPr/>
          <p:nvPr/>
        </p:nvSpPr>
        <p:spPr>
          <a:xfrm>
            <a:off x="6446520" y="5669280"/>
            <a:ext cx="5029200" cy="365760"/>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Read aloud at the open and the close.</a:t>
            </a:r>
            <a:endParaRPr lang="en-US" sz="1300" dirty="0"/>
          </a:p>
        </p:txBody>
      </p:sp>
      <p:sp>
        <p:nvSpPr>
          <p:cNvPr id="15" name="Text 13"/>
          <p:cNvSpPr/>
          <p:nvPr/>
        </p:nvSpPr>
        <p:spPr>
          <a:xfrm>
            <a:off x="548640" y="6492240"/>
            <a:ext cx="7315200" cy="274320"/>
          </a:xfrm>
          <a:prstGeom prst="rect">
            <a:avLst/>
          </a:prstGeom>
          <a:noFill/>
          <a:ln/>
        </p:spPr>
        <p:txBody>
          <a:bodyPr wrap="square" rtlCol="0" anchor="ctr"/>
          <a:lstStyle/>
          <a:p>
            <a:pPr indent="0" marL="0">
              <a:buNone/>
            </a:pPr>
            <a:r>
              <a:rPr lang="en-US" sz="1000" i="1" dirty="0">
                <a:solidFill>
                  <a:srgbClr val="5B6470"/>
                </a:solidFill>
                <a:latin typeface="Calibri" pitchFamily="34" charset="0"/>
                <a:ea typeface="Calibri" pitchFamily="34" charset="-122"/>
                <a:cs typeface="Calibri" pitchFamily="34" charset="-120"/>
              </a:rPr>
              <a:t>Week 9 · Ministry Tools · Task 3</a:t>
            </a:r>
            <a:endParaRPr lang="en-US" sz="10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1B2A4A"/>
        </a:solidFill>
      </p:bgPr>
    </p:bg>
    <p:spTree>
      <p:nvGrpSpPr>
        <p:cNvPr id="1" name=""/>
        <p:cNvGrpSpPr/>
        <p:nvPr/>
      </p:nvGrpSpPr>
      <p:grpSpPr>
        <a:xfrm>
          <a:off x="0" y="0"/>
          <a:ext cx="0" cy="0"/>
          <a:chOff x="0" y="0"/>
          <a:chExt cx="0" cy="0"/>
        </a:xfrm>
      </p:grpSpPr>
      <p:sp>
        <p:nvSpPr>
          <p:cNvPr id="2" name="Text 0"/>
          <p:cNvSpPr/>
          <p:nvPr/>
        </p:nvSpPr>
        <p:spPr>
          <a:xfrm>
            <a:off x="548640" y="1463040"/>
            <a:ext cx="10972800" cy="457200"/>
          </a:xfrm>
          <a:prstGeom prst="rect">
            <a:avLst/>
          </a:prstGeom>
          <a:noFill/>
          <a:ln/>
        </p:spPr>
        <p:txBody>
          <a:bodyPr wrap="square" rtlCol="0" anchor="ctr"/>
          <a:lstStyle/>
          <a:p>
            <a:pPr indent="0" marL="0">
              <a:buNone/>
            </a:pPr>
            <a:r>
              <a:rPr lang="en-US" sz="1400" b="1" spc="500" kern="0" dirty="0">
                <a:solidFill>
                  <a:srgbClr val="3B5998"/>
                </a:solidFill>
                <a:latin typeface="Calibri" pitchFamily="34" charset="0"/>
                <a:ea typeface="Calibri" pitchFamily="34" charset="-122"/>
                <a:cs typeface="Calibri" pitchFamily="34" charset="-120"/>
              </a:rPr>
              <a:t>WEEK 10  ·  BLOCK IV — MINISTRY LAYER</a:t>
            </a:r>
            <a:endParaRPr lang="en-US" sz="1400" dirty="0"/>
          </a:p>
        </p:txBody>
      </p:sp>
      <p:sp>
        <p:nvSpPr>
          <p:cNvPr id="3" name="Text 1"/>
          <p:cNvSpPr/>
          <p:nvPr/>
        </p:nvSpPr>
        <p:spPr>
          <a:xfrm>
            <a:off x="548640" y="1920240"/>
            <a:ext cx="11338560" cy="1371600"/>
          </a:xfrm>
          <a:prstGeom prst="rect">
            <a:avLst/>
          </a:prstGeom>
          <a:noFill/>
          <a:ln/>
        </p:spPr>
        <p:txBody>
          <a:bodyPr wrap="square" rtlCol="0" anchor="ctr"/>
          <a:lstStyle/>
          <a:p>
            <a:pPr indent="0" marL="0">
              <a:buNone/>
            </a:pPr>
            <a:r>
              <a:rPr lang="en-US" sz="5400" b="1" dirty="0">
                <a:solidFill>
                  <a:srgbClr val="FFFFFF"/>
                </a:solidFill>
                <a:latin typeface="Calibri" pitchFamily="34" charset="0"/>
                <a:ea typeface="Calibri" pitchFamily="34" charset="-122"/>
                <a:cs typeface="Calibri" pitchFamily="34" charset="-120"/>
              </a:rPr>
              <a:t>DISCIPLESHIP AT SCALE</a:t>
            </a:r>
            <a:endParaRPr lang="en-US" sz="5400" dirty="0"/>
          </a:p>
        </p:txBody>
      </p:sp>
      <p:sp>
        <p:nvSpPr>
          <p:cNvPr id="4" name="Shape 2"/>
          <p:cNvSpPr/>
          <p:nvPr/>
        </p:nvSpPr>
        <p:spPr>
          <a:xfrm>
            <a:off x="548640" y="3383280"/>
            <a:ext cx="1828800" cy="73152"/>
          </a:xfrm>
          <a:prstGeom prst="rect">
            <a:avLst/>
          </a:prstGeom>
          <a:solidFill>
            <a:srgbClr val="3B5998"/>
          </a:solidFill>
          <a:ln w="12700">
            <a:solidFill>
              <a:srgbClr val="3B5998"/>
            </a:solidFill>
            <a:prstDash val="solid"/>
          </a:ln>
        </p:spPr>
      </p:sp>
      <p:sp>
        <p:nvSpPr>
          <p:cNvPr id="5" name="Text 3"/>
          <p:cNvSpPr/>
          <p:nvPr/>
        </p:nvSpPr>
        <p:spPr>
          <a:xfrm>
            <a:off x="548640" y="3566160"/>
            <a:ext cx="10515600" cy="1097280"/>
          </a:xfrm>
          <a:prstGeom prst="rect">
            <a:avLst/>
          </a:prstGeom>
          <a:noFill/>
          <a:ln/>
        </p:spPr>
        <p:txBody>
          <a:bodyPr wrap="square" rtlCol="0" anchor="ctr"/>
          <a:lstStyle/>
          <a:p>
            <a:pPr indent="0" marL="0">
              <a:buNone/>
            </a:pPr>
            <a:r>
              <a:rPr lang="en-US" sz="2200" i="1" dirty="0">
                <a:solidFill>
                  <a:srgbClr val="94A3B8"/>
                </a:solidFill>
                <a:latin typeface="Calibri" pitchFamily="34" charset="0"/>
                <a:ea typeface="Calibri" pitchFamily="34" charset="-122"/>
                <a:cs typeface="Calibri" pitchFamily="34" charset="-120"/>
              </a:rPr>
              <a:t>A personal daily-devotion loop you tune to your own walk, a pastoral-counseling prep workflow with hard redlines, and a cohort prompt-pack you test on one man.</a:t>
            </a:r>
            <a:endParaRPr lang="en-US" sz="2200" dirty="0"/>
          </a:p>
        </p:txBody>
      </p:sp>
      <p:sp>
        <p:nvSpPr>
          <p:cNvPr id="6" name="Text 4"/>
          <p:cNvSpPr/>
          <p:nvPr/>
        </p:nvSpPr>
        <p:spPr>
          <a:xfrm>
            <a:off x="548640" y="5029200"/>
            <a:ext cx="10972800" cy="274320"/>
          </a:xfrm>
          <a:prstGeom prst="rect">
            <a:avLst/>
          </a:prstGeom>
          <a:noFill/>
          <a:ln/>
        </p:spPr>
        <p:txBody>
          <a:bodyPr wrap="square" rtlCol="0" anchor="ctr"/>
          <a:lstStyle/>
          <a:p>
            <a:pPr indent="0" marL="0">
              <a:buNone/>
            </a:pPr>
            <a:r>
              <a:rPr lang="en-US" sz="1000" b="1" spc="400" kern="0" dirty="0">
                <a:solidFill>
                  <a:srgbClr val="CE8E31"/>
                </a:solidFill>
                <a:latin typeface="Calibri" pitchFamily="34" charset="0"/>
                <a:ea typeface="Calibri" pitchFamily="34" charset="-122"/>
                <a:cs typeface="Calibri" pitchFamily="34" charset="-120"/>
              </a:rPr>
              <a:t>SCRIPTURE</a:t>
            </a:r>
            <a:endParaRPr lang="en-US" sz="1000" dirty="0"/>
          </a:p>
        </p:txBody>
      </p:sp>
      <p:sp>
        <p:nvSpPr>
          <p:cNvPr id="7" name="Text 5"/>
          <p:cNvSpPr/>
          <p:nvPr/>
        </p:nvSpPr>
        <p:spPr>
          <a:xfrm>
            <a:off x="548640" y="5303520"/>
            <a:ext cx="10972800" cy="457200"/>
          </a:xfrm>
          <a:prstGeom prst="rect">
            <a:avLst/>
          </a:prstGeom>
          <a:noFill/>
          <a:ln/>
        </p:spPr>
        <p:txBody>
          <a:bodyPr wrap="square" rtlCol="0" anchor="ctr"/>
          <a:lstStyle/>
          <a:p>
            <a:pPr indent="0" marL="0">
              <a:buNone/>
            </a:pPr>
            <a:r>
              <a:rPr lang="en-US" sz="2000" dirty="0">
                <a:solidFill>
                  <a:srgbClr val="FFFFFF"/>
                </a:solidFill>
                <a:latin typeface="Calibri" pitchFamily="34" charset="0"/>
                <a:ea typeface="Calibri" pitchFamily="34" charset="-122"/>
                <a:cs typeface="Calibri" pitchFamily="34" charset="-120"/>
              </a:rPr>
              <a:t>2 Timothy 2:2</a:t>
            </a:r>
            <a:endParaRPr lang="en-US" sz="2000" dirty="0"/>
          </a:p>
        </p:txBody>
      </p:sp>
      <p:sp>
        <p:nvSpPr>
          <p:cNvPr id="8" name="Text 6"/>
          <p:cNvSpPr/>
          <p:nvPr/>
        </p:nvSpPr>
        <p:spPr>
          <a:xfrm>
            <a:off x="548640" y="6492240"/>
            <a:ext cx="7315200" cy="274320"/>
          </a:xfrm>
          <a:prstGeom prst="rect">
            <a:avLst/>
          </a:prstGeom>
          <a:noFill/>
          <a:ln/>
        </p:spPr>
        <p:txBody>
          <a:bodyPr wrap="square" rtlCol="0" anchor="ctr"/>
          <a:lstStyle/>
          <a:p>
            <a:pPr indent="0" marL="0">
              <a:buNone/>
            </a:pPr>
            <a:r>
              <a:rPr lang="en-US" sz="1000" i="1" dirty="0">
                <a:solidFill>
                  <a:srgbClr val="5B6470"/>
                </a:solidFill>
                <a:latin typeface="Calibri" pitchFamily="34" charset="0"/>
                <a:ea typeface="Calibri" pitchFamily="34" charset="-122"/>
                <a:cs typeface="Calibri" pitchFamily="34" charset="-120"/>
              </a:rPr>
              <a:t>Week 10 · Discipleship at Scale</a:t>
            </a:r>
            <a:endParaRPr lang="en-US" sz="10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0972800" cy="365760"/>
          </a:xfrm>
          <a:prstGeom prst="rect">
            <a:avLst/>
          </a:prstGeom>
          <a:noFill/>
          <a:ln/>
        </p:spPr>
        <p:txBody>
          <a:bodyPr wrap="square" rtlCol="0" anchor="ctr"/>
          <a:lstStyle/>
          <a:p>
            <a:pPr indent="0" marL="0">
              <a:buNone/>
            </a:pPr>
            <a:r>
              <a:rPr lang="en-US" sz="1100" b="1" spc="400" kern="0" dirty="0">
                <a:solidFill>
                  <a:srgbClr val="3B5998"/>
                </a:solidFill>
                <a:latin typeface="Calibri" pitchFamily="34" charset="0"/>
                <a:ea typeface="Calibri" pitchFamily="34" charset="-122"/>
                <a:cs typeface="Calibri" pitchFamily="34" charset="-120"/>
              </a:rPr>
              <a:t>WEEK 10 · TASK 1 · MONDAY</a:t>
            </a:r>
            <a:endParaRPr lang="en-US" sz="1100" dirty="0"/>
          </a:p>
        </p:txBody>
      </p:sp>
      <p:sp>
        <p:nvSpPr>
          <p:cNvPr id="3" name="Text 1"/>
          <p:cNvSpPr/>
          <p:nvPr/>
        </p:nvSpPr>
        <p:spPr>
          <a:xfrm>
            <a:off x="548640" y="822960"/>
            <a:ext cx="11155680" cy="1280160"/>
          </a:xfrm>
          <a:prstGeom prst="rect">
            <a:avLst/>
          </a:prstGeom>
          <a:noFill/>
          <a:ln/>
        </p:spPr>
        <p:txBody>
          <a:bodyPr wrap="square" rtlCol="0" anchor="t"/>
          <a:lstStyle/>
          <a:p>
            <a:pPr indent="0" marL="0">
              <a:buNone/>
            </a:pPr>
            <a:r>
              <a:rPr lang="en-US" sz="3600" b="1" dirty="0">
                <a:solidFill>
                  <a:srgbClr val="1B2A4A"/>
                </a:solidFill>
                <a:latin typeface="Calibri" pitchFamily="34" charset="0"/>
                <a:ea typeface="Calibri" pitchFamily="34" charset="-122"/>
                <a:cs typeface="Calibri" pitchFamily="34" charset="-120"/>
              </a:rPr>
              <a:t>The Watchman's Daily Devotion (Personal)</a:t>
            </a:r>
            <a:endParaRPr lang="en-US" sz="3600" dirty="0"/>
          </a:p>
        </p:txBody>
      </p:sp>
      <p:sp>
        <p:nvSpPr>
          <p:cNvPr id="4" name="Text 2"/>
          <p:cNvSpPr/>
          <p:nvPr/>
        </p:nvSpPr>
        <p:spPr>
          <a:xfrm>
            <a:off x="548640" y="2103120"/>
            <a:ext cx="10972800" cy="731520"/>
          </a:xfrm>
          <a:prstGeom prst="rect">
            <a:avLst/>
          </a:prstGeom>
          <a:noFill/>
          <a:ln/>
        </p:spPr>
        <p:txBody>
          <a:bodyPr wrap="square" rtlCol="0" anchor="ctr"/>
          <a:lstStyle/>
          <a:p>
            <a:pPr indent="0" marL="0">
              <a:buNone/>
            </a:pPr>
            <a:r>
              <a:rPr lang="en-US" sz="1900" i="1" dirty="0">
                <a:solidFill>
                  <a:srgbClr val="5B6470"/>
                </a:solidFill>
                <a:latin typeface="Calibri" pitchFamily="34" charset="0"/>
                <a:ea typeface="Calibri" pitchFamily="34" charset="-122"/>
                <a:cs typeface="Calibri" pitchFamily="34" charset="-120"/>
              </a:rPr>
              <a:t>AI builds your personal devo. Run it seven days. Tune it.</a:t>
            </a:r>
            <a:endParaRPr lang="en-US" sz="1900" dirty="0"/>
          </a:p>
        </p:txBody>
      </p:sp>
      <p:sp>
        <p:nvSpPr>
          <p:cNvPr id="5" name="Shape 3"/>
          <p:cNvSpPr/>
          <p:nvPr/>
        </p:nvSpPr>
        <p:spPr>
          <a:xfrm>
            <a:off x="548640" y="3291840"/>
            <a:ext cx="5486400" cy="3017520"/>
          </a:xfrm>
          <a:prstGeom prst="rect">
            <a:avLst/>
          </a:prstGeom>
          <a:solidFill>
            <a:srgbClr val="F4F1EA"/>
          </a:solidFill>
          <a:ln w="12700">
            <a:solidFill>
              <a:srgbClr val="D8DCE2"/>
            </a:solidFill>
            <a:prstDash val="solid"/>
          </a:ln>
        </p:spPr>
      </p:sp>
      <p:sp>
        <p:nvSpPr>
          <p:cNvPr id="6" name="Shape 4"/>
          <p:cNvSpPr/>
          <p:nvPr/>
        </p:nvSpPr>
        <p:spPr>
          <a:xfrm>
            <a:off x="548640" y="3291840"/>
            <a:ext cx="73152" cy="3017520"/>
          </a:xfrm>
          <a:prstGeom prst="rect">
            <a:avLst/>
          </a:prstGeom>
          <a:solidFill>
            <a:srgbClr val="1B2A4A"/>
          </a:solidFill>
          <a:ln w="12700">
            <a:solidFill>
              <a:srgbClr val="1B2A4A"/>
            </a:solidFill>
            <a:prstDash val="solid"/>
          </a:ln>
        </p:spPr>
      </p:sp>
      <p:sp>
        <p:nvSpPr>
          <p:cNvPr id="7" name="Text 5"/>
          <p:cNvSpPr/>
          <p:nvPr/>
        </p:nvSpPr>
        <p:spPr>
          <a:xfrm>
            <a:off x="777240" y="3474720"/>
            <a:ext cx="5029200" cy="274320"/>
          </a:xfrm>
          <a:prstGeom prst="rect">
            <a:avLst/>
          </a:prstGeom>
          <a:noFill/>
          <a:ln/>
        </p:spPr>
        <p:txBody>
          <a:bodyPr wrap="square" rtlCol="0" anchor="ctr"/>
          <a:lstStyle/>
          <a:p>
            <a:pPr indent="0" marL="0">
              <a:buNone/>
            </a:pPr>
            <a:r>
              <a:rPr lang="en-US" sz="1100" b="1" spc="300" kern="0" dirty="0">
                <a:solidFill>
                  <a:srgbClr val="CE8E31"/>
                </a:solidFill>
                <a:latin typeface="Calibri" pitchFamily="34" charset="0"/>
                <a:ea typeface="Calibri" pitchFamily="34" charset="-122"/>
                <a:cs typeface="Calibri" pitchFamily="34" charset="-120"/>
              </a:rPr>
              <a:t>THE ACTION</a:t>
            </a:r>
            <a:endParaRPr lang="en-US" sz="1100" dirty="0"/>
          </a:p>
        </p:txBody>
      </p:sp>
      <p:sp>
        <p:nvSpPr>
          <p:cNvPr id="8" name="Text 6"/>
          <p:cNvSpPr/>
          <p:nvPr/>
        </p:nvSpPr>
        <p:spPr>
          <a:xfrm>
            <a:off x="777240" y="3794760"/>
            <a:ext cx="5029200" cy="1463040"/>
          </a:xfrm>
          <a:prstGeom prst="rect">
            <a:avLst/>
          </a:prstGeom>
          <a:noFill/>
          <a:ln/>
        </p:spPr>
        <p:txBody>
          <a:bodyPr wrap="square" rtlCol="0" anchor="ctr"/>
          <a:lstStyle/>
          <a:p>
            <a:pPr indent="0" marL="0">
              <a:buNone/>
            </a:pPr>
            <a:r>
              <a:rPr lang="en-US" sz="1600" dirty="0">
                <a:solidFill>
                  <a:srgbClr val="22272E"/>
                </a:solidFill>
                <a:latin typeface="Calibri" pitchFamily="34" charset="0"/>
                <a:ea typeface="Calibri" pitchFamily="34" charset="-122"/>
                <a:cs typeface="Calibri" pitchFamily="34" charset="-120"/>
              </a:rPr>
              <a:t>20–30 minutes. Open the task card. Run the checklist. Ship the artifact. React ✓ in the cohort channel.</a:t>
            </a:r>
            <a:endParaRPr lang="en-US" sz="1600" dirty="0"/>
          </a:p>
        </p:txBody>
      </p:sp>
      <p:sp>
        <p:nvSpPr>
          <p:cNvPr id="9" name="Text 7"/>
          <p:cNvSpPr/>
          <p:nvPr/>
        </p:nvSpPr>
        <p:spPr>
          <a:xfrm>
            <a:off x="777240" y="5669280"/>
            <a:ext cx="5029200" cy="457200"/>
          </a:xfrm>
          <a:prstGeom prst="rect">
            <a:avLst/>
          </a:prstGeom>
          <a:noFill/>
          <a:ln/>
        </p:spPr>
        <p:txBody>
          <a:bodyPr wrap="square" rtlCol="0" anchor="ctr"/>
          <a:lstStyle/>
          <a:p>
            <a:pPr indent="0" marL="0">
              <a:buNone/>
            </a:pPr>
            <a:r>
              <a:rPr lang="en-US" sz="1400" b="1" i="1" dirty="0">
                <a:solidFill>
                  <a:srgbClr val="1B2A4A"/>
                </a:solidFill>
                <a:latin typeface="Calibri" pitchFamily="34" charset="0"/>
                <a:ea typeface="Calibri" pitchFamily="34" charset="-122"/>
                <a:cs typeface="Calibri" pitchFamily="34" charset="-120"/>
              </a:rPr>
              <a:t>AI drafts. The watchman decides.</a:t>
            </a:r>
            <a:endParaRPr lang="en-US" sz="1400" dirty="0"/>
          </a:p>
        </p:txBody>
      </p:sp>
      <p:sp>
        <p:nvSpPr>
          <p:cNvPr id="10" name="Shape 8"/>
          <p:cNvSpPr/>
          <p:nvPr/>
        </p:nvSpPr>
        <p:spPr>
          <a:xfrm>
            <a:off x="6217920" y="3291840"/>
            <a:ext cx="5394960" cy="3017520"/>
          </a:xfrm>
          <a:prstGeom prst="rect">
            <a:avLst/>
          </a:prstGeom>
          <a:solidFill>
            <a:srgbClr val="3B5998"/>
          </a:solidFill>
          <a:ln w="12700">
            <a:solidFill>
              <a:srgbClr val="3B5998"/>
            </a:solidFill>
            <a:prstDash val="solid"/>
          </a:ln>
        </p:spPr>
      </p:sp>
      <p:sp>
        <p:nvSpPr>
          <p:cNvPr id="11" name="Text 9"/>
          <p:cNvSpPr/>
          <p:nvPr/>
        </p:nvSpPr>
        <p:spPr>
          <a:xfrm>
            <a:off x="6446520" y="3520440"/>
            <a:ext cx="5029200" cy="274320"/>
          </a:xfrm>
          <a:prstGeom prst="rect">
            <a:avLst/>
          </a:prstGeom>
          <a:noFill/>
          <a:ln/>
        </p:spPr>
        <p:txBody>
          <a:bodyPr wrap="square" rtlCol="0" anchor="ctr"/>
          <a:lstStyle/>
          <a:p>
            <a:pPr indent="0" marL="0">
              <a:buNone/>
            </a:pPr>
            <a:r>
              <a:rPr lang="en-US" sz="1100" b="1" spc="300" kern="0" dirty="0">
                <a:solidFill>
                  <a:srgbClr val="FFFFFF"/>
                </a:solidFill>
                <a:latin typeface="Calibri" pitchFamily="34" charset="0"/>
                <a:ea typeface="Calibri" pitchFamily="34" charset="-122"/>
                <a:cs typeface="Calibri" pitchFamily="34" charset="-120"/>
              </a:rPr>
              <a:t>SCRIPTURE ANCHOR</a:t>
            </a:r>
            <a:endParaRPr lang="en-US" sz="1100" dirty="0"/>
          </a:p>
        </p:txBody>
      </p:sp>
      <p:sp>
        <p:nvSpPr>
          <p:cNvPr id="12" name="Text 10"/>
          <p:cNvSpPr/>
          <p:nvPr/>
        </p:nvSpPr>
        <p:spPr>
          <a:xfrm>
            <a:off x="6446520" y="3840480"/>
            <a:ext cx="5029200" cy="502920"/>
          </a:xfrm>
          <a:prstGeom prst="rect">
            <a:avLst/>
          </a:prstGeom>
          <a:noFill/>
          <a:ln/>
        </p:spPr>
        <p:txBody>
          <a:bodyPr wrap="square"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Week 10 · Discipleship at Scale</a:t>
            </a:r>
            <a:endParaRPr lang="en-US" sz="2000" dirty="0"/>
          </a:p>
        </p:txBody>
      </p:sp>
      <p:sp>
        <p:nvSpPr>
          <p:cNvPr id="13" name="Text 11"/>
          <p:cNvSpPr/>
          <p:nvPr/>
        </p:nvSpPr>
        <p:spPr>
          <a:xfrm>
            <a:off x="6446520" y="4434840"/>
            <a:ext cx="5029200" cy="548640"/>
          </a:xfrm>
          <a:prstGeom prst="rect">
            <a:avLst/>
          </a:prstGeom>
          <a:noFill/>
          <a:ln/>
        </p:spPr>
        <p:txBody>
          <a:bodyPr wrap="square" rtlCol="0" anchor="ctr"/>
          <a:lstStyle/>
          <a:p>
            <a:pPr indent="0" marL="0">
              <a:buNone/>
            </a:pPr>
            <a:r>
              <a:rPr lang="en-US" sz="1800" i="1" dirty="0">
                <a:solidFill>
                  <a:srgbClr val="FFFFFF"/>
                </a:solidFill>
                <a:latin typeface="Calibri" pitchFamily="34" charset="0"/>
                <a:ea typeface="Calibri" pitchFamily="34" charset="-122"/>
                <a:cs typeface="Calibri" pitchFamily="34" charset="-120"/>
              </a:rPr>
              <a:t>2 Timothy 2:2</a:t>
            </a:r>
            <a:endParaRPr lang="en-US" sz="1800" dirty="0"/>
          </a:p>
        </p:txBody>
      </p:sp>
      <p:sp>
        <p:nvSpPr>
          <p:cNvPr id="14" name="Text 12"/>
          <p:cNvSpPr/>
          <p:nvPr/>
        </p:nvSpPr>
        <p:spPr>
          <a:xfrm>
            <a:off x="6446520" y="5669280"/>
            <a:ext cx="5029200" cy="365760"/>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Read aloud at the open and the close.</a:t>
            </a:r>
            <a:endParaRPr lang="en-US" sz="1300" dirty="0"/>
          </a:p>
        </p:txBody>
      </p:sp>
      <p:sp>
        <p:nvSpPr>
          <p:cNvPr id="15" name="Text 13"/>
          <p:cNvSpPr/>
          <p:nvPr/>
        </p:nvSpPr>
        <p:spPr>
          <a:xfrm>
            <a:off x="548640" y="6492240"/>
            <a:ext cx="7315200" cy="274320"/>
          </a:xfrm>
          <a:prstGeom prst="rect">
            <a:avLst/>
          </a:prstGeom>
          <a:noFill/>
          <a:ln/>
        </p:spPr>
        <p:txBody>
          <a:bodyPr wrap="square" rtlCol="0" anchor="ctr"/>
          <a:lstStyle/>
          <a:p>
            <a:pPr indent="0" marL="0">
              <a:buNone/>
            </a:pPr>
            <a:r>
              <a:rPr lang="en-US" sz="1000" i="1" dirty="0">
                <a:solidFill>
                  <a:srgbClr val="5B6470"/>
                </a:solidFill>
                <a:latin typeface="Calibri" pitchFamily="34" charset="0"/>
                <a:ea typeface="Calibri" pitchFamily="34" charset="-122"/>
                <a:cs typeface="Calibri" pitchFamily="34" charset="-120"/>
              </a:rPr>
              <a:t>Week 10 · Discipleship at Scale · Task 1</a:t>
            </a:r>
            <a:endParaRPr lang="en-US" sz="10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0972800" cy="365760"/>
          </a:xfrm>
          <a:prstGeom prst="rect">
            <a:avLst/>
          </a:prstGeom>
          <a:noFill/>
          <a:ln/>
        </p:spPr>
        <p:txBody>
          <a:bodyPr wrap="square" rtlCol="0" anchor="ctr"/>
          <a:lstStyle/>
          <a:p>
            <a:pPr indent="0" marL="0">
              <a:buNone/>
            </a:pPr>
            <a:r>
              <a:rPr lang="en-US" sz="1100" b="1" spc="400" kern="0" dirty="0">
                <a:solidFill>
                  <a:srgbClr val="3B5998"/>
                </a:solidFill>
                <a:latin typeface="Calibri" pitchFamily="34" charset="0"/>
                <a:ea typeface="Calibri" pitchFamily="34" charset="-122"/>
                <a:cs typeface="Calibri" pitchFamily="34" charset="-120"/>
              </a:rPr>
              <a:t>WEEK 10 · TASK 2 · WEDNESDAY</a:t>
            </a:r>
            <a:endParaRPr lang="en-US" sz="1100" dirty="0"/>
          </a:p>
        </p:txBody>
      </p:sp>
      <p:sp>
        <p:nvSpPr>
          <p:cNvPr id="3" name="Text 1"/>
          <p:cNvSpPr/>
          <p:nvPr/>
        </p:nvSpPr>
        <p:spPr>
          <a:xfrm>
            <a:off x="548640" y="822960"/>
            <a:ext cx="11155680" cy="1280160"/>
          </a:xfrm>
          <a:prstGeom prst="rect">
            <a:avLst/>
          </a:prstGeom>
          <a:noFill/>
          <a:ln/>
        </p:spPr>
        <p:txBody>
          <a:bodyPr wrap="square" rtlCol="0" anchor="t"/>
          <a:lstStyle/>
          <a:p>
            <a:pPr indent="0" marL="0">
              <a:buNone/>
            </a:pPr>
            <a:r>
              <a:rPr lang="en-US" sz="3600" b="1" dirty="0">
                <a:solidFill>
                  <a:srgbClr val="1B2A4A"/>
                </a:solidFill>
                <a:latin typeface="Calibri" pitchFamily="34" charset="0"/>
                <a:ea typeface="Calibri" pitchFamily="34" charset="-122"/>
                <a:cs typeface="Calibri" pitchFamily="34" charset="-120"/>
              </a:rPr>
              <a:t>Pastoral Counseling Prep Workflow (with Redlines)</a:t>
            </a:r>
            <a:endParaRPr lang="en-US" sz="3600" dirty="0"/>
          </a:p>
        </p:txBody>
      </p:sp>
      <p:sp>
        <p:nvSpPr>
          <p:cNvPr id="4" name="Text 2"/>
          <p:cNvSpPr/>
          <p:nvPr/>
        </p:nvSpPr>
        <p:spPr>
          <a:xfrm>
            <a:off x="548640" y="2103120"/>
            <a:ext cx="10972800" cy="731520"/>
          </a:xfrm>
          <a:prstGeom prst="rect">
            <a:avLst/>
          </a:prstGeom>
          <a:noFill/>
          <a:ln/>
        </p:spPr>
        <p:txBody>
          <a:bodyPr wrap="square" rtlCol="0" anchor="ctr"/>
          <a:lstStyle/>
          <a:p>
            <a:pPr indent="0" marL="0">
              <a:buNone/>
            </a:pPr>
            <a:r>
              <a:rPr lang="en-US" sz="1900" i="1" dirty="0">
                <a:solidFill>
                  <a:srgbClr val="5B6470"/>
                </a:solidFill>
                <a:latin typeface="Calibri" pitchFamily="34" charset="0"/>
                <a:ea typeface="Calibri" pitchFamily="34" charset="-122"/>
                <a:cs typeface="Calibri" pitchFamily="34" charset="-120"/>
              </a:rPr>
              <a:t>AI assists the prep. Never the content of the conversation.</a:t>
            </a:r>
            <a:endParaRPr lang="en-US" sz="1900" dirty="0"/>
          </a:p>
        </p:txBody>
      </p:sp>
      <p:sp>
        <p:nvSpPr>
          <p:cNvPr id="5" name="Shape 3"/>
          <p:cNvSpPr/>
          <p:nvPr/>
        </p:nvSpPr>
        <p:spPr>
          <a:xfrm>
            <a:off x="548640" y="3291840"/>
            <a:ext cx="5486400" cy="3017520"/>
          </a:xfrm>
          <a:prstGeom prst="rect">
            <a:avLst/>
          </a:prstGeom>
          <a:solidFill>
            <a:srgbClr val="F4F1EA"/>
          </a:solidFill>
          <a:ln w="12700">
            <a:solidFill>
              <a:srgbClr val="D8DCE2"/>
            </a:solidFill>
            <a:prstDash val="solid"/>
          </a:ln>
        </p:spPr>
      </p:sp>
      <p:sp>
        <p:nvSpPr>
          <p:cNvPr id="6" name="Shape 4"/>
          <p:cNvSpPr/>
          <p:nvPr/>
        </p:nvSpPr>
        <p:spPr>
          <a:xfrm>
            <a:off x="548640" y="3291840"/>
            <a:ext cx="73152" cy="3017520"/>
          </a:xfrm>
          <a:prstGeom prst="rect">
            <a:avLst/>
          </a:prstGeom>
          <a:solidFill>
            <a:srgbClr val="1B2A4A"/>
          </a:solidFill>
          <a:ln w="12700">
            <a:solidFill>
              <a:srgbClr val="1B2A4A"/>
            </a:solidFill>
            <a:prstDash val="solid"/>
          </a:ln>
        </p:spPr>
      </p:sp>
      <p:sp>
        <p:nvSpPr>
          <p:cNvPr id="7" name="Text 5"/>
          <p:cNvSpPr/>
          <p:nvPr/>
        </p:nvSpPr>
        <p:spPr>
          <a:xfrm>
            <a:off x="777240" y="3474720"/>
            <a:ext cx="5029200" cy="274320"/>
          </a:xfrm>
          <a:prstGeom prst="rect">
            <a:avLst/>
          </a:prstGeom>
          <a:noFill/>
          <a:ln/>
        </p:spPr>
        <p:txBody>
          <a:bodyPr wrap="square" rtlCol="0" anchor="ctr"/>
          <a:lstStyle/>
          <a:p>
            <a:pPr indent="0" marL="0">
              <a:buNone/>
            </a:pPr>
            <a:r>
              <a:rPr lang="en-US" sz="1100" b="1" spc="300" kern="0" dirty="0">
                <a:solidFill>
                  <a:srgbClr val="CE8E31"/>
                </a:solidFill>
                <a:latin typeface="Calibri" pitchFamily="34" charset="0"/>
                <a:ea typeface="Calibri" pitchFamily="34" charset="-122"/>
                <a:cs typeface="Calibri" pitchFamily="34" charset="-120"/>
              </a:rPr>
              <a:t>THE ACTION</a:t>
            </a:r>
            <a:endParaRPr lang="en-US" sz="1100" dirty="0"/>
          </a:p>
        </p:txBody>
      </p:sp>
      <p:sp>
        <p:nvSpPr>
          <p:cNvPr id="8" name="Text 6"/>
          <p:cNvSpPr/>
          <p:nvPr/>
        </p:nvSpPr>
        <p:spPr>
          <a:xfrm>
            <a:off x="777240" y="3794760"/>
            <a:ext cx="5029200" cy="1463040"/>
          </a:xfrm>
          <a:prstGeom prst="rect">
            <a:avLst/>
          </a:prstGeom>
          <a:noFill/>
          <a:ln/>
        </p:spPr>
        <p:txBody>
          <a:bodyPr wrap="square" rtlCol="0" anchor="ctr"/>
          <a:lstStyle/>
          <a:p>
            <a:pPr indent="0" marL="0">
              <a:buNone/>
            </a:pPr>
            <a:r>
              <a:rPr lang="en-US" sz="1600" dirty="0">
                <a:solidFill>
                  <a:srgbClr val="22272E"/>
                </a:solidFill>
                <a:latin typeface="Calibri" pitchFamily="34" charset="0"/>
                <a:ea typeface="Calibri" pitchFamily="34" charset="-122"/>
                <a:cs typeface="Calibri" pitchFamily="34" charset="-120"/>
              </a:rPr>
              <a:t>20–30 minutes. Open the task card. Run the checklist. Ship the artifact. React ✓ in the cohort channel.</a:t>
            </a:r>
            <a:endParaRPr lang="en-US" sz="1600" dirty="0"/>
          </a:p>
        </p:txBody>
      </p:sp>
      <p:sp>
        <p:nvSpPr>
          <p:cNvPr id="9" name="Text 7"/>
          <p:cNvSpPr/>
          <p:nvPr/>
        </p:nvSpPr>
        <p:spPr>
          <a:xfrm>
            <a:off x="777240" y="5669280"/>
            <a:ext cx="5029200" cy="457200"/>
          </a:xfrm>
          <a:prstGeom prst="rect">
            <a:avLst/>
          </a:prstGeom>
          <a:noFill/>
          <a:ln/>
        </p:spPr>
        <p:txBody>
          <a:bodyPr wrap="square" rtlCol="0" anchor="ctr"/>
          <a:lstStyle/>
          <a:p>
            <a:pPr indent="0" marL="0">
              <a:buNone/>
            </a:pPr>
            <a:r>
              <a:rPr lang="en-US" sz="1400" b="1" i="1" dirty="0">
                <a:solidFill>
                  <a:srgbClr val="1B2A4A"/>
                </a:solidFill>
                <a:latin typeface="Calibri" pitchFamily="34" charset="0"/>
                <a:ea typeface="Calibri" pitchFamily="34" charset="-122"/>
                <a:cs typeface="Calibri" pitchFamily="34" charset="-120"/>
              </a:rPr>
              <a:t>AI drafts. The watchman decides.</a:t>
            </a:r>
            <a:endParaRPr lang="en-US" sz="1400" dirty="0"/>
          </a:p>
        </p:txBody>
      </p:sp>
      <p:sp>
        <p:nvSpPr>
          <p:cNvPr id="10" name="Shape 8"/>
          <p:cNvSpPr/>
          <p:nvPr/>
        </p:nvSpPr>
        <p:spPr>
          <a:xfrm>
            <a:off x="6217920" y="3291840"/>
            <a:ext cx="5394960" cy="3017520"/>
          </a:xfrm>
          <a:prstGeom prst="rect">
            <a:avLst/>
          </a:prstGeom>
          <a:solidFill>
            <a:srgbClr val="3B5998"/>
          </a:solidFill>
          <a:ln w="12700">
            <a:solidFill>
              <a:srgbClr val="3B5998"/>
            </a:solidFill>
            <a:prstDash val="solid"/>
          </a:ln>
        </p:spPr>
      </p:sp>
      <p:sp>
        <p:nvSpPr>
          <p:cNvPr id="11" name="Text 9"/>
          <p:cNvSpPr/>
          <p:nvPr/>
        </p:nvSpPr>
        <p:spPr>
          <a:xfrm>
            <a:off x="6446520" y="3520440"/>
            <a:ext cx="5029200" cy="274320"/>
          </a:xfrm>
          <a:prstGeom prst="rect">
            <a:avLst/>
          </a:prstGeom>
          <a:noFill/>
          <a:ln/>
        </p:spPr>
        <p:txBody>
          <a:bodyPr wrap="square" rtlCol="0" anchor="ctr"/>
          <a:lstStyle/>
          <a:p>
            <a:pPr indent="0" marL="0">
              <a:buNone/>
            </a:pPr>
            <a:r>
              <a:rPr lang="en-US" sz="1100" b="1" spc="300" kern="0" dirty="0">
                <a:solidFill>
                  <a:srgbClr val="FFFFFF"/>
                </a:solidFill>
                <a:latin typeface="Calibri" pitchFamily="34" charset="0"/>
                <a:ea typeface="Calibri" pitchFamily="34" charset="-122"/>
                <a:cs typeface="Calibri" pitchFamily="34" charset="-120"/>
              </a:rPr>
              <a:t>SCRIPTURE ANCHOR</a:t>
            </a:r>
            <a:endParaRPr lang="en-US" sz="1100" dirty="0"/>
          </a:p>
        </p:txBody>
      </p:sp>
      <p:sp>
        <p:nvSpPr>
          <p:cNvPr id="12" name="Text 10"/>
          <p:cNvSpPr/>
          <p:nvPr/>
        </p:nvSpPr>
        <p:spPr>
          <a:xfrm>
            <a:off x="6446520" y="3840480"/>
            <a:ext cx="5029200" cy="502920"/>
          </a:xfrm>
          <a:prstGeom prst="rect">
            <a:avLst/>
          </a:prstGeom>
          <a:noFill/>
          <a:ln/>
        </p:spPr>
        <p:txBody>
          <a:bodyPr wrap="square"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Week 10 · Discipleship at Scale</a:t>
            </a:r>
            <a:endParaRPr lang="en-US" sz="2000" dirty="0"/>
          </a:p>
        </p:txBody>
      </p:sp>
      <p:sp>
        <p:nvSpPr>
          <p:cNvPr id="13" name="Text 11"/>
          <p:cNvSpPr/>
          <p:nvPr/>
        </p:nvSpPr>
        <p:spPr>
          <a:xfrm>
            <a:off x="6446520" y="4434840"/>
            <a:ext cx="5029200" cy="548640"/>
          </a:xfrm>
          <a:prstGeom prst="rect">
            <a:avLst/>
          </a:prstGeom>
          <a:noFill/>
          <a:ln/>
        </p:spPr>
        <p:txBody>
          <a:bodyPr wrap="square" rtlCol="0" anchor="ctr"/>
          <a:lstStyle/>
          <a:p>
            <a:pPr indent="0" marL="0">
              <a:buNone/>
            </a:pPr>
            <a:r>
              <a:rPr lang="en-US" sz="1800" i="1" dirty="0">
                <a:solidFill>
                  <a:srgbClr val="FFFFFF"/>
                </a:solidFill>
                <a:latin typeface="Calibri" pitchFamily="34" charset="0"/>
                <a:ea typeface="Calibri" pitchFamily="34" charset="-122"/>
                <a:cs typeface="Calibri" pitchFamily="34" charset="-120"/>
              </a:rPr>
              <a:t>2 Timothy 2:2</a:t>
            </a:r>
            <a:endParaRPr lang="en-US" sz="1800" dirty="0"/>
          </a:p>
        </p:txBody>
      </p:sp>
      <p:sp>
        <p:nvSpPr>
          <p:cNvPr id="14" name="Text 12"/>
          <p:cNvSpPr/>
          <p:nvPr/>
        </p:nvSpPr>
        <p:spPr>
          <a:xfrm>
            <a:off x="6446520" y="5669280"/>
            <a:ext cx="5029200" cy="365760"/>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Read aloud at the open and the close.</a:t>
            </a:r>
            <a:endParaRPr lang="en-US" sz="1300" dirty="0"/>
          </a:p>
        </p:txBody>
      </p:sp>
      <p:sp>
        <p:nvSpPr>
          <p:cNvPr id="15" name="Text 13"/>
          <p:cNvSpPr/>
          <p:nvPr/>
        </p:nvSpPr>
        <p:spPr>
          <a:xfrm>
            <a:off x="548640" y="6492240"/>
            <a:ext cx="7315200" cy="274320"/>
          </a:xfrm>
          <a:prstGeom prst="rect">
            <a:avLst/>
          </a:prstGeom>
          <a:noFill/>
          <a:ln/>
        </p:spPr>
        <p:txBody>
          <a:bodyPr wrap="square" rtlCol="0" anchor="ctr"/>
          <a:lstStyle/>
          <a:p>
            <a:pPr indent="0" marL="0">
              <a:buNone/>
            </a:pPr>
            <a:r>
              <a:rPr lang="en-US" sz="1000" i="1" dirty="0">
                <a:solidFill>
                  <a:srgbClr val="5B6470"/>
                </a:solidFill>
                <a:latin typeface="Calibri" pitchFamily="34" charset="0"/>
                <a:ea typeface="Calibri" pitchFamily="34" charset="-122"/>
                <a:cs typeface="Calibri" pitchFamily="34" charset="-120"/>
              </a:rPr>
              <a:t>Week 10 · Discipleship at Scale · Task 2</a:t>
            </a:r>
            <a:endParaRPr lang="en-US" sz="10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0972800" cy="365760"/>
          </a:xfrm>
          <a:prstGeom prst="rect">
            <a:avLst/>
          </a:prstGeom>
          <a:noFill/>
          <a:ln/>
        </p:spPr>
        <p:txBody>
          <a:bodyPr wrap="square" rtlCol="0" anchor="ctr"/>
          <a:lstStyle/>
          <a:p>
            <a:pPr indent="0" marL="0">
              <a:buNone/>
            </a:pPr>
            <a:r>
              <a:rPr lang="en-US" sz="1100" b="1" spc="400" kern="0" dirty="0">
                <a:solidFill>
                  <a:srgbClr val="3B5998"/>
                </a:solidFill>
                <a:latin typeface="Calibri" pitchFamily="34" charset="0"/>
                <a:ea typeface="Calibri" pitchFamily="34" charset="-122"/>
                <a:cs typeface="Calibri" pitchFamily="34" charset="-120"/>
              </a:rPr>
              <a:t>WEEK 10 · TASK 3 · FRIDAY</a:t>
            </a:r>
            <a:endParaRPr lang="en-US" sz="1100" dirty="0"/>
          </a:p>
        </p:txBody>
      </p:sp>
      <p:sp>
        <p:nvSpPr>
          <p:cNvPr id="3" name="Text 1"/>
          <p:cNvSpPr/>
          <p:nvPr/>
        </p:nvSpPr>
        <p:spPr>
          <a:xfrm>
            <a:off x="548640" y="822960"/>
            <a:ext cx="11155680" cy="1280160"/>
          </a:xfrm>
          <a:prstGeom prst="rect">
            <a:avLst/>
          </a:prstGeom>
          <a:noFill/>
          <a:ln/>
        </p:spPr>
        <p:txBody>
          <a:bodyPr wrap="square" rtlCol="0" anchor="t"/>
          <a:lstStyle/>
          <a:p>
            <a:pPr indent="0" marL="0">
              <a:buNone/>
            </a:pPr>
            <a:r>
              <a:rPr lang="en-US" sz="3600" b="1" dirty="0">
                <a:solidFill>
                  <a:srgbClr val="1B2A4A"/>
                </a:solidFill>
                <a:latin typeface="Calibri" pitchFamily="34" charset="0"/>
                <a:ea typeface="Calibri" pitchFamily="34" charset="-122"/>
                <a:cs typeface="Calibri" pitchFamily="34" charset="-120"/>
              </a:rPr>
              <a:t>Build a Discipleship Cohort Prompt-Pack</a:t>
            </a:r>
            <a:endParaRPr lang="en-US" sz="3600" dirty="0"/>
          </a:p>
        </p:txBody>
      </p:sp>
      <p:sp>
        <p:nvSpPr>
          <p:cNvPr id="4" name="Text 2"/>
          <p:cNvSpPr/>
          <p:nvPr/>
        </p:nvSpPr>
        <p:spPr>
          <a:xfrm>
            <a:off x="548640" y="2103120"/>
            <a:ext cx="10972800" cy="731520"/>
          </a:xfrm>
          <a:prstGeom prst="rect">
            <a:avLst/>
          </a:prstGeom>
          <a:noFill/>
          <a:ln/>
        </p:spPr>
        <p:txBody>
          <a:bodyPr wrap="square" rtlCol="0" anchor="ctr"/>
          <a:lstStyle/>
          <a:p>
            <a:pPr indent="0" marL="0">
              <a:buNone/>
            </a:pPr>
            <a:r>
              <a:rPr lang="en-US" sz="1900" i="1" dirty="0">
                <a:solidFill>
                  <a:srgbClr val="5B6470"/>
                </a:solidFill>
                <a:latin typeface="Calibri" pitchFamily="34" charset="0"/>
                <a:ea typeface="Calibri" pitchFamily="34" charset="-122"/>
                <a:cs typeface="Calibri" pitchFamily="34" charset="-120"/>
              </a:rPr>
              <a:t>Ten prompts for a man you're mentoring. Test on one.</a:t>
            </a:r>
            <a:endParaRPr lang="en-US" sz="1900" dirty="0"/>
          </a:p>
        </p:txBody>
      </p:sp>
      <p:sp>
        <p:nvSpPr>
          <p:cNvPr id="5" name="Shape 3"/>
          <p:cNvSpPr/>
          <p:nvPr/>
        </p:nvSpPr>
        <p:spPr>
          <a:xfrm>
            <a:off x="548640" y="3291840"/>
            <a:ext cx="5486400" cy="3017520"/>
          </a:xfrm>
          <a:prstGeom prst="rect">
            <a:avLst/>
          </a:prstGeom>
          <a:solidFill>
            <a:srgbClr val="F4F1EA"/>
          </a:solidFill>
          <a:ln w="12700">
            <a:solidFill>
              <a:srgbClr val="D8DCE2"/>
            </a:solidFill>
            <a:prstDash val="solid"/>
          </a:ln>
        </p:spPr>
      </p:sp>
      <p:sp>
        <p:nvSpPr>
          <p:cNvPr id="6" name="Shape 4"/>
          <p:cNvSpPr/>
          <p:nvPr/>
        </p:nvSpPr>
        <p:spPr>
          <a:xfrm>
            <a:off x="548640" y="3291840"/>
            <a:ext cx="73152" cy="3017520"/>
          </a:xfrm>
          <a:prstGeom prst="rect">
            <a:avLst/>
          </a:prstGeom>
          <a:solidFill>
            <a:srgbClr val="1B2A4A"/>
          </a:solidFill>
          <a:ln w="12700">
            <a:solidFill>
              <a:srgbClr val="1B2A4A"/>
            </a:solidFill>
            <a:prstDash val="solid"/>
          </a:ln>
        </p:spPr>
      </p:sp>
      <p:sp>
        <p:nvSpPr>
          <p:cNvPr id="7" name="Text 5"/>
          <p:cNvSpPr/>
          <p:nvPr/>
        </p:nvSpPr>
        <p:spPr>
          <a:xfrm>
            <a:off x="777240" y="3474720"/>
            <a:ext cx="5029200" cy="274320"/>
          </a:xfrm>
          <a:prstGeom prst="rect">
            <a:avLst/>
          </a:prstGeom>
          <a:noFill/>
          <a:ln/>
        </p:spPr>
        <p:txBody>
          <a:bodyPr wrap="square" rtlCol="0" anchor="ctr"/>
          <a:lstStyle/>
          <a:p>
            <a:pPr indent="0" marL="0">
              <a:buNone/>
            </a:pPr>
            <a:r>
              <a:rPr lang="en-US" sz="1100" b="1" spc="300" kern="0" dirty="0">
                <a:solidFill>
                  <a:srgbClr val="CE8E31"/>
                </a:solidFill>
                <a:latin typeface="Calibri" pitchFamily="34" charset="0"/>
                <a:ea typeface="Calibri" pitchFamily="34" charset="-122"/>
                <a:cs typeface="Calibri" pitchFamily="34" charset="-120"/>
              </a:rPr>
              <a:t>THE ACTION</a:t>
            </a:r>
            <a:endParaRPr lang="en-US" sz="1100" dirty="0"/>
          </a:p>
        </p:txBody>
      </p:sp>
      <p:sp>
        <p:nvSpPr>
          <p:cNvPr id="8" name="Text 6"/>
          <p:cNvSpPr/>
          <p:nvPr/>
        </p:nvSpPr>
        <p:spPr>
          <a:xfrm>
            <a:off x="777240" y="3794760"/>
            <a:ext cx="5029200" cy="1463040"/>
          </a:xfrm>
          <a:prstGeom prst="rect">
            <a:avLst/>
          </a:prstGeom>
          <a:noFill/>
          <a:ln/>
        </p:spPr>
        <p:txBody>
          <a:bodyPr wrap="square" rtlCol="0" anchor="ctr"/>
          <a:lstStyle/>
          <a:p>
            <a:pPr indent="0" marL="0">
              <a:buNone/>
            </a:pPr>
            <a:r>
              <a:rPr lang="en-US" sz="1600" dirty="0">
                <a:solidFill>
                  <a:srgbClr val="22272E"/>
                </a:solidFill>
                <a:latin typeface="Calibri" pitchFamily="34" charset="0"/>
                <a:ea typeface="Calibri" pitchFamily="34" charset="-122"/>
                <a:cs typeface="Calibri" pitchFamily="34" charset="-120"/>
              </a:rPr>
              <a:t>20–30 minutes. Open the task card. Run the checklist. Ship the artifact. React ✓ in the cohort channel.</a:t>
            </a:r>
            <a:endParaRPr lang="en-US" sz="1600" dirty="0"/>
          </a:p>
        </p:txBody>
      </p:sp>
      <p:sp>
        <p:nvSpPr>
          <p:cNvPr id="9" name="Text 7"/>
          <p:cNvSpPr/>
          <p:nvPr/>
        </p:nvSpPr>
        <p:spPr>
          <a:xfrm>
            <a:off x="777240" y="5669280"/>
            <a:ext cx="5029200" cy="457200"/>
          </a:xfrm>
          <a:prstGeom prst="rect">
            <a:avLst/>
          </a:prstGeom>
          <a:noFill/>
          <a:ln/>
        </p:spPr>
        <p:txBody>
          <a:bodyPr wrap="square" rtlCol="0" anchor="ctr"/>
          <a:lstStyle/>
          <a:p>
            <a:pPr indent="0" marL="0">
              <a:buNone/>
            </a:pPr>
            <a:r>
              <a:rPr lang="en-US" sz="1400" b="1" i="1" dirty="0">
                <a:solidFill>
                  <a:srgbClr val="1B2A4A"/>
                </a:solidFill>
                <a:latin typeface="Calibri" pitchFamily="34" charset="0"/>
                <a:ea typeface="Calibri" pitchFamily="34" charset="-122"/>
                <a:cs typeface="Calibri" pitchFamily="34" charset="-120"/>
              </a:rPr>
              <a:t>AI drafts. The watchman decides.</a:t>
            </a:r>
            <a:endParaRPr lang="en-US" sz="1400" dirty="0"/>
          </a:p>
        </p:txBody>
      </p:sp>
      <p:sp>
        <p:nvSpPr>
          <p:cNvPr id="10" name="Shape 8"/>
          <p:cNvSpPr/>
          <p:nvPr/>
        </p:nvSpPr>
        <p:spPr>
          <a:xfrm>
            <a:off x="6217920" y="3291840"/>
            <a:ext cx="5394960" cy="3017520"/>
          </a:xfrm>
          <a:prstGeom prst="rect">
            <a:avLst/>
          </a:prstGeom>
          <a:solidFill>
            <a:srgbClr val="3B5998"/>
          </a:solidFill>
          <a:ln w="12700">
            <a:solidFill>
              <a:srgbClr val="3B5998"/>
            </a:solidFill>
            <a:prstDash val="solid"/>
          </a:ln>
        </p:spPr>
      </p:sp>
      <p:sp>
        <p:nvSpPr>
          <p:cNvPr id="11" name="Text 9"/>
          <p:cNvSpPr/>
          <p:nvPr/>
        </p:nvSpPr>
        <p:spPr>
          <a:xfrm>
            <a:off x="6446520" y="3520440"/>
            <a:ext cx="5029200" cy="274320"/>
          </a:xfrm>
          <a:prstGeom prst="rect">
            <a:avLst/>
          </a:prstGeom>
          <a:noFill/>
          <a:ln/>
        </p:spPr>
        <p:txBody>
          <a:bodyPr wrap="square" rtlCol="0" anchor="ctr"/>
          <a:lstStyle/>
          <a:p>
            <a:pPr indent="0" marL="0">
              <a:buNone/>
            </a:pPr>
            <a:r>
              <a:rPr lang="en-US" sz="1100" b="1" spc="300" kern="0" dirty="0">
                <a:solidFill>
                  <a:srgbClr val="FFFFFF"/>
                </a:solidFill>
                <a:latin typeface="Calibri" pitchFamily="34" charset="0"/>
                <a:ea typeface="Calibri" pitchFamily="34" charset="-122"/>
                <a:cs typeface="Calibri" pitchFamily="34" charset="-120"/>
              </a:rPr>
              <a:t>SCRIPTURE ANCHOR</a:t>
            </a:r>
            <a:endParaRPr lang="en-US" sz="1100" dirty="0"/>
          </a:p>
        </p:txBody>
      </p:sp>
      <p:sp>
        <p:nvSpPr>
          <p:cNvPr id="12" name="Text 10"/>
          <p:cNvSpPr/>
          <p:nvPr/>
        </p:nvSpPr>
        <p:spPr>
          <a:xfrm>
            <a:off x="6446520" y="3840480"/>
            <a:ext cx="5029200" cy="502920"/>
          </a:xfrm>
          <a:prstGeom prst="rect">
            <a:avLst/>
          </a:prstGeom>
          <a:noFill/>
          <a:ln/>
        </p:spPr>
        <p:txBody>
          <a:bodyPr wrap="square"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Week 10 · Discipleship at Scale</a:t>
            </a:r>
            <a:endParaRPr lang="en-US" sz="2000" dirty="0"/>
          </a:p>
        </p:txBody>
      </p:sp>
      <p:sp>
        <p:nvSpPr>
          <p:cNvPr id="13" name="Text 11"/>
          <p:cNvSpPr/>
          <p:nvPr/>
        </p:nvSpPr>
        <p:spPr>
          <a:xfrm>
            <a:off x="6446520" y="4434840"/>
            <a:ext cx="5029200" cy="548640"/>
          </a:xfrm>
          <a:prstGeom prst="rect">
            <a:avLst/>
          </a:prstGeom>
          <a:noFill/>
          <a:ln/>
        </p:spPr>
        <p:txBody>
          <a:bodyPr wrap="square" rtlCol="0" anchor="ctr"/>
          <a:lstStyle/>
          <a:p>
            <a:pPr indent="0" marL="0">
              <a:buNone/>
            </a:pPr>
            <a:r>
              <a:rPr lang="en-US" sz="1800" i="1" dirty="0">
                <a:solidFill>
                  <a:srgbClr val="FFFFFF"/>
                </a:solidFill>
                <a:latin typeface="Calibri" pitchFamily="34" charset="0"/>
                <a:ea typeface="Calibri" pitchFamily="34" charset="-122"/>
                <a:cs typeface="Calibri" pitchFamily="34" charset="-120"/>
              </a:rPr>
              <a:t>2 Timothy 2:2</a:t>
            </a:r>
            <a:endParaRPr lang="en-US" sz="1800" dirty="0"/>
          </a:p>
        </p:txBody>
      </p:sp>
      <p:sp>
        <p:nvSpPr>
          <p:cNvPr id="14" name="Text 12"/>
          <p:cNvSpPr/>
          <p:nvPr/>
        </p:nvSpPr>
        <p:spPr>
          <a:xfrm>
            <a:off x="6446520" y="5669280"/>
            <a:ext cx="5029200" cy="365760"/>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Read aloud at the open and the close.</a:t>
            </a:r>
            <a:endParaRPr lang="en-US" sz="1300" dirty="0"/>
          </a:p>
        </p:txBody>
      </p:sp>
      <p:sp>
        <p:nvSpPr>
          <p:cNvPr id="15" name="Text 13"/>
          <p:cNvSpPr/>
          <p:nvPr/>
        </p:nvSpPr>
        <p:spPr>
          <a:xfrm>
            <a:off x="548640" y="6492240"/>
            <a:ext cx="7315200" cy="274320"/>
          </a:xfrm>
          <a:prstGeom prst="rect">
            <a:avLst/>
          </a:prstGeom>
          <a:noFill/>
          <a:ln/>
        </p:spPr>
        <p:txBody>
          <a:bodyPr wrap="square" rtlCol="0" anchor="ctr"/>
          <a:lstStyle/>
          <a:p>
            <a:pPr indent="0" marL="0">
              <a:buNone/>
            </a:pPr>
            <a:r>
              <a:rPr lang="en-US" sz="1000" i="1" dirty="0">
                <a:solidFill>
                  <a:srgbClr val="5B6470"/>
                </a:solidFill>
                <a:latin typeface="Calibri" pitchFamily="34" charset="0"/>
                <a:ea typeface="Calibri" pitchFamily="34" charset="-122"/>
                <a:cs typeface="Calibri" pitchFamily="34" charset="-120"/>
              </a:rPr>
              <a:t>Week 10 · Discipleship at Scale · Task 3</a:t>
            </a:r>
            <a:endParaRPr lang="en-US" sz="10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1B2A4A"/>
        </a:solidFill>
      </p:bgPr>
    </p:bg>
    <p:spTree>
      <p:nvGrpSpPr>
        <p:cNvPr id="1" name=""/>
        <p:cNvGrpSpPr/>
        <p:nvPr/>
      </p:nvGrpSpPr>
      <p:grpSpPr>
        <a:xfrm>
          <a:off x="0" y="0"/>
          <a:ext cx="0" cy="0"/>
          <a:chOff x="0" y="0"/>
          <a:chExt cx="0" cy="0"/>
        </a:xfrm>
      </p:grpSpPr>
      <p:sp>
        <p:nvSpPr>
          <p:cNvPr id="2" name="Text 0"/>
          <p:cNvSpPr/>
          <p:nvPr/>
        </p:nvSpPr>
        <p:spPr>
          <a:xfrm>
            <a:off x="548640" y="1463040"/>
            <a:ext cx="10972800" cy="457200"/>
          </a:xfrm>
          <a:prstGeom prst="rect">
            <a:avLst/>
          </a:prstGeom>
          <a:noFill/>
          <a:ln/>
        </p:spPr>
        <p:txBody>
          <a:bodyPr wrap="square" rtlCol="0" anchor="ctr"/>
          <a:lstStyle/>
          <a:p>
            <a:pPr indent="0" marL="0">
              <a:buNone/>
            </a:pPr>
            <a:r>
              <a:rPr lang="en-US" sz="1400" b="1" spc="500" kern="0" dirty="0">
                <a:solidFill>
                  <a:srgbClr val="5A7A6B"/>
                </a:solidFill>
                <a:latin typeface="Calibri" pitchFamily="34" charset="0"/>
                <a:ea typeface="Calibri" pitchFamily="34" charset="-122"/>
                <a:cs typeface="Calibri" pitchFamily="34" charset="-120"/>
              </a:rPr>
              <a:t>WEEK 11  ·  BLOCK V — SOVEREIGN STACK</a:t>
            </a:r>
            <a:endParaRPr lang="en-US" sz="1400" dirty="0"/>
          </a:p>
        </p:txBody>
      </p:sp>
      <p:sp>
        <p:nvSpPr>
          <p:cNvPr id="3" name="Text 1"/>
          <p:cNvSpPr/>
          <p:nvPr/>
        </p:nvSpPr>
        <p:spPr>
          <a:xfrm>
            <a:off x="548640" y="1920240"/>
            <a:ext cx="11338560" cy="1371600"/>
          </a:xfrm>
          <a:prstGeom prst="rect">
            <a:avLst/>
          </a:prstGeom>
          <a:noFill/>
          <a:ln/>
        </p:spPr>
        <p:txBody>
          <a:bodyPr wrap="square" rtlCol="0" anchor="ctr"/>
          <a:lstStyle/>
          <a:p>
            <a:pPr indent="0" marL="0">
              <a:buNone/>
            </a:pPr>
            <a:r>
              <a:rPr lang="en-US" sz="5400" b="1" dirty="0">
                <a:solidFill>
                  <a:srgbClr val="FFFFFF"/>
                </a:solidFill>
                <a:latin typeface="Calibri" pitchFamily="34" charset="0"/>
                <a:ea typeface="Calibri" pitchFamily="34" charset="-122"/>
                <a:cs typeface="Calibri" pitchFamily="34" charset="-120"/>
              </a:rPr>
              <a:t>SOVEREIGN STACK</a:t>
            </a:r>
            <a:endParaRPr lang="en-US" sz="5400" dirty="0"/>
          </a:p>
        </p:txBody>
      </p:sp>
      <p:sp>
        <p:nvSpPr>
          <p:cNvPr id="4" name="Shape 2"/>
          <p:cNvSpPr/>
          <p:nvPr/>
        </p:nvSpPr>
        <p:spPr>
          <a:xfrm>
            <a:off x="548640" y="3383280"/>
            <a:ext cx="1828800" cy="73152"/>
          </a:xfrm>
          <a:prstGeom prst="rect">
            <a:avLst/>
          </a:prstGeom>
          <a:solidFill>
            <a:srgbClr val="5A7A6B"/>
          </a:solidFill>
          <a:ln w="12700">
            <a:solidFill>
              <a:srgbClr val="5A7A6B"/>
            </a:solidFill>
            <a:prstDash val="solid"/>
          </a:ln>
        </p:spPr>
      </p:sp>
      <p:sp>
        <p:nvSpPr>
          <p:cNvPr id="5" name="Text 3"/>
          <p:cNvSpPr/>
          <p:nvPr/>
        </p:nvSpPr>
        <p:spPr>
          <a:xfrm>
            <a:off x="548640" y="3566160"/>
            <a:ext cx="10515600" cy="1097280"/>
          </a:xfrm>
          <a:prstGeom prst="rect">
            <a:avLst/>
          </a:prstGeom>
          <a:noFill/>
          <a:ln/>
        </p:spPr>
        <p:txBody>
          <a:bodyPr wrap="square" rtlCol="0" anchor="ctr"/>
          <a:lstStyle/>
          <a:p>
            <a:pPr indent="0" marL="0">
              <a:buNone/>
            </a:pPr>
            <a:r>
              <a:rPr lang="en-US" sz="2200" i="1" dirty="0">
                <a:solidFill>
                  <a:srgbClr val="94A3B8"/>
                </a:solidFill>
                <a:latin typeface="Calibri" pitchFamily="34" charset="0"/>
                <a:ea typeface="Calibri" pitchFamily="34" charset="-122"/>
                <a:cs typeface="Calibri" pitchFamily="34" charset="-120"/>
              </a:rPr>
              <a:t>A local-AI smoke test on your own hardware, your watchman's redlines wired architecturally, and one MCP server scoped and tested.</a:t>
            </a:r>
            <a:endParaRPr lang="en-US" sz="2200" dirty="0"/>
          </a:p>
        </p:txBody>
      </p:sp>
      <p:sp>
        <p:nvSpPr>
          <p:cNvPr id="6" name="Text 4"/>
          <p:cNvSpPr/>
          <p:nvPr/>
        </p:nvSpPr>
        <p:spPr>
          <a:xfrm>
            <a:off x="548640" y="5029200"/>
            <a:ext cx="10972800" cy="274320"/>
          </a:xfrm>
          <a:prstGeom prst="rect">
            <a:avLst/>
          </a:prstGeom>
          <a:noFill/>
          <a:ln/>
        </p:spPr>
        <p:txBody>
          <a:bodyPr wrap="square" rtlCol="0" anchor="ctr"/>
          <a:lstStyle/>
          <a:p>
            <a:pPr indent="0" marL="0">
              <a:buNone/>
            </a:pPr>
            <a:r>
              <a:rPr lang="en-US" sz="1000" b="1" spc="400" kern="0" dirty="0">
                <a:solidFill>
                  <a:srgbClr val="CE8E31"/>
                </a:solidFill>
                <a:latin typeface="Calibri" pitchFamily="34" charset="0"/>
                <a:ea typeface="Calibri" pitchFamily="34" charset="-122"/>
                <a:cs typeface="Calibri" pitchFamily="34" charset="-120"/>
              </a:rPr>
              <a:t>SCRIPTURE</a:t>
            </a:r>
            <a:endParaRPr lang="en-US" sz="1000" dirty="0"/>
          </a:p>
        </p:txBody>
      </p:sp>
      <p:sp>
        <p:nvSpPr>
          <p:cNvPr id="7" name="Text 5"/>
          <p:cNvSpPr/>
          <p:nvPr/>
        </p:nvSpPr>
        <p:spPr>
          <a:xfrm>
            <a:off x="548640" y="5303520"/>
            <a:ext cx="10972800" cy="457200"/>
          </a:xfrm>
          <a:prstGeom prst="rect">
            <a:avLst/>
          </a:prstGeom>
          <a:noFill/>
          <a:ln/>
        </p:spPr>
        <p:txBody>
          <a:bodyPr wrap="square" rtlCol="0" anchor="ctr"/>
          <a:lstStyle/>
          <a:p>
            <a:pPr indent="0" marL="0">
              <a:buNone/>
            </a:pPr>
            <a:r>
              <a:rPr lang="en-US" sz="2000" dirty="0">
                <a:solidFill>
                  <a:srgbClr val="FFFFFF"/>
                </a:solidFill>
                <a:latin typeface="Calibri" pitchFamily="34" charset="0"/>
                <a:ea typeface="Calibri" pitchFamily="34" charset="-122"/>
                <a:cs typeface="Calibri" pitchFamily="34" charset="-120"/>
              </a:rPr>
              <a:t>Proverbs 22:3</a:t>
            </a:r>
            <a:endParaRPr lang="en-US" sz="2000" dirty="0"/>
          </a:p>
        </p:txBody>
      </p:sp>
      <p:sp>
        <p:nvSpPr>
          <p:cNvPr id="8" name="Text 6"/>
          <p:cNvSpPr/>
          <p:nvPr/>
        </p:nvSpPr>
        <p:spPr>
          <a:xfrm>
            <a:off x="548640" y="6492240"/>
            <a:ext cx="7315200" cy="274320"/>
          </a:xfrm>
          <a:prstGeom prst="rect">
            <a:avLst/>
          </a:prstGeom>
          <a:noFill/>
          <a:ln/>
        </p:spPr>
        <p:txBody>
          <a:bodyPr wrap="square" rtlCol="0" anchor="ctr"/>
          <a:lstStyle/>
          <a:p>
            <a:pPr indent="0" marL="0">
              <a:buNone/>
            </a:pPr>
            <a:r>
              <a:rPr lang="en-US" sz="1000" i="1" dirty="0">
                <a:solidFill>
                  <a:srgbClr val="5B6470"/>
                </a:solidFill>
                <a:latin typeface="Calibri" pitchFamily="34" charset="0"/>
                <a:ea typeface="Calibri" pitchFamily="34" charset="-122"/>
                <a:cs typeface="Calibri" pitchFamily="34" charset="-120"/>
              </a:rPr>
              <a:t>Week 11 · Sovereign Stack</a:t>
            </a:r>
            <a:endParaRPr lang="en-US" sz="10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0972800" cy="365760"/>
          </a:xfrm>
          <a:prstGeom prst="rect">
            <a:avLst/>
          </a:prstGeom>
          <a:noFill/>
          <a:ln/>
        </p:spPr>
        <p:txBody>
          <a:bodyPr wrap="square" rtlCol="0" anchor="ctr"/>
          <a:lstStyle/>
          <a:p>
            <a:pPr indent="0" marL="0">
              <a:buNone/>
            </a:pPr>
            <a:r>
              <a:rPr lang="en-US" sz="1100" b="1" spc="400" kern="0" dirty="0">
                <a:solidFill>
                  <a:srgbClr val="5A7A6B"/>
                </a:solidFill>
                <a:latin typeface="Calibri" pitchFamily="34" charset="0"/>
                <a:ea typeface="Calibri" pitchFamily="34" charset="-122"/>
                <a:cs typeface="Calibri" pitchFamily="34" charset="-120"/>
              </a:rPr>
              <a:t>WEEK 11 · TASK 1 · MONDAY</a:t>
            </a:r>
            <a:endParaRPr lang="en-US" sz="1100" dirty="0"/>
          </a:p>
        </p:txBody>
      </p:sp>
      <p:sp>
        <p:nvSpPr>
          <p:cNvPr id="3" name="Text 1"/>
          <p:cNvSpPr/>
          <p:nvPr/>
        </p:nvSpPr>
        <p:spPr>
          <a:xfrm>
            <a:off x="548640" y="822960"/>
            <a:ext cx="11155680" cy="1280160"/>
          </a:xfrm>
          <a:prstGeom prst="rect">
            <a:avLst/>
          </a:prstGeom>
          <a:noFill/>
          <a:ln/>
        </p:spPr>
        <p:txBody>
          <a:bodyPr wrap="square" rtlCol="0" anchor="t"/>
          <a:lstStyle/>
          <a:p>
            <a:pPr indent="0" marL="0">
              <a:buNone/>
            </a:pPr>
            <a:r>
              <a:rPr lang="en-US" sz="3600" b="1" dirty="0">
                <a:solidFill>
                  <a:srgbClr val="1B2A4A"/>
                </a:solidFill>
                <a:latin typeface="Calibri" pitchFamily="34" charset="0"/>
                <a:ea typeface="Calibri" pitchFamily="34" charset="-122"/>
                <a:cs typeface="Calibri" pitchFamily="34" charset="-120"/>
              </a:rPr>
              <a:t>Local AI Smoke Test</a:t>
            </a:r>
            <a:endParaRPr lang="en-US" sz="3600" dirty="0"/>
          </a:p>
        </p:txBody>
      </p:sp>
      <p:sp>
        <p:nvSpPr>
          <p:cNvPr id="4" name="Text 2"/>
          <p:cNvSpPr/>
          <p:nvPr/>
        </p:nvSpPr>
        <p:spPr>
          <a:xfrm>
            <a:off x="548640" y="2103120"/>
            <a:ext cx="10972800" cy="731520"/>
          </a:xfrm>
          <a:prstGeom prst="rect">
            <a:avLst/>
          </a:prstGeom>
          <a:noFill/>
          <a:ln/>
        </p:spPr>
        <p:txBody>
          <a:bodyPr wrap="square" rtlCol="0" anchor="ctr"/>
          <a:lstStyle/>
          <a:p>
            <a:pPr indent="0" marL="0">
              <a:buNone/>
            </a:pPr>
            <a:r>
              <a:rPr lang="en-US" sz="1900" i="1" dirty="0">
                <a:solidFill>
                  <a:srgbClr val="5B6470"/>
                </a:solidFill>
                <a:latin typeface="Calibri" pitchFamily="34" charset="0"/>
                <a:ea typeface="Calibri" pitchFamily="34" charset="-122"/>
                <a:cs typeface="Calibri" pitchFamily="34" charset="-120"/>
              </a:rPr>
              <a:t>Install a local model. Run three prompts. Verify nothing left your machine.</a:t>
            </a:r>
            <a:endParaRPr lang="en-US" sz="1900" dirty="0"/>
          </a:p>
        </p:txBody>
      </p:sp>
      <p:sp>
        <p:nvSpPr>
          <p:cNvPr id="5" name="Shape 3"/>
          <p:cNvSpPr/>
          <p:nvPr/>
        </p:nvSpPr>
        <p:spPr>
          <a:xfrm>
            <a:off x="548640" y="3291840"/>
            <a:ext cx="5486400" cy="3017520"/>
          </a:xfrm>
          <a:prstGeom prst="rect">
            <a:avLst/>
          </a:prstGeom>
          <a:solidFill>
            <a:srgbClr val="F4F1EA"/>
          </a:solidFill>
          <a:ln w="12700">
            <a:solidFill>
              <a:srgbClr val="D8DCE2"/>
            </a:solidFill>
            <a:prstDash val="solid"/>
          </a:ln>
        </p:spPr>
      </p:sp>
      <p:sp>
        <p:nvSpPr>
          <p:cNvPr id="6" name="Shape 4"/>
          <p:cNvSpPr/>
          <p:nvPr/>
        </p:nvSpPr>
        <p:spPr>
          <a:xfrm>
            <a:off x="548640" y="3291840"/>
            <a:ext cx="73152" cy="3017520"/>
          </a:xfrm>
          <a:prstGeom prst="rect">
            <a:avLst/>
          </a:prstGeom>
          <a:solidFill>
            <a:srgbClr val="1B2A4A"/>
          </a:solidFill>
          <a:ln w="12700">
            <a:solidFill>
              <a:srgbClr val="1B2A4A"/>
            </a:solidFill>
            <a:prstDash val="solid"/>
          </a:ln>
        </p:spPr>
      </p:sp>
      <p:sp>
        <p:nvSpPr>
          <p:cNvPr id="7" name="Text 5"/>
          <p:cNvSpPr/>
          <p:nvPr/>
        </p:nvSpPr>
        <p:spPr>
          <a:xfrm>
            <a:off x="777240" y="3474720"/>
            <a:ext cx="5029200" cy="274320"/>
          </a:xfrm>
          <a:prstGeom prst="rect">
            <a:avLst/>
          </a:prstGeom>
          <a:noFill/>
          <a:ln/>
        </p:spPr>
        <p:txBody>
          <a:bodyPr wrap="square" rtlCol="0" anchor="ctr"/>
          <a:lstStyle/>
          <a:p>
            <a:pPr indent="0" marL="0">
              <a:buNone/>
            </a:pPr>
            <a:r>
              <a:rPr lang="en-US" sz="1100" b="1" spc="300" kern="0" dirty="0">
                <a:solidFill>
                  <a:srgbClr val="CE8E31"/>
                </a:solidFill>
                <a:latin typeface="Calibri" pitchFamily="34" charset="0"/>
                <a:ea typeface="Calibri" pitchFamily="34" charset="-122"/>
                <a:cs typeface="Calibri" pitchFamily="34" charset="-120"/>
              </a:rPr>
              <a:t>THE ACTION</a:t>
            </a:r>
            <a:endParaRPr lang="en-US" sz="1100" dirty="0"/>
          </a:p>
        </p:txBody>
      </p:sp>
      <p:sp>
        <p:nvSpPr>
          <p:cNvPr id="8" name="Text 6"/>
          <p:cNvSpPr/>
          <p:nvPr/>
        </p:nvSpPr>
        <p:spPr>
          <a:xfrm>
            <a:off x="777240" y="3794760"/>
            <a:ext cx="5029200" cy="1463040"/>
          </a:xfrm>
          <a:prstGeom prst="rect">
            <a:avLst/>
          </a:prstGeom>
          <a:noFill/>
          <a:ln/>
        </p:spPr>
        <p:txBody>
          <a:bodyPr wrap="square" rtlCol="0" anchor="ctr"/>
          <a:lstStyle/>
          <a:p>
            <a:pPr indent="0" marL="0">
              <a:buNone/>
            </a:pPr>
            <a:r>
              <a:rPr lang="en-US" sz="1600" dirty="0">
                <a:solidFill>
                  <a:srgbClr val="22272E"/>
                </a:solidFill>
                <a:latin typeface="Calibri" pitchFamily="34" charset="0"/>
                <a:ea typeface="Calibri" pitchFamily="34" charset="-122"/>
                <a:cs typeface="Calibri" pitchFamily="34" charset="-120"/>
              </a:rPr>
              <a:t>20–30 minutes. Open the task card. Run the checklist. Ship the artifact. React ✓ in the cohort channel.</a:t>
            </a:r>
            <a:endParaRPr lang="en-US" sz="1600" dirty="0"/>
          </a:p>
        </p:txBody>
      </p:sp>
      <p:sp>
        <p:nvSpPr>
          <p:cNvPr id="9" name="Text 7"/>
          <p:cNvSpPr/>
          <p:nvPr/>
        </p:nvSpPr>
        <p:spPr>
          <a:xfrm>
            <a:off x="777240" y="5669280"/>
            <a:ext cx="5029200" cy="457200"/>
          </a:xfrm>
          <a:prstGeom prst="rect">
            <a:avLst/>
          </a:prstGeom>
          <a:noFill/>
          <a:ln/>
        </p:spPr>
        <p:txBody>
          <a:bodyPr wrap="square" rtlCol="0" anchor="ctr"/>
          <a:lstStyle/>
          <a:p>
            <a:pPr indent="0" marL="0">
              <a:buNone/>
            </a:pPr>
            <a:r>
              <a:rPr lang="en-US" sz="1400" b="1" i="1" dirty="0">
                <a:solidFill>
                  <a:srgbClr val="1B2A4A"/>
                </a:solidFill>
                <a:latin typeface="Calibri" pitchFamily="34" charset="0"/>
                <a:ea typeface="Calibri" pitchFamily="34" charset="-122"/>
                <a:cs typeface="Calibri" pitchFamily="34" charset="-120"/>
              </a:rPr>
              <a:t>AI drafts. The watchman decides.</a:t>
            </a:r>
            <a:endParaRPr lang="en-US" sz="1400" dirty="0"/>
          </a:p>
        </p:txBody>
      </p:sp>
      <p:sp>
        <p:nvSpPr>
          <p:cNvPr id="10" name="Shape 8"/>
          <p:cNvSpPr/>
          <p:nvPr/>
        </p:nvSpPr>
        <p:spPr>
          <a:xfrm>
            <a:off x="6217920" y="3291840"/>
            <a:ext cx="5394960" cy="3017520"/>
          </a:xfrm>
          <a:prstGeom prst="rect">
            <a:avLst/>
          </a:prstGeom>
          <a:solidFill>
            <a:srgbClr val="5A7A6B"/>
          </a:solidFill>
          <a:ln w="12700">
            <a:solidFill>
              <a:srgbClr val="5A7A6B"/>
            </a:solidFill>
            <a:prstDash val="solid"/>
          </a:ln>
        </p:spPr>
      </p:sp>
      <p:sp>
        <p:nvSpPr>
          <p:cNvPr id="11" name="Text 9"/>
          <p:cNvSpPr/>
          <p:nvPr/>
        </p:nvSpPr>
        <p:spPr>
          <a:xfrm>
            <a:off x="6446520" y="3520440"/>
            <a:ext cx="5029200" cy="274320"/>
          </a:xfrm>
          <a:prstGeom prst="rect">
            <a:avLst/>
          </a:prstGeom>
          <a:noFill/>
          <a:ln/>
        </p:spPr>
        <p:txBody>
          <a:bodyPr wrap="square" rtlCol="0" anchor="ctr"/>
          <a:lstStyle/>
          <a:p>
            <a:pPr indent="0" marL="0">
              <a:buNone/>
            </a:pPr>
            <a:r>
              <a:rPr lang="en-US" sz="1100" b="1" spc="300" kern="0" dirty="0">
                <a:solidFill>
                  <a:srgbClr val="FFFFFF"/>
                </a:solidFill>
                <a:latin typeface="Calibri" pitchFamily="34" charset="0"/>
                <a:ea typeface="Calibri" pitchFamily="34" charset="-122"/>
                <a:cs typeface="Calibri" pitchFamily="34" charset="-120"/>
              </a:rPr>
              <a:t>SCRIPTURE ANCHOR</a:t>
            </a:r>
            <a:endParaRPr lang="en-US" sz="1100" dirty="0"/>
          </a:p>
        </p:txBody>
      </p:sp>
      <p:sp>
        <p:nvSpPr>
          <p:cNvPr id="12" name="Text 10"/>
          <p:cNvSpPr/>
          <p:nvPr/>
        </p:nvSpPr>
        <p:spPr>
          <a:xfrm>
            <a:off x="6446520" y="3840480"/>
            <a:ext cx="5029200" cy="502920"/>
          </a:xfrm>
          <a:prstGeom prst="rect">
            <a:avLst/>
          </a:prstGeom>
          <a:noFill/>
          <a:ln/>
        </p:spPr>
        <p:txBody>
          <a:bodyPr wrap="square"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Week 11 · Sovereign Stack</a:t>
            </a:r>
            <a:endParaRPr lang="en-US" sz="2000" dirty="0"/>
          </a:p>
        </p:txBody>
      </p:sp>
      <p:sp>
        <p:nvSpPr>
          <p:cNvPr id="13" name="Text 11"/>
          <p:cNvSpPr/>
          <p:nvPr/>
        </p:nvSpPr>
        <p:spPr>
          <a:xfrm>
            <a:off x="6446520" y="4434840"/>
            <a:ext cx="5029200" cy="548640"/>
          </a:xfrm>
          <a:prstGeom prst="rect">
            <a:avLst/>
          </a:prstGeom>
          <a:noFill/>
          <a:ln/>
        </p:spPr>
        <p:txBody>
          <a:bodyPr wrap="square" rtlCol="0" anchor="ctr"/>
          <a:lstStyle/>
          <a:p>
            <a:pPr indent="0" marL="0">
              <a:buNone/>
            </a:pPr>
            <a:r>
              <a:rPr lang="en-US" sz="1800" i="1" dirty="0">
                <a:solidFill>
                  <a:srgbClr val="FFFFFF"/>
                </a:solidFill>
                <a:latin typeface="Calibri" pitchFamily="34" charset="0"/>
                <a:ea typeface="Calibri" pitchFamily="34" charset="-122"/>
                <a:cs typeface="Calibri" pitchFamily="34" charset="-120"/>
              </a:rPr>
              <a:t>Proverbs 22:3</a:t>
            </a:r>
            <a:endParaRPr lang="en-US" sz="1800" dirty="0"/>
          </a:p>
        </p:txBody>
      </p:sp>
      <p:sp>
        <p:nvSpPr>
          <p:cNvPr id="14" name="Text 12"/>
          <p:cNvSpPr/>
          <p:nvPr/>
        </p:nvSpPr>
        <p:spPr>
          <a:xfrm>
            <a:off x="6446520" y="5669280"/>
            <a:ext cx="5029200" cy="365760"/>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Read aloud at the open and the close.</a:t>
            </a:r>
            <a:endParaRPr lang="en-US" sz="1300" dirty="0"/>
          </a:p>
        </p:txBody>
      </p:sp>
      <p:sp>
        <p:nvSpPr>
          <p:cNvPr id="15" name="Text 13"/>
          <p:cNvSpPr/>
          <p:nvPr/>
        </p:nvSpPr>
        <p:spPr>
          <a:xfrm>
            <a:off x="548640" y="6492240"/>
            <a:ext cx="7315200" cy="274320"/>
          </a:xfrm>
          <a:prstGeom prst="rect">
            <a:avLst/>
          </a:prstGeom>
          <a:noFill/>
          <a:ln/>
        </p:spPr>
        <p:txBody>
          <a:bodyPr wrap="square" rtlCol="0" anchor="ctr"/>
          <a:lstStyle/>
          <a:p>
            <a:pPr indent="0" marL="0">
              <a:buNone/>
            </a:pPr>
            <a:r>
              <a:rPr lang="en-US" sz="1000" i="1" dirty="0">
                <a:solidFill>
                  <a:srgbClr val="5B6470"/>
                </a:solidFill>
                <a:latin typeface="Calibri" pitchFamily="34" charset="0"/>
                <a:ea typeface="Calibri" pitchFamily="34" charset="-122"/>
                <a:cs typeface="Calibri" pitchFamily="34" charset="-120"/>
              </a:rPr>
              <a:t>Week 11 · Sovereign Stack · Task 1</a:t>
            </a:r>
            <a:endParaRPr lang="en-US" sz="10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0972800" cy="365760"/>
          </a:xfrm>
          <a:prstGeom prst="rect">
            <a:avLst/>
          </a:prstGeom>
          <a:noFill/>
          <a:ln/>
        </p:spPr>
        <p:txBody>
          <a:bodyPr wrap="square" rtlCol="0" anchor="ctr"/>
          <a:lstStyle/>
          <a:p>
            <a:pPr indent="0" marL="0">
              <a:buNone/>
            </a:pPr>
            <a:r>
              <a:rPr lang="en-US" sz="1100" b="1" spc="400" kern="0" dirty="0">
                <a:solidFill>
                  <a:srgbClr val="5A7A6B"/>
                </a:solidFill>
                <a:latin typeface="Calibri" pitchFamily="34" charset="0"/>
                <a:ea typeface="Calibri" pitchFamily="34" charset="-122"/>
                <a:cs typeface="Calibri" pitchFamily="34" charset="-120"/>
              </a:rPr>
              <a:t>WEEK 11 · TASK 2 · WEDNESDAY</a:t>
            </a:r>
            <a:endParaRPr lang="en-US" sz="1100" dirty="0"/>
          </a:p>
        </p:txBody>
      </p:sp>
      <p:sp>
        <p:nvSpPr>
          <p:cNvPr id="3" name="Text 1"/>
          <p:cNvSpPr/>
          <p:nvPr/>
        </p:nvSpPr>
        <p:spPr>
          <a:xfrm>
            <a:off x="548640" y="822960"/>
            <a:ext cx="11155680" cy="1280160"/>
          </a:xfrm>
          <a:prstGeom prst="rect">
            <a:avLst/>
          </a:prstGeom>
          <a:noFill/>
          <a:ln/>
        </p:spPr>
        <p:txBody>
          <a:bodyPr wrap="square" rtlCol="0" anchor="t"/>
          <a:lstStyle/>
          <a:p>
            <a:pPr indent="0" marL="0">
              <a:buNone/>
            </a:pPr>
            <a:r>
              <a:rPr lang="en-US" sz="3600" b="1" dirty="0">
                <a:solidFill>
                  <a:srgbClr val="1B2A4A"/>
                </a:solidFill>
                <a:latin typeface="Calibri" pitchFamily="34" charset="0"/>
                <a:ea typeface="Calibri" pitchFamily="34" charset="-122"/>
                <a:cs typeface="Calibri" pitchFamily="34" charset="-120"/>
              </a:rPr>
              <a:t>Define Your Watchman's Redlines</a:t>
            </a:r>
            <a:endParaRPr lang="en-US" sz="3600" dirty="0"/>
          </a:p>
        </p:txBody>
      </p:sp>
      <p:sp>
        <p:nvSpPr>
          <p:cNvPr id="4" name="Text 2"/>
          <p:cNvSpPr/>
          <p:nvPr/>
        </p:nvSpPr>
        <p:spPr>
          <a:xfrm>
            <a:off x="548640" y="2103120"/>
            <a:ext cx="10972800" cy="731520"/>
          </a:xfrm>
          <a:prstGeom prst="rect">
            <a:avLst/>
          </a:prstGeom>
          <a:noFill/>
          <a:ln/>
        </p:spPr>
        <p:txBody>
          <a:bodyPr wrap="square" rtlCol="0" anchor="ctr"/>
          <a:lstStyle/>
          <a:p>
            <a:pPr indent="0" marL="0">
              <a:buNone/>
            </a:pPr>
            <a:r>
              <a:rPr lang="en-US" sz="1900" i="1" dirty="0">
                <a:solidFill>
                  <a:srgbClr val="5B6470"/>
                </a:solidFill>
                <a:latin typeface="Calibri" pitchFamily="34" charset="0"/>
                <a:ea typeface="Calibri" pitchFamily="34" charset="-122"/>
                <a:cs typeface="Calibri" pitchFamily="34" charset="-120"/>
              </a:rPr>
              <a:t>Five categories that never leave your machine. Make it architectural.</a:t>
            </a:r>
            <a:endParaRPr lang="en-US" sz="1900" dirty="0"/>
          </a:p>
        </p:txBody>
      </p:sp>
      <p:sp>
        <p:nvSpPr>
          <p:cNvPr id="5" name="Shape 3"/>
          <p:cNvSpPr/>
          <p:nvPr/>
        </p:nvSpPr>
        <p:spPr>
          <a:xfrm>
            <a:off x="548640" y="3291840"/>
            <a:ext cx="5486400" cy="3017520"/>
          </a:xfrm>
          <a:prstGeom prst="rect">
            <a:avLst/>
          </a:prstGeom>
          <a:solidFill>
            <a:srgbClr val="F4F1EA"/>
          </a:solidFill>
          <a:ln w="12700">
            <a:solidFill>
              <a:srgbClr val="D8DCE2"/>
            </a:solidFill>
            <a:prstDash val="solid"/>
          </a:ln>
        </p:spPr>
      </p:sp>
      <p:sp>
        <p:nvSpPr>
          <p:cNvPr id="6" name="Shape 4"/>
          <p:cNvSpPr/>
          <p:nvPr/>
        </p:nvSpPr>
        <p:spPr>
          <a:xfrm>
            <a:off x="548640" y="3291840"/>
            <a:ext cx="73152" cy="3017520"/>
          </a:xfrm>
          <a:prstGeom prst="rect">
            <a:avLst/>
          </a:prstGeom>
          <a:solidFill>
            <a:srgbClr val="1B2A4A"/>
          </a:solidFill>
          <a:ln w="12700">
            <a:solidFill>
              <a:srgbClr val="1B2A4A"/>
            </a:solidFill>
            <a:prstDash val="solid"/>
          </a:ln>
        </p:spPr>
      </p:sp>
      <p:sp>
        <p:nvSpPr>
          <p:cNvPr id="7" name="Text 5"/>
          <p:cNvSpPr/>
          <p:nvPr/>
        </p:nvSpPr>
        <p:spPr>
          <a:xfrm>
            <a:off x="777240" y="3474720"/>
            <a:ext cx="5029200" cy="274320"/>
          </a:xfrm>
          <a:prstGeom prst="rect">
            <a:avLst/>
          </a:prstGeom>
          <a:noFill/>
          <a:ln/>
        </p:spPr>
        <p:txBody>
          <a:bodyPr wrap="square" rtlCol="0" anchor="ctr"/>
          <a:lstStyle/>
          <a:p>
            <a:pPr indent="0" marL="0">
              <a:buNone/>
            </a:pPr>
            <a:r>
              <a:rPr lang="en-US" sz="1100" b="1" spc="300" kern="0" dirty="0">
                <a:solidFill>
                  <a:srgbClr val="CE8E31"/>
                </a:solidFill>
                <a:latin typeface="Calibri" pitchFamily="34" charset="0"/>
                <a:ea typeface="Calibri" pitchFamily="34" charset="-122"/>
                <a:cs typeface="Calibri" pitchFamily="34" charset="-120"/>
              </a:rPr>
              <a:t>THE ACTION</a:t>
            </a:r>
            <a:endParaRPr lang="en-US" sz="1100" dirty="0"/>
          </a:p>
        </p:txBody>
      </p:sp>
      <p:sp>
        <p:nvSpPr>
          <p:cNvPr id="8" name="Text 6"/>
          <p:cNvSpPr/>
          <p:nvPr/>
        </p:nvSpPr>
        <p:spPr>
          <a:xfrm>
            <a:off x="777240" y="3794760"/>
            <a:ext cx="5029200" cy="1463040"/>
          </a:xfrm>
          <a:prstGeom prst="rect">
            <a:avLst/>
          </a:prstGeom>
          <a:noFill/>
          <a:ln/>
        </p:spPr>
        <p:txBody>
          <a:bodyPr wrap="square" rtlCol="0" anchor="ctr"/>
          <a:lstStyle/>
          <a:p>
            <a:pPr indent="0" marL="0">
              <a:buNone/>
            </a:pPr>
            <a:r>
              <a:rPr lang="en-US" sz="1600" dirty="0">
                <a:solidFill>
                  <a:srgbClr val="22272E"/>
                </a:solidFill>
                <a:latin typeface="Calibri" pitchFamily="34" charset="0"/>
                <a:ea typeface="Calibri" pitchFamily="34" charset="-122"/>
                <a:cs typeface="Calibri" pitchFamily="34" charset="-120"/>
              </a:rPr>
              <a:t>20–30 minutes. Open the task card. Run the checklist. Ship the artifact. React ✓ in the cohort channel.</a:t>
            </a:r>
            <a:endParaRPr lang="en-US" sz="1600" dirty="0"/>
          </a:p>
        </p:txBody>
      </p:sp>
      <p:sp>
        <p:nvSpPr>
          <p:cNvPr id="9" name="Text 7"/>
          <p:cNvSpPr/>
          <p:nvPr/>
        </p:nvSpPr>
        <p:spPr>
          <a:xfrm>
            <a:off x="777240" y="5669280"/>
            <a:ext cx="5029200" cy="457200"/>
          </a:xfrm>
          <a:prstGeom prst="rect">
            <a:avLst/>
          </a:prstGeom>
          <a:noFill/>
          <a:ln/>
        </p:spPr>
        <p:txBody>
          <a:bodyPr wrap="square" rtlCol="0" anchor="ctr"/>
          <a:lstStyle/>
          <a:p>
            <a:pPr indent="0" marL="0">
              <a:buNone/>
            </a:pPr>
            <a:r>
              <a:rPr lang="en-US" sz="1400" b="1" i="1" dirty="0">
                <a:solidFill>
                  <a:srgbClr val="1B2A4A"/>
                </a:solidFill>
                <a:latin typeface="Calibri" pitchFamily="34" charset="0"/>
                <a:ea typeface="Calibri" pitchFamily="34" charset="-122"/>
                <a:cs typeface="Calibri" pitchFamily="34" charset="-120"/>
              </a:rPr>
              <a:t>AI drafts. The watchman decides.</a:t>
            </a:r>
            <a:endParaRPr lang="en-US" sz="1400" dirty="0"/>
          </a:p>
        </p:txBody>
      </p:sp>
      <p:sp>
        <p:nvSpPr>
          <p:cNvPr id="10" name="Shape 8"/>
          <p:cNvSpPr/>
          <p:nvPr/>
        </p:nvSpPr>
        <p:spPr>
          <a:xfrm>
            <a:off x="6217920" y="3291840"/>
            <a:ext cx="5394960" cy="3017520"/>
          </a:xfrm>
          <a:prstGeom prst="rect">
            <a:avLst/>
          </a:prstGeom>
          <a:solidFill>
            <a:srgbClr val="5A7A6B"/>
          </a:solidFill>
          <a:ln w="12700">
            <a:solidFill>
              <a:srgbClr val="5A7A6B"/>
            </a:solidFill>
            <a:prstDash val="solid"/>
          </a:ln>
        </p:spPr>
      </p:sp>
      <p:sp>
        <p:nvSpPr>
          <p:cNvPr id="11" name="Text 9"/>
          <p:cNvSpPr/>
          <p:nvPr/>
        </p:nvSpPr>
        <p:spPr>
          <a:xfrm>
            <a:off x="6446520" y="3520440"/>
            <a:ext cx="5029200" cy="274320"/>
          </a:xfrm>
          <a:prstGeom prst="rect">
            <a:avLst/>
          </a:prstGeom>
          <a:noFill/>
          <a:ln/>
        </p:spPr>
        <p:txBody>
          <a:bodyPr wrap="square" rtlCol="0" anchor="ctr"/>
          <a:lstStyle/>
          <a:p>
            <a:pPr indent="0" marL="0">
              <a:buNone/>
            </a:pPr>
            <a:r>
              <a:rPr lang="en-US" sz="1100" b="1" spc="300" kern="0" dirty="0">
                <a:solidFill>
                  <a:srgbClr val="FFFFFF"/>
                </a:solidFill>
                <a:latin typeface="Calibri" pitchFamily="34" charset="0"/>
                <a:ea typeface="Calibri" pitchFamily="34" charset="-122"/>
                <a:cs typeface="Calibri" pitchFamily="34" charset="-120"/>
              </a:rPr>
              <a:t>SCRIPTURE ANCHOR</a:t>
            </a:r>
            <a:endParaRPr lang="en-US" sz="1100" dirty="0"/>
          </a:p>
        </p:txBody>
      </p:sp>
      <p:sp>
        <p:nvSpPr>
          <p:cNvPr id="12" name="Text 10"/>
          <p:cNvSpPr/>
          <p:nvPr/>
        </p:nvSpPr>
        <p:spPr>
          <a:xfrm>
            <a:off x="6446520" y="3840480"/>
            <a:ext cx="5029200" cy="502920"/>
          </a:xfrm>
          <a:prstGeom prst="rect">
            <a:avLst/>
          </a:prstGeom>
          <a:noFill/>
          <a:ln/>
        </p:spPr>
        <p:txBody>
          <a:bodyPr wrap="square"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Week 11 · Sovereign Stack</a:t>
            </a:r>
            <a:endParaRPr lang="en-US" sz="2000" dirty="0"/>
          </a:p>
        </p:txBody>
      </p:sp>
      <p:sp>
        <p:nvSpPr>
          <p:cNvPr id="13" name="Text 11"/>
          <p:cNvSpPr/>
          <p:nvPr/>
        </p:nvSpPr>
        <p:spPr>
          <a:xfrm>
            <a:off x="6446520" y="4434840"/>
            <a:ext cx="5029200" cy="548640"/>
          </a:xfrm>
          <a:prstGeom prst="rect">
            <a:avLst/>
          </a:prstGeom>
          <a:noFill/>
          <a:ln/>
        </p:spPr>
        <p:txBody>
          <a:bodyPr wrap="square" rtlCol="0" anchor="ctr"/>
          <a:lstStyle/>
          <a:p>
            <a:pPr indent="0" marL="0">
              <a:buNone/>
            </a:pPr>
            <a:r>
              <a:rPr lang="en-US" sz="1800" i="1" dirty="0">
                <a:solidFill>
                  <a:srgbClr val="FFFFFF"/>
                </a:solidFill>
                <a:latin typeface="Calibri" pitchFamily="34" charset="0"/>
                <a:ea typeface="Calibri" pitchFamily="34" charset="-122"/>
                <a:cs typeface="Calibri" pitchFamily="34" charset="-120"/>
              </a:rPr>
              <a:t>Proverbs 22:3</a:t>
            </a:r>
            <a:endParaRPr lang="en-US" sz="1800" dirty="0"/>
          </a:p>
        </p:txBody>
      </p:sp>
      <p:sp>
        <p:nvSpPr>
          <p:cNvPr id="14" name="Text 12"/>
          <p:cNvSpPr/>
          <p:nvPr/>
        </p:nvSpPr>
        <p:spPr>
          <a:xfrm>
            <a:off x="6446520" y="5669280"/>
            <a:ext cx="5029200" cy="365760"/>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Read aloud at the open and the close.</a:t>
            </a:r>
            <a:endParaRPr lang="en-US" sz="1300" dirty="0"/>
          </a:p>
        </p:txBody>
      </p:sp>
      <p:sp>
        <p:nvSpPr>
          <p:cNvPr id="15" name="Text 13"/>
          <p:cNvSpPr/>
          <p:nvPr/>
        </p:nvSpPr>
        <p:spPr>
          <a:xfrm>
            <a:off x="548640" y="6492240"/>
            <a:ext cx="7315200" cy="274320"/>
          </a:xfrm>
          <a:prstGeom prst="rect">
            <a:avLst/>
          </a:prstGeom>
          <a:noFill/>
          <a:ln/>
        </p:spPr>
        <p:txBody>
          <a:bodyPr wrap="square" rtlCol="0" anchor="ctr"/>
          <a:lstStyle/>
          <a:p>
            <a:pPr indent="0" marL="0">
              <a:buNone/>
            </a:pPr>
            <a:r>
              <a:rPr lang="en-US" sz="1000" i="1" dirty="0">
                <a:solidFill>
                  <a:srgbClr val="5B6470"/>
                </a:solidFill>
                <a:latin typeface="Calibri" pitchFamily="34" charset="0"/>
                <a:ea typeface="Calibri" pitchFamily="34" charset="-122"/>
                <a:cs typeface="Calibri" pitchFamily="34" charset="-120"/>
              </a:rPr>
              <a:t>Week 11 · Sovereign Stack · Task 2</a:t>
            </a:r>
            <a:endParaRPr lang="en-US" sz="10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0972800" cy="365760"/>
          </a:xfrm>
          <a:prstGeom prst="rect">
            <a:avLst/>
          </a:prstGeom>
          <a:noFill/>
          <a:ln/>
        </p:spPr>
        <p:txBody>
          <a:bodyPr wrap="square" rtlCol="0" anchor="ctr"/>
          <a:lstStyle/>
          <a:p>
            <a:pPr indent="0" marL="0">
              <a:buNone/>
            </a:pPr>
            <a:r>
              <a:rPr lang="en-US" sz="1100" b="1" spc="400" kern="0" dirty="0">
                <a:solidFill>
                  <a:srgbClr val="5A7A6B"/>
                </a:solidFill>
                <a:latin typeface="Calibri" pitchFamily="34" charset="0"/>
                <a:ea typeface="Calibri" pitchFamily="34" charset="-122"/>
                <a:cs typeface="Calibri" pitchFamily="34" charset="-120"/>
              </a:rPr>
              <a:t>WEEK 11 · TASK 3 · FRIDAY</a:t>
            </a:r>
            <a:endParaRPr lang="en-US" sz="1100" dirty="0"/>
          </a:p>
        </p:txBody>
      </p:sp>
      <p:sp>
        <p:nvSpPr>
          <p:cNvPr id="3" name="Text 1"/>
          <p:cNvSpPr/>
          <p:nvPr/>
        </p:nvSpPr>
        <p:spPr>
          <a:xfrm>
            <a:off x="548640" y="822960"/>
            <a:ext cx="11155680" cy="1280160"/>
          </a:xfrm>
          <a:prstGeom prst="rect">
            <a:avLst/>
          </a:prstGeom>
          <a:noFill/>
          <a:ln/>
        </p:spPr>
        <p:txBody>
          <a:bodyPr wrap="square" rtlCol="0" anchor="t"/>
          <a:lstStyle/>
          <a:p>
            <a:pPr indent="0" marL="0">
              <a:buNone/>
            </a:pPr>
            <a:r>
              <a:rPr lang="en-US" sz="3600" b="1" dirty="0">
                <a:solidFill>
                  <a:srgbClr val="1B2A4A"/>
                </a:solidFill>
                <a:latin typeface="Calibri" pitchFamily="34" charset="0"/>
                <a:ea typeface="Calibri" pitchFamily="34" charset="-122"/>
                <a:cs typeface="Calibri" pitchFamily="34" charset="-120"/>
              </a:rPr>
              <a:t>MCP Server Setup</a:t>
            </a:r>
            <a:endParaRPr lang="en-US" sz="3600" dirty="0"/>
          </a:p>
        </p:txBody>
      </p:sp>
      <p:sp>
        <p:nvSpPr>
          <p:cNvPr id="4" name="Text 2"/>
          <p:cNvSpPr/>
          <p:nvPr/>
        </p:nvSpPr>
        <p:spPr>
          <a:xfrm>
            <a:off x="548640" y="2103120"/>
            <a:ext cx="10972800" cy="731520"/>
          </a:xfrm>
          <a:prstGeom prst="rect">
            <a:avLst/>
          </a:prstGeom>
          <a:noFill/>
          <a:ln/>
        </p:spPr>
        <p:txBody>
          <a:bodyPr wrap="square" rtlCol="0" anchor="ctr"/>
          <a:lstStyle/>
          <a:p>
            <a:pPr indent="0" marL="0">
              <a:buNone/>
            </a:pPr>
            <a:r>
              <a:rPr lang="en-US" sz="1900" i="1" dirty="0">
                <a:solidFill>
                  <a:srgbClr val="5B6470"/>
                </a:solidFill>
                <a:latin typeface="Calibri" pitchFamily="34" charset="0"/>
                <a:ea typeface="Calibri" pitchFamily="34" charset="-122"/>
                <a:cs typeface="Calibri" pitchFamily="34" charset="-120"/>
              </a:rPr>
              <a:t>Wire one local server. Validate it sees only what you scoped.</a:t>
            </a:r>
            <a:endParaRPr lang="en-US" sz="1900" dirty="0"/>
          </a:p>
        </p:txBody>
      </p:sp>
      <p:sp>
        <p:nvSpPr>
          <p:cNvPr id="5" name="Shape 3"/>
          <p:cNvSpPr/>
          <p:nvPr/>
        </p:nvSpPr>
        <p:spPr>
          <a:xfrm>
            <a:off x="548640" y="3291840"/>
            <a:ext cx="5486400" cy="3017520"/>
          </a:xfrm>
          <a:prstGeom prst="rect">
            <a:avLst/>
          </a:prstGeom>
          <a:solidFill>
            <a:srgbClr val="F4F1EA"/>
          </a:solidFill>
          <a:ln w="12700">
            <a:solidFill>
              <a:srgbClr val="D8DCE2"/>
            </a:solidFill>
            <a:prstDash val="solid"/>
          </a:ln>
        </p:spPr>
      </p:sp>
      <p:sp>
        <p:nvSpPr>
          <p:cNvPr id="6" name="Shape 4"/>
          <p:cNvSpPr/>
          <p:nvPr/>
        </p:nvSpPr>
        <p:spPr>
          <a:xfrm>
            <a:off x="548640" y="3291840"/>
            <a:ext cx="73152" cy="3017520"/>
          </a:xfrm>
          <a:prstGeom prst="rect">
            <a:avLst/>
          </a:prstGeom>
          <a:solidFill>
            <a:srgbClr val="1B2A4A"/>
          </a:solidFill>
          <a:ln w="12700">
            <a:solidFill>
              <a:srgbClr val="1B2A4A"/>
            </a:solidFill>
            <a:prstDash val="solid"/>
          </a:ln>
        </p:spPr>
      </p:sp>
      <p:sp>
        <p:nvSpPr>
          <p:cNvPr id="7" name="Text 5"/>
          <p:cNvSpPr/>
          <p:nvPr/>
        </p:nvSpPr>
        <p:spPr>
          <a:xfrm>
            <a:off x="777240" y="3474720"/>
            <a:ext cx="5029200" cy="274320"/>
          </a:xfrm>
          <a:prstGeom prst="rect">
            <a:avLst/>
          </a:prstGeom>
          <a:noFill/>
          <a:ln/>
        </p:spPr>
        <p:txBody>
          <a:bodyPr wrap="square" rtlCol="0" anchor="ctr"/>
          <a:lstStyle/>
          <a:p>
            <a:pPr indent="0" marL="0">
              <a:buNone/>
            </a:pPr>
            <a:r>
              <a:rPr lang="en-US" sz="1100" b="1" spc="300" kern="0" dirty="0">
                <a:solidFill>
                  <a:srgbClr val="CE8E31"/>
                </a:solidFill>
                <a:latin typeface="Calibri" pitchFamily="34" charset="0"/>
                <a:ea typeface="Calibri" pitchFamily="34" charset="-122"/>
                <a:cs typeface="Calibri" pitchFamily="34" charset="-120"/>
              </a:rPr>
              <a:t>THE ACTION</a:t>
            </a:r>
            <a:endParaRPr lang="en-US" sz="1100" dirty="0"/>
          </a:p>
        </p:txBody>
      </p:sp>
      <p:sp>
        <p:nvSpPr>
          <p:cNvPr id="8" name="Text 6"/>
          <p:cNvSpPr/>
          <p:nvPr/>
        </p:nvSpPr>
        <p:spPr>
          <a:xfrm>
            <a:off x="777240" y="3794760"/>
            <a:ext cx="5029200" cy="1463040"/>
          </a:xfrm>
          <a:prstGeom prst="rect">
            <a:avLst/>
          </a:prstGeom>
          <a:noFill/>
          <a:ln/>
        </p:spPr>
        <p:txBody>
          <a:bodyPr wrap="square" rtlCol="0" anchor="ctr"/>
          <a:lstStyle/>
          <a:p>
            <a:pPr indent="0" marL="0">
              <a:buNone/>
            </a:pPr>
            <a:r>
              <a:rPr lang="en-US" sz="1600" dirty="0">
                <a:solidFill>
                  <a:srgbClr val="22272E"/>
                </a:solidFill>
                <a:latin typeface="Calibri" pitchFamily="34" charset="0"/>
                <a:ea typeface="Calibri" pitchFamily="34" charset="-122"/>
                <a:cs typeface="Calibri" pitchFamily="34" charset="-120"/>
              </a:rPr>
              <a:t>20–30 minutes. Open the task card. Run the checklist. Ship the artifact. React ✓ in the cohort channel.</a:t>
            </a:r>
            <a:endParaRPr lang="en-US" sz="1600" dirty="0"/>
          </a:p>
        </p:txBody>
      </p:sp>
      <p:sp>
        <p:nvSpPr>
          <p:cNvPr id="9" name="Text 7"/>
          <p:cNvSpPr/>
          <p:nvPr/>
        </p:nvSpPr>
        <p:spPr>
          <a:xfrm>
            <a:off x="777240" y="5669280"/>
            <a:ext cx="5029200" cy="457200"/>
          </a:xfrm>
          <a:prstGeom prst="rect">
            <a:avLst/>
          </a:prstGeom>
          <a:noFill/>
          <a:ln/>
        </p:spPr>
        <p:txBody>
          <a:bodyPr wrap="square" rtlCol="0" anchor="ctr"/>
          <a:lstStyle/>
          <a:p>
            <a:pPr indent="0" marL="0">
              <a:buNone/>
            </a:pPr>
            <a:r>
              <a:rPr lang="en-US" sz="1400" b="1" i="1" dirty="0">
                <a:solidFill>
                  <a:srgbClr val="1B2A4A"/>
                </a:solidFill>
                <a:latin typeface="Calibri" pitchFamily="34" charset="0"/>
                <a:ea typeface="Calibri" pitchFamily="34" charset="-122"/>
                <a:cs typeface="Calibri" pitchFamily="34" charset="-120"/>
              </a:rPr>
              <a:t>AI drafts. The watchman decides.</a:t>
            </a:r>
            <a:endParaRPr lang="en-US" sz="1400" dirty="0"/>
          </a:p>
        </p:txBody>
      </p:sp>
      <p:sp>
        <p:nvSpPr>
          <p:cNvPr id="10" name="Shape 8"/>
          <p:cNvSpPr/>
          <p:nvPr/>
        </p:nvSpPr>
        <p:spPr>
          <a:xfrm>
            <a:off x="6217920" y="3291840"/>
            <a:ext cx="5394960" cy="3017520"/>
          </a:xfrm>
          <a:prstGeom prst="rect">
            <a:avLst/>
          </a:prstGeom>
          <a:solidFill>
            <a:srgbClr val="5A7A6B"/>
          </a:solidFill>
          <a:ln w="12700">
            <a:solidFill>
              <a:srgbClr val="5A7A6B"/>
            </a:solidFill>
            <a:prstDash val="solid"/>
          </a:ln>
        </p:spPr>
      </p:sp>
      <p:sp>
        <p:nvSpPr>
          <p:cNvPr id="11" name="Text 9"/>
          <p:cNvSpPr/>
          <p:nvPr/>
        </p:nvSpPr>
        <p:spPr>
          <a:xfrm>
            <a:off x="6446520" y="3520440"/>
            <a:ext cx="5029200" cy="274320"/>
          </a:xfrm>
          <a:prstGeom prst="rect">
            <a:avLst/>
          </a:prstGeom>
          <a:noFill/>
          <a:ln/>
        </p:spPr>
        <p:txBody>
          <a:bodyPr wrap="square" rtlCol="0" anchor="ctr"/>
          <a:lstStyle/>
          <a:p>
            <a:pPr indent="0" marL="0">
              <a:buNone/>
            </a:pPr>
            <a:r>
              <a:rPr lang="en-US" sz="1100" b="1" spc="300" kern="0" dirty="0">
                <a:solidFill>
                  <a:srgbClr val="FFFFFF"/>
                </a:solidFill>
                <a:latin typeface="Calibri" pitchFamily="34" charset="0"/>
                <a:ea typeface="Calibri" pitchFamily="34" charset="-122"/>
                <a:cs typeface="Calibri" pitchFamily="34" charset="-120"/>
              </a:rPr>
              <a:t>SCRIPTURE ANCHOR</a:t>
            </a:r>
            <a:endParaRPr lang="en-US" sz="1100" dirty="0"/>
          </a:p>
        </p:txBody>
      </p:sp>
      <p:sp>
        <p:nvSpPr>
          <p:cNvPr id="12" name="Text 10"/>
          <p:cNvSpPr/>
          <p:nvPr/>
        </p:nvSpPr>
        <p:spPr>
          <a:xfrm>
            <a:off x="6446520" y="3840480"/>
            <a:ext cx="5029200" cy="502920"/>
          </a:xfrm>
          <a:prstGeom prst="rect">
            <a:avLst/>
          </a:prstGeom>
          <a:noFill/>
          <a:ln/>
        </p:spPr>
        <p:txBody>
          <a:bodyPr wrap="square"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Week 11 · Sovereign Stack</a:t>
            </a:r>
            <a:endParaRPr lang="en-US" sz="2000" dirty="0"/>
          </a:p>
        </p:txBody>
      </p:sp>
      <p:sp>
        <p:nvSpPr>
          <p:cNvPr id="13" name="Text 11"/>
          <p:cNvSpPr/>
          <p:nvPr/>
        </p:nvSpPr>
        <p:spPr>
          <a:xfrm>
            <a:off x="6446520" y="4434840"/>
            <a:ext cx="5029200" cy="548640"/>
          </a:xfrm>
          <a:prstGeom prst="rect">
            <a:avLst/>
          </a:prstGeom>
          <a:noFill/>
          <a:ln/>
        </p:spPr>
        <p:txBody>
          <a:bodyPr wrap="square" rtlCol="0" anchor="ctr"/>
          <a:lstStyle/>
          <a:p>
            <a:pPr indent="0" marL="0">
              <a:buNone/>
            </a:pPr>
            <a:r>
              <a:rPr lang="en-US" sz="1800" i="1" dirty="0">
                <a:solidFill>
                  <a:srgbClr val="FFFFFF"/>
                </a:solidFill>
                <a:latin typeface="Calibri" pitchFamily="34" charset="0"/>
                <a:ea typeface="Calibri" pitchFamily="34" charset="-122"/>
                <a:cs typeface="Calibri" pitchFamily="34" charset="-120"/>
              </a:rPr>
              <a:t>Proverbs 22:3</a:t>
            </a:r>
            <a:endParaRPr lang="en-US" sz="1800" dirty="0"/>
          </a:p>
        </p:txBody>
      </p:sp>
      <p:sp>
        <p:nvSpPr>
          <p:cNvPr id="14" name="Text 12"/>
          <p:cNvSpPr/>
          <p:nvPr/>
        </p:nvSpPr>
        <p:spPr>
          <a:xfrm>
            <a:off x="6446520" y="5669280"/>
            <a:ext cx="5029200" cy="365760"/>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Read aloud at the open and the close.</a:t>
            </a:r>
            <a:endParaRPr lang="en-US" sz="1300" dirty="0"/>
          </a:p>
        </p:txBody>
      </p:sp>
      <p:sp>
        <p:nvSpPr>
          <p:cNvPr id="15" name="Text 13"/>
          <p:cNvSpPr/>
          <p:nvPr/>
        </p:nvSpPr>
        <p:spPr>
          <a:xfrm>
            <a:off x="548640" y="6492240"/>
            <a:ext cx="7315200" cy="274320"/>
          </a:xfrm>
          <a:prstGeom prst="rect">
            <a:avLst/>
          </a:prstGeom>
          <a:noFill/>
          <a:ln/>
        </p:spPr>
        <p:txBody>
          <a:bodyPr wrap="square" rtlCol="0" anchor="ctr"/>
          <a:lstStyle/>
          <a:p>
            <a:pPr indent="0" marL="0">
              <a:buNone/>
            </a:pPr>
            <a:r>
              <a:rPr lang="en-US" sz="1000" i="1" dirty="0">
                <a:solidFill>
                  <a:srgbClr val="5B6470"/>
                </a:solidFill>
                <a:latin typeface="Calibri" pitchFamily="34" charset="0"/>
                <a:ea typeface="Calibri" pitchFamily="34" charset="-122"/>
                <a:cs typeface="Calibri" pitchFamily="34" charset="-120"/>
              </a:rPr>
              <a:t>Week 11 · Sovereign Stack · Task 3</a:t>
            </a:r>
            <a:endParaRPr lang="en-US" sz="10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1B2A4A"/>
        </a:solidFill>
      </p:bgPr>
    </p:bg>
    <p:spTree>
      <p:nvGrpSpPr>
        <p:cNvPr id="1" name=""/>
        <p:cNvGrpSpPr/>
        <p:nvPr/>
      </p:nvGrpSpPr>
      <p:grpSpPr>
        <a:xfrm>
          <a:off x="0" y="0"/>
          <a:ext cx="0" cy="0"/>
          <a:chOff x="0" y="0"/>
          <a:chExt cx="0" cy="0"/>
        </a:xfrm>
      </p:grpSpPr>
      <p:sp>
        <p:nvSpPr>
          <p:cNvPr id="2" name="Text 0"/>
          <p:cNvSpPr/>
          <p:nvPr/>
        </p:nvSpPr>
        <p:spPr>
          <a:xfrm>
            <a:off x="548640" y="1463040"/>
            <a:ext cx="10972800" cy="457200"/>
          </a:xfrm>
          <a:prstGeom prst="rect">
            <a:avLst/>
          </a:prstGeom>
          <a:noFill/>
          <a:ln/>
        </p:spPr>
        <p:txBody>
          <a:bodyPr wrap="square" rtlCol="0" anchor="ctr"/>
          <a:lstStyle/>
          <a:p>
            <a:pPr indent="0" marL="0">
              <a:buNone/>
            </a:pPr>
            <a:r>
              <a:rPr lang="en-US" sz="1400" b="1" spc="500" kern="0" dirty="0">
                <a:solidFill>
                  <a:srgbClr val="B8312F"/>
                </a:solidFill>
                <a:latin typeface="Calibri" pitchFamily="34" charset="0"/>
                <a:ea typeface="Calibri" pitchFamily="34" charset="-122"/>
                <a:cs typeface="Calibri" pitchFamily="34" charset="-120"/>
              </a:rPr>
              <a:t>WEEK 12  ·  BLOCK VI — WATCHMAN'S CHARTER</a:t>
            </a:r>
            <a:endParaRPr lang="en-US" sz="1400" dirty="0"/>
          </a:p>
        </p:txBody>
      </p:sp>
      <p:sp>
        <p:nvSpPr>
          <p:cNvPr id="3" name="Text 1"/>
          <p:cNvSpPr/>
          <p:nvPr/>
        </p:nvSpPr>
        <p:spPr>
          <a:xfrm>
            <a:off x="548640" y="1920240"/>
            <a:ext cx="11338560" cy="1371600"/>
          </a:xfrm>
          <a:prstGeom prst="rect">
            <a:avLst/>
          </a:prstGeom>
          <a:noFill/>
          <a:ln/>
        </p:spPr>
        <p:txBody>
          <a:bodyPr wrap="square" rtlCol="0" anchor="ctr"/>
          <a:lstStyle/>
          <a:p>
            <a:pPr indent="0" marL="0">
              <a:buNone/>
            </a:pPr>
            <a:r>
              <a:rPr lang="en-US" sz="5400" b="1" dirty="0">
                <a:solidFill>
                  <a:srgbClr val="FFFFFF"/>
                </a:solidFill>
                <a:latin typeface="Calibri" pitchFamily="34" charset="0"/>
                <a:ea typeface="Calibri" pitchFamily="34" charset="-122"/>
                <a:cs typeface="Calibri" pitchFamily="34" charset="-120"/>
              </a:rPr>
              <a:t>WATCHMAN'S CHARTER</a:t>
            </a:r>
            <a:endParaRPr lang="en-US" sz="5400" dirty="0"/>
          </a:p>
        </p:txBody>
      </p:sp>
      <p:sp>
        <p:nvSpPr>
          <p:cNvPr id="4" name="Shape 2"/>
          <p:cNvSpPr/>
          <p:nvPr/>
        </p:nvSpPr>
        <p:spPr>
          <a:xfrm>
            <a:off x="548640" y="3383280"/>
            <a:ext cx="1828800" cy="73152"/>
          </a:xfrm>
          <a:prstGeom prst="rect">
            <a:avLst/>
          </a:prstGeom>
          <a:solidFill>
            <a:srgbClr val="B8312F"/>
          </a:solidFill>
          <a:ln w="12700">
            <a:solidFill>
              <a:srgbClr val="B8312F"/>
            </a:solidFill>
            <a:prstDash val="solid"/>
          </a:ln>
        </p:spPr>
      </p:sp>
      <p:sp>
        <p:nvSpPr>
          <p:cNvPr id="5" name="Text 3"/>
          <p:cNvSpPr/>
          <p:nvPr/>
        </p:nvSpPr>
        <p:spPr>
          <a:xfrm>
            <a:off x="548640" y="3566160"/>
            <a:ext cx="10515600" cy="1097280"/>
          </a:xfrm>
          <a:prstGeom prst="rect">
            <a:avLst/>
          </a:prstGeom>
          <a:noFill/>
          <a:ln/>
        </p:spPr>
        <p:txBody>
          <a:bodyPr wrap="square" rtlCol="0" anchor="ctr"/>
          <a:lstStyle/>
          <a:p>
            <a:pPr indent="0" marL="0">
              <a:buNone/>
            </a:pPr>
            <a:r>
              <a:rPr lang="en-US" sz="2200" i="1" dirty="0">
                <a:solidFill>
                  <a:srgbClr val="94A3B8"/>
                </a:solidFill>
                <a:latin typeface="Calibri" pitchFamily="34" charset="0"/>
                <a:ea typeface="Calibri" pitchFamily="34" charset="-122"/>
                <a:cs typeface="Calibri" pitchFamily="34" charset="-120"/>
              </a:rPr>
              <a:t>Synthesize the eleven weeks into one document; teach one person one thing; sign your charter and ship the commissioning log.</a:t>
            </a:r>
            <a:endParaRPr lang="en-US" sz="2200" dirty="0"/>
          </a:p>
        </p:txBody>
      </p:sp>
      <p:sp>
        <p:nvSpPr>
          <p:cNvPr id="6" name="Text 4"/>
          <p:cNvSpPr/>
          <p:nvPr/>
        </p:nvSpPr>
        <p:spPr>
          <a:xfrm>
            <a:off x="548640" y="5029200"/>
            <a:ext cx="10972800" cy="274320"/>
          </a:xfrm>
          <a:prstGeom prst="rect">
            <a:avLst/>
          </a:prstGeom>
          <a:noFill/>
          <a:ln/>
        </p:spPr>
        <p:txBody>
          <a:bodyPr wrap="square" rtlCol="0" anchor="ctr"/>
          <a:lstStyle/>
          <a:p>
            <a:pPr indent="0" marL="0">
              <a:buNone/>
            </a:pPr>
            <a:r>
              <a:rPr lang="en-US" sz="1000" b="1" spc="400" kern="0" dirty="0">
                <a:solidFill>
                  <a:srgbClr val="CE8E31"/>
                </a:solidFill>
                <a:latin typeface="Calibri" pitchFamily="34" charset="0"/>
                <a:ea typeface="Calibri" pitchFamily="34" charset="-122"/>
                <a:cs typeface="Calibri" pitchFamily="34" charset="-120"/>
              </a:rPr>
              <a:t>SCRIPTURE</a:t>
            </a:r>
            <a:endParaRPr lang="en-US" sz="1000" dirty="0"/>
          </a:p>
        </p:txBody>
      </p:sp>
      <p:sp>
        <p:nvSpPr>
          <p:cNvPr id="7" name="Text 5"/>
          <p:cNvSpPr/>
          <p:nvPr/>
        </p:nvSpPr>
        <p:spPr>
          <a:xfrm>
            <a:off x="548640" y="5303520"/>
            <a:ext cx="10972800" cy="457200"/>
          </a:xfrm>
          <a:prstGeom prst="rect">
            <a:avLst/>
          </a:prstGeom>
          <a:noFill/>
          <a:ln/>
        </p:spPr>
        <p:txBody>
          <a:bodyPr wrap="square" rtlCol="0" anchor="ctr"/>
          <a:lstStyle/>
          <a:p>
            <a:pPr indent="0" marL="0">
              <a:buNone/>
            </a:pPr>
            <a:r>
              <a:rPr lang="en-US" sz="2000" dirty="0">
                <a:solidFill>
                  <a:srgbClr val="FFFFFF"/>
                </a:solidFill>
                <a:latin typeface="Calibri" pitchFamily="34" charset="0"/>
                <a:ea typeface="Calibri" pitchFamily="34" charset="-122"/>
                <a:cs typeface="Calibri" pitchFamily="34" charset="-120"/>
              </a:rPr>
              <a:t>Ezekiel 33:7</a:t>
            </a:r>
            <a:endParaRPr lang="en-US" sz="2000" dirty="0"/>
          </a:p>
        </p:txBody>
      </p:sp>
      <p:sp>
        <p:nvSpPr>
          <p:cNvPr id="8" name="Text 6"/>
          <p:cNvSpPr/>
          <p:nvPr/>
        </p:nvSpPr>
        <p:spPr>
          <a:xfrm>
            <a:off x="548640" y="6492240"/>
            <a:ext cx="7315200" cy="274320"/>
          </a:xfrm>
          <a:prstGeom prst="rect">
            <a:avLst/>
          </a:prstGeom>
          <a:noFill/>
          <a:ln/>
        </p:spPr>
        <p:txBody>
          <a:bodyPr wrap="square" rtlCol="0" anchor="ctr"/>
          <a:lstStyle/>
          <a:p>
            <a:pPr indent="0" marL="0">
              <a:buNone/>
            </a:pPr>
            <a:r>
              <a:rPr lang="en-US" sz="1000" i="1" dirty="0">
                <a:solidFill>
                  <a:srgbClr val="5B6470"/>
                </a:solidFill>
                <a:latin typeface="Calibri" pitchFamily="34" charset="0"/>
                <a:ea typeface="Calibri" pitchFamily="34" charset="-122"/>
                <a:cs typeface="Calibri" pitchFamily="34" charset="-120"/>
              </a:rPr>
              <a:t>Week 12 · Watchman's Charter</a:t>
            </a:r>
            <a:endParaRPr lang="en-US" sz="10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0972800" cy="365760"/>
          </a:xfrm>
          <a:prstGeom prst="rect">
            <a:avLst/>
          </a:prstGeom>
          <a:noFill/>
          <a:ln/>
        </p:spPr>
        <p:txBody>
          <a:bodyPr wrap="square" rtlCol="0" anchor="ctr"/>
          <a:lstStyle/>
          <a:p>
            <a:pPr indent="0" marL="0">
              <a:buNone/>
            </a:pPr>
            <a:r>
              <a:rPr lang="en-US" sz="1100" b="1" spc="400" kern="0" dirty="0">
                <a:solidFill>
                  <a:srgbClr val="B8312F"/>
                </a:solidFill>
                <a:latin typeface="Calibri" pitchFamily="34" charset="0"/>
                <a:ea typeface="Calibri" pitchFamily="34" charset="-122"/>
                <a:cs typeface="Calibri" pitchFamily="34" charset="-120"/>
              </a:rPr>
              <a:t>WEEK 12 · TASK 1 · MONDAY</a:t>
            </a:r>
            <a:endParaRPr lang="en-US" sz="1100" dirty="0"/>
          </a:p>
        </p:txBody>
      </p:sp>
      <p:sp>
        <p:nvSpPr>
          <p:cNvPr id="3" name="Text 1"/>
          <p:cNvSpPr/>
          <p:nvPr/>
        </p:nvSpPr>
        <p:spPr>
          <a:xfrm>
            <a:off x="548640" y="822960"/>
            <a:ext cx="11155680" cy="1280160"/>
          </a:xfrm>
          <a:prstGeom prst="rect">
            <a:avLst/>
          </a:prstGeom>
          <a:noFill/>
          <a:ln/>
        </p:spPr>
        <p:txBody>
          <a:bodyPr wrap="square" rtlCol="0" anchor="t"/>
          <a:lstStyle/>
          <a:p>
            <a:pPr indent="0" marL="0">
              <a:buNone/>
            </a:pPr>
            <a:r>
              <a:rPr lang="en-US" sz="3600" b="1" dirty="0">
                <a:solidFill>
                  <a:srgbClr val="1B2A4A"/>
                </a:solidFill>
                <a:latin typeface="Calibri" pitchFamily="34" charset="0"/>
                <a:ea typeface="Calibri" pitchFamily="34" charset="-122"/>
                <a:cs typeface="Calibri" pitchFamily="34" charset="-120"/>
              </a:rPr>
              <a:t>Build Your Personal AI Adjutant</a:t>
            </a:r>
            <a:endParaRPr lang="en-US" sz="3600" dirty="0"/>
          </a:p>
        </p:txBody>
      </p:sp>
      <p:sp>
        <p:nvSpPr>
          <p:cNvPr id="4" name="Text 2"/>
          <p:cNvSpPr/>
          <p:nvPr/>
        </p:nvSpPr>
        <p:spPr>
          <a:xfrm>
            <a:off x="548640" y="2103120"/>
            <a:ext cx="10972800" cy="731520"/>
          </a:xfrm>
          <a:prstGeom prst="rect">
            <a:avLst/>
          </a:prstGeom>
          <a:noFill/>
          <a:ln/>
        </p:spPr>
        <p:txBody>
          <a:bodyPr wrap="square" rtlCol="0" anchor="ctr"/>
          <a:lstStyle/>
          <a:p>
            <a:pPr indent="0" marL="0">
              <a:buNone/>
            </a:pPr>
            <a:r>
              <a:rPr lang="en-US" sz="1900" i="1" dirty="0">
                <a:solidFill>
                  <a:srgbClr val="5B6470"/>
                </a:solidFill>
                <a:latin typeface="Calibri" pitchFamily="34" charset="0"/>
                <a:ea typeface="Calibri" pitchFamily="34" charset="-122"/>
                <a:cs typeface="Calibri" pitchFamily="34" charset="-120"/>
              </a:rPr>
              <a:t>Synthesize eleven weeks into one document and one daily workflow.</a:t>
            </a:r>
            <a:endParaRPr lang="en-US" sz="1900" dirty="0"/>
          </a:p>
        </p:txBody>
      </p:sp>
      <p:sp>
        <p:nvSpPr>
          <p:cNvPr id="5" name="Shape 3"/>
          <p:cNvSpPr/>
          <p:nvPr/>
        </p:nvSpPr>
        <p:spPr>
          <a:xfrm>
            <a:off x="548640" y="3291840"/>
            <a:ext cx="5486400" cy="3017520"/>
          </a:xfrm>
          <a:prstGeom prst="rect">
            <a:avLst/>
          </a:prstGeom>
          <a:solidFill>
            <a:srgbClr val="F4F1EA"/>
          </a:solidFill>
          <a:ln w="12700">
            <a:solidFill>
              <a:srgbClr val="D8DCE2"/>
            </a:solidFill>
            <a:prstDash val="solid"/>
          </a:ln>
        </p:spPr>
      </p:sp>
      <p:sp>
        <p:nvSpPr>
          <p:cNvPr id="6" name="Shape 4"/>
          <p:cNvSpPr/>
          <p:nvPr/>
        </p:nvSpPr>
        <p:spPr>
          <a:xfrm>
            <a:off x="548640" y="3291840"/>
            <a:ext cx="73152" cy="3017520"/>
          </a:xfrm>
          <a:prstGeom prst="rect">
            <a:avLst/>
          </a:prstGeom>
          <a:solidFill>
            <a:srgbClr val="1B2A4A"/>
          </a:solidFill>
          <a:ln w="12700">
            <a:solidFill>
              <a:srgbClr val="1B2A4A"/>
            </a:solidFill>
            <a:prstDash val="solid"/>
          </a:ln>
        </p:spPr>
      </p:sp>
      <p:sp>
        <p:nvSpPr>
          <p:cNvPr id="7" name="Text 5"/>
          <p:cNvSpPr/>
          <p:nvPr/>
        </p:nvSpPr>
        <p:spPr>
          <a:xfrm>
            <a:off x="777240" y="3474720"/>
            <a:ext cx="5029200" cy="274320"/>
          </a:xfrm>
          <a:prstGeom prst="rect">
            <a:avLst/>
          </a:prstGeom>
          <a:noFill/>
          <a:ln/>
        </p:spPr>
        <p:txBody>
          <a:bodyPr wrap="square" rtlCol="0" anchor="ctr"/>
          <a:lstStyle/>
          <a:p>
            <a:pPr indent="0" marL="0">
              <a:buNone/>
            </a:pPr>
            <a:r>
              <a:rPr lang="en-US" sz="1100" b="1" spc="300" kern="0" dirty="0">
                <a:solidFill>
                  <a:srgbClr val="CE8E31"/>
                </a:solidFill>
                <a:latin typeface="Calibri" pitchFamily="34" charset="0"/>
                <a:ea typeface="Calibri" pitchFamily="34" charset="-122"/>
                <a:cs typeface="Calibri" pitchFamily="34" charset="-120"/>
              </a:rPr>
              <a:t>THE ACTION</a:t>
            </a:r>
            <a:endParaRPr lang="en-US" sz="1100" dirty="0"/>
          </a:p>
        </p:txBody>
      </p:sp>
      <p:sp>
        <p:nvSpPr>
          <p:cNvPr id="8" name="Text 6"/>
          <p:cNvSpPr/>
          <p:nvPr/>
        </p:nvSpPr>
        <p:spPr>
          <a:xfrm>
            <a:off x="777240" y="3794760"/>
            <a:ext cx="5029200" cy="1463040"/>
          </a:xfrm>
          <a:prstGeom prst="rect">
            <a:avLst/>
          </a:prstGeom>
          <a:noFill/>
          <a:ln/>
        </p:spPr>
        <p:txBody>
          <a:bodyPr wrap="square" rtlCol="0" anchor="ctr"/>
          <a:lstStyle/>
          <a:p>
            <a:pPr indent="0" marL="0">
              <a:buNone/>
            </a:pPr>
            <a:r>
              <a:rPr lang="en-US" sz="1600" dirty="0">
                <a:solidFill>
                  <a:srgbClr val="22272E"/>
                </a:solidFill>
                <a:latin typeface="Calibri" pitchFamily="34" charset="0"/>
                <a:ea typeface="Calibri" pitchFamily="34" charset="-122"/>
                <a:cs typeface="Calibri" pitchFamily="34" charset="-120"/>
              </a:rPr>
              <a:t>20–30 minutes. Open the task card. Run the checklist. Ship the artifact. React ✓ in the cohort channel.</a:t>
            </a:r>
            <a:endParaRPr lang="en-US" sz="1600" dirty="0"/>
          </a:p>
        </p:txBody>
      </p:sp>
      <p:sp>
        <p:nvSpPr>
          <p:cNvPr id="9" name="Text 7"/>
          <p:cNvSpPr/>
          <p:nvPr/>
        </p:nvSpPr>
        <p:spPr>
          <a:xfrm>
            <a:off x="777240" y="5669280"/>
            <a:ext cx="5029200" cy="457200"/>
          </a:xfrm>
          <a:prstGeom prst="rect">
            <a:avLst/>
          </a:prstGeom>
          <a:noFill/>
          <a:ln/>
        </p:spPr>
        <p:txBody>
          <a:bodyPr wrap="square" rtlCol="0" anchor="ctr"/>
          <a:lstStyle/>
          <a:p>
            <a:pPr indent="0" marL="0">
              <a:buNone/>
            </a:pPr>
            <a:r>
              <a:rPr lang="en-US" sz="1400" b="1" i="1" dirty="0">
                <a:solidFill>
                  <a:srgbClr val="1B2A4A"/>
                </a:solidFill>
                <a:latin typeface="Calibri" pitchFamily="34" charset="0"/>
                <a:ea typeface="Calibri" pitchFamily="34" charset="-122"/>
                <a:cs typeface="Calibri" pitchFamily="34" charset="-120"/>
              </a:rPr>
              <a:t>AI drafts. The watchman decides.</a:t>
            </a:r>
            <a:endParaRPr lang="en-US" sz="1400" dirty="0"/>
          </a:p>
        </p:txBody>
      </p:sp>
      <p:sp>
        <p:nvSpPr>
          <p:cNvPr id="10" name="Shape 8"/>
          <p:cNvSpPr/>
          <p:nvPr/>
        </p:nvSpPr>
        <p:spPr>
          <a:xfrm>
            <a:off x="6217920" y="3291840"/>
            <a:ext cx="5394960" cy="3017520"/>
          </a:xfrm>
          <a:prstGeom prst="rect">
            <a:avLst/>
          </a:prstGeom>
          <a:solidFill>
            <a:srgbClr val="B8312F"/>
          </a:solidFill>
          <a:ln w="12700">
            <a:solidFill>
              <a:srgbClr val="B8312F"/>
            </a:solidFill>
            <a:prstDash val="solid"/>
          </a:ln>
        </p:spPr>
      </p:sp>
      <p:sp>
        <p:nvSpPr>
          <p:cNvPr id="11" name="Text 9"/>
          <p:cNvSpPr/>
          <p:nvPr/>
        </p:nvSpPr>
        <p:spPr>
          <a:xfrm>
            <a:off x="6446520" y="3520440"/>
            <a:ext cx="5029200" cy="274320"/>
          </a:xfrm>
          <a:prstGeom prst="rect">
            <a:avLst/>
          </a:prstGeom>
          <a:noFill/>
          <a:ln/>
        </p:spPr>
        <p:txBody>
          <a:bodyPr wrap="square" rtlCol="0" anchor="ctr"/>
          <a:lstStyle/>
          <a:p>
            <a:pPr indent="0" marL="0">
              <a:buNone/>
            </a:pPr>
            <a:r>
              <a:rPr lang="en-US" sz="1100" b="1" spc="300" kern="0" dirty="0">
                <a:solidFill>
                  <a:srgbClr val="FFFFFF"/>
                </a:solidFill>
                <a:latin typeface="Calibri" pitchFamily="34" charset="0"/>
                <a:ea typeface="Calibri" pitchFamily="34" charset="-122"/>
                <a:cs typeface="Calibri" pitchFamily="34" charset="-120"/>
              </a:rPr>
              <a:t>SCRIPTURE ANCHOR</a:t>
            </a:r>
            <a:endParaRPr lang="en-US" sz="1100" dirty="0"/>
          </a:p>
        </p:txBody>
      </p:sp>
      <p:sp>
        <p:nvSpPr>
          <p:cNvPr id="12" name="Text 10"/>
          <p:cNvSpPr/>
          <p:nvPr/>
        </p:nvSpPr>
        <p:spPr>
          <a:xfrm>
            <a:off x="6446520" y="3840480"/>
            <a:ext cx="5029200" cy="502920"/>
          </a:xfrm>
          <a:prstGeom prst="rect">
            <a:avLst/>
          </a:prstGeom>
          <a:noFill/>
          <a:ln/>
        </p:spPr>
        <p:txBody>
          <a:bodyPr wrap="square"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Week 12 · Watchman's Charter</a:t>
            </a:r>
            <a:endParaRPr lang="en-US" sz="2000" dirty="0"/>
          </a:p>
        </p:txBody>
      </p:sp>
      <p:sp>
        <p:nvSpPr>
          <p:cNvPr id="13" name="Text 11"/>
          <p:cNvSpPr/>
          <p:nvPr/>
        </p:nvSpPr>
        <p:spPr>
          <a:xfrm>
            <a:off x="6446520" y="4434840"/>
            <a:ext cx="5029200" cy="548640"/>
          </a:xfrm>
          <a:prstGeom prst="rect">
            <a:avLst/>
          </a:prstGeom>
          <a:noFill/>
          <a:ln/>
        </p:spPr>
        <p:txBody>
          <a:bodyPr wrap="square" rtlCol="0" anchor="ctr"/>
          <a:lstStyle/>
          <a:p>
            <a:pPr indent="0" marL="0">
              <a:buNone/>
            </a:pPr>
            <a:r>
              <a:rPr lang="en-US" sz="1800" i="1" dirty="0">
                <a:solidFill>
                  <a:srgbClr val="FFFFFF"/>
                </a:solidFill>
                <a:latin typeface="Calibri" pitchFamily="34" charset="0"/>
                <a:ea typeface="Calibri" pitchFamily="34" charset="-122"/>
                <a:cs typeface="Calibri" pitchFamily="34" charset="-120"/>
              </a:rPr>
              <a:t>Ezekiel 33:7</a:t>
            </a:r>
            <a:endParaRPr lang="en-US" sz="1800" dirty="0"/>
          </a:p>
        </p:txBody>
      </p:sp>
      <p:sp>
        <p:nvSpPr>
          <p:cNvPr id="14" name="Text 12"/>
          <p:cNvSpPr/>
          <p:nvPr/>
        </p:nvSpPr>
        <p:spPr>
          <a:xfrm>
            <a:off x="6446520" y="5669280"/>
            <a:ext cx="5029200" cy="365760"/>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Read aloud at the open and the close.</a:t>
            </a:r>
            <a:endParaRPr lang="en-US" sz="1300" dirty="0"/>
          </a:p>
        </p:txBody>
      </p:sp>
      <p:sp>
        <p:nvSpPr>
          <p:cNvPr id="15" name="Text 13"/>
          <p:cNvSpPr/>
          <p:nvPr/>
        </p:nvSpPr>
        <p:spPr>
          <a:xfrm>
            <a:off x="548640" y="6492240"/>
            <a:ext cx="7315200" cy="274320"/>
          </a:xfrm>
          <a:prstGeom prst="rect">
            <a:avLst/>
          </a:prstGeom>
          <a:noFill/>
          <a:ln/>
        </p:spPr>
        <p:txBody>
          <a:bodyPr wrap="square" rtlCol="0" anchor="ctr"/>
          <a:lstStyle/>
          <a:p>
            <a:pPr indent="0" marL="0">
              <a:buNone/>
            </a:pPr>
            <a:r>
              <a:rPr lang="en-US" sz="1000" i="1" dirty="0">
                <a:solidFill>
                  <a:srgbClr val="5B6470"/>
                </a:solidFill>
                <a:latin typeface="Calibri" pitchFamily="34" charset="0"/>
                <a:ea typeface="Calibri" pitchFamily="34" charset="-122"/>
                <a:cs typeface="Calibri" pitchFamily="34" charset="-120"/>
              </a:rPr>
              <a:t>Week 12 · Watchman's Charter · Task 1</a:t>
            </a:r>
            <a:endParaRPr lang="en-US" sz="10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0972800" cy="365760"/>
          </a:xfrm>
          <a:prstGeom prst="rect">
            <a:avLst/>
          </a:prstGeom>
          <a:noFill/>
          <a:ln/>
        </p:spPr>
        <p:txBody>
          <a:bodyPr wrap="square" rtlCol="0" anchor="ctr"/>
          <a:lstStyle/>
          <a:p>
            <a:pPr indent="0" marL="0">
              <a:buNone/>
            </a:pPr>
            <a:r>
              <a:rPr lang="en-US" sz="1100" b="1" spc="400" kern="0" dirty="0">
                <a:solidFill>
                  <a:srgbClr val="B8312F"/>
                </a:solidFill>
                <a:latin typeface="Calibri" pitchFamily="34" charset="0"/>
                <a:ea typeface="Calibri" pitchFamily="34" charset="-122"/>
                <a:cs typeface="Calibri" pitchFamily="34" charset="-120"/>
              </a:rPr>
              <a:t>WEEK 12 · TASK 2 · WEDNESDAY</a:t>
            </a:r>
            <a:endParaRPr lang="en-US" sz="1100" dirty="0"/>
          </a:p>
        </p:txBody>
      </p:sp>
      <p:sp>
        <p:nvSpPr>
          <p:cNvPr id="3" name="Text 1"/>
          <p:cNvSpPr/>
          <p:nvPr/>
        </p:nvSpPr>
        <p:spPr>
          <a:xfrm>
            <a:off x="548640" y="822960"/>
            <a:ext cx="11155680" cy="1280160"/>
          </a:xfrm>
          <a:prstGeom prst="rect">
            <a:avLst/>
          </a:prstGeom>
          <a:noFill/>
          <a:ln/>
        </p:spPr>
        <p:txBody>
          <a:bodyPr wrap="square" rtlCol="0" anchor="t"/>
          <a:lstStyle/>
          <a:p>
            <a:pPr indent="0" marL="0">
              <a:buNone/>
            </a:pPr>
            <a:r>
              <a:rPr lang="en-US" sz="3600" b="1" dirty="0">
                <a:solidFill>
                  <a:srgbClr val="1B2A4A"/>
                </a:solidFill>
                <a:latin typeface="Calibri" pitchFamily="34" charset="0"/>
                <a:ea typeface="Calibri" pitchFamily="34" charset="-122"/>
                <a:cs typeface="Calibri" pitchFamily="34" charset="-120"/>
              </a:rPr>
              <a:t>Teach One Person One Thing</a:t>
            </a:r>
            <a:endParaRPr lang="en-US" sz="3600" dirty="0"/>
          </a:p>
        </p:txBody>
      </p:sp>
      <p:sp>
        <p:nvSpPr>
          <p:cNvPr id="4" name="Text 2"/>
          <p:cNvSpPr/>
          <p:nvPr/>
        </p:nvSpPr>
        <p:spPr>
          <a:xfrm>
            <a:off x="548640" y="2103120"/>
            <a:ext cx="10972800" cy="731520"/>
          </a:xfrm>
          <a:prstGeom prst="rect">
            <a:avLst/>
          </a:prstGeom>
          <a:noFill/>
          <a:ln/>
        </p:spPr>
        <p:txBody>
          <a:bodyPr wrap="square" rtlCol="0" anchor="ctr"/>
          <a:lstStyle/>
          <a:p>
            <a:pPr indent="0" marL="0">
              <a:buNone/>
            </a:pPr>
            <a:r>
              <a:rPr lang="en-US" sz="1900" i="1" dirty="0">
                <a:solidFill>
                  <a:srgbClr val="5B6470"/>
                </a:solidFill>
                <a:latin typeface="Calibri" pitchFamily="34" charset="0"/>
                <a:ea typeface="Calibri" pitchFamily="34" charset="-122"/>
                <a:cs typeface="Calibri" pitchFamily="34" charset="-120"/>
              </a:rPr>
              <a:t>Pick one brother. Walk him through one thing. Watch him do it once.</a:t>
            </a:r>
            <a:endParaRPr lang="en-US" sz="1900" dirty="0"/>
          </a:p>
        </p:txBody>
      </p:sp>
      <p:sp>
        <p:nvSpPr>
          <p:cNvPr id="5" name="Shape 3"/>
          <p:cNvSpPr/>
          <p:nvPr/>
        </p:nvSpPr>
        <p:spPr>
          <a:xfrm>
            <a:off x="548640" y="3291840"/>
            <a:ext cx="5486400" cy="3017520"/>
          </a:xfrm>
          <a:prstGeom prst="rect">
            <a:avLst/>
          </a:prstGeom>
          <a:solidFill>
            <a:srgbClr val="F4F1EA"/>
          </a:solidFill>
          <a:ln w="12700">
            <a:solidFill>
              <a:srgbClr val="D8DCE2"/>
            </a:solidFill>
            <a:prstDash val="solid"/>
          </a:ln>
        </p:spPr>
      </p:sp>
      <p:sp>
        <p:nvSpPr>
          <p:cNvPr id="6" name="Shape 4"/>
          <p:cNvSpPr/>
          <p:nvPr/>
        </p:nvSpPr>
        <p:spPr>
          <a:xfrm>
            <a:off x="548640" y="3291840"/>
            <a:ext cx="73152" cy="3017520"/>
          </a:xfrm>
          <a:prstGeom prst="rect">
            <a:avLst/>
          </a:prstGeom>
          <a:solidFill>
            <a:srgbClr val="1B2A4A"/>
          </a:solidFill>
          <a:ln w="12700">
            <a:solidFill>
              <a:srgbClr val="1B2A4A"/>
            </a:solidFill>
            <a:prstDash val="solid"/>
          </a:ln>
        </p:spPr>
      </p:sp>
      <p:sp>
        <p:nvSpPr>
          <p:cNvPr id="7" name="Text 5"/>
          <p:cNvSpPr/>
          <p:nvPr/>
        </p:nvSpPr>
        <p:spPr>
          <a:xfrm>
            <a:off x="777240" y="3474720"/>
            <a:ext cx="5029200" cy="274320"/>
          </a:xfrm>
          <a:prstGeom prst="rect">
            <a:avLst/>
          </a:prstGeom>
          <a:noFill/>
          <a:ln/>
        </p:spPr>
        <p:txBody>
          <a:bodyPr wrap="square" rtlCol="0" anchor="ctr"/>
          <a:lstStyle/>
          <a:p>
            <a:pPr indent="0" marL="0">
              <a:buNone/>
            </a:pPr>
            <a:r>
              <a:rPr lang="en-US" sz="1100" b="1" spc="300" kern="0" dirty="0">
                <a:solidFill>
                  <a:srgbClr val="CE8E31"/>
                </a:solidFill>
                <a:latin typeface="Calibri" pitchFamily="34" charset="0"/>
                <a:ea typeface="Calibri" pitchFamily="34" charset="-122"/>
                <a:cs typeface="Calibri" pitchFamily="34" charset="-120"/>
              </a:rPr>
              <a:t>THE ACTION</a:t>
            </a:r>
            <a:endParaRPr lang="en-US" sz="1100" dirty="0"/>
          </a:p>
        </p:txBody>
      </p:sp>
      <p:sp>
        <p:nvSpPr>
          <p:cNvPr id="8" name="Text 6"/>
          <p:cNvSpPr/>
          <p:nvPr/>
        </p:nvSpPr>
        <p:spPr>
          <a:xfrm>
            <a:off x="777240" y="3794760"/>
            <a:ext cx="5029200" cy="1463040"/>
          </a:xfrm>
          <a:prstGeom prst="rect">
            <a:avLst/>
          </a:prstGeom>
          <a:noFill/>
          <a:ln/>
        </p:spPr>
        <p:txBody>
          <a:bodyPr wrap="square" rtlCol="0" anchor="ctr"/>
          <a:lstStyle/>
          <a:p>
            <a:pPr indent="0" marL="0">
              <a:buNone/>
            </a:pPr>
            <a:r>
              <a:rPr lang="en-US" sz="1600" dirty="0">
                <a:solidFill>
                  <a:srgbClr val="22272E"/>
                </a:solidFill>
                <a:latin typeface="Calibri" pitchFamily="34" charset="0"/>
                <a:ea typeface="Calibri" pitchFamily="34" charset="-122"/>
                <a:cs typeface="Calibri" pitchFamily="34" charset="-120"/>
              </a:rPr>
              <a:t>20–30 minutes. Open the task card. Run the checklist. Ship the artifact. React ✓ in the cohort channel.</a:t>
            </a:r>
            <a:endParaRPr lang="en-US" sz="1600" dirty="0"/>
          </a:p>
        </p:txBody>
      </p:sp>
      <p:sp>
        <p:nvSpPr>
          <p:cNvPr id="9" name="Text 7"/>
          <p:cNvSpPr/>
          <p:nvPr/>
        </p:nvSpPr>
        <p:spPr>
          <a:xfrm>
            <a:off x="777240" y="5669280"/>
            <a:ext cx="5029200" cy="457200"/>
          </a:xfrm>
          <a:prstGeom prst="rect">
            <a:avLst/>
          </a:prstGeom>
          <a:noFill/>
          <a:ln/>
        </p:spPr>
        <p:txBody>
          <a:bodyPr wrap="square" rtlCol="0" anchor="ctr"/>
          <a:lstStyle/>
          <a:p>
            <a:pPr indent="0" marL="0">
              <a:buNone/>
            </a:pPr>
            <a:r>
              <a:rPr lang="en-US" sz="1400" b="1" i="1" dirty="0">
                <a:solidFill>
                  <a:srgbClr val="1B2A4A"/>
                </a:solidFill>
                <a:latin typeface="Calibri" pitchFamily="34" charset="0"/>
                <a:ea typeface="Calibri" pitchFamily="34" charset="-122"/>
                <a:cs typeface="Calibri" pitchFamily="34" charset="-120"/>
              </a:rPr>
              <a:t>AI drafts. The watchman decides.</a:t>
            </a:r>
            <a:endParaRPr lang="en-US" sz="1400" dirty="0"/>
          </a:p>
        </p:txBody>
      </p:sp>
      <p:sp>
        <p:nvSpPr>
          <p:cNvPr id="10" name="Shape 8"/>
          <p:cNvSpPr/>
          <p:nvPr/>
        </p:nvSpPr>
        <p:spPr>
          <a:xfrm>
            <a:off x="6217920" y="3291840"/>
            <a:ext cx="5394960" cy="3017520"/>
          </a:xfrm>
          <a:prstGeom prst="rect">
            <a:avLst/>
          </a:prstGeom>
          <a:solidFill>
            <a:srgbClr val="B8312F"/>
          </a:solidFill>
          <a:ln w="12700">
            <a:solidFill>
              <a:srgbClr val="B8312F"/>
            </a:solidFill>
            <a:prstDash val="solid"/>
          </a:ln>
        </p:spPr>
      </p:sp>
      <p:sp>
        <p:nvSpPr>
          <p:cNvPr id="11" name="Text 9"/>
          <p:cNvSpPr/>
          <p:nvPr/>
        </p:nvSpPr>
        <p:spPr>
          <a:xfrm>
            <a:off x="6446520" y="3520440"/>
            <a:ext cx="5029200" cy="274320"/>
          </a:xfrm>
          <a:prstGeom prst="rect">
            <a:avLst/>
          </a:prstGeom>
          <a:noFill/>
          <a:ln/>
        </p:spPr>
        <p:txBody>
          <a:bodyPr wrap="square" rtlCol="0" anchor="ctr"/>
          <a:lstStyle/>
          <a:p>
            <a:pPr indent="0" marL="0">
              <a:buNone/>
            </a:pPr>
            <a:r>
              <a:rPr lang="en-US" sz="1100" b="1" spc="300" kern="0" dirty="0">
                <a:solidFill>
                  <a:srgbClr val="FFFFFF"/>
                </a:solidFill>
                <a:latin typeface="Calibri" pitchFamily="34" charset="0"/>
                <a:ea typeface="Calibri" pitchFamily="34" charset="-122"/>
                <a:cs typeface="Calibri" pitchFamily="34" charset="-120"/>
              </a:rPr>
              <a:t>SCRIPTURE ANCHOR</a:t>
            </a:r>
            <a:endParaRPr lang="en-US" sz="1100" dirty="0"/>
          </a:p>
        </p:txBody>
      </p:sp>
      <p:sp>
        <p:nvSpPr>
          <p:cNvPr id="12" name="Text 10"/>
          <p:cNvSpPr/>
          <p:nvPr/>
        </p:nvSpPr>
        <p:spPr>
          <a:xfrm>
            <a:off x="6446520" y="3840480"/>
            <a:ext cx="5029200" cy="502920"/>
          </a:xfrm>
          <a:prstGeom prst="rect">
            <a:avLst/>
          </a:prstGeom>
          <a:noFill/>
          <a:ln/>
        </p:spPr>
        <p:txBody>
          <a:bodyPr wrap="square"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Week 12 · Watchman's Charter</a:t>
            </a:r>
            <a:endParaRPr lang="en-US" sz="2000" dirty="0"/>
          </a:p>
        </p:txBody>
      </p:sp>
      <p:sp>
        <p:nvSpPr>
          <p:cNvPr id="13" name="Text 11"/>
          <p:cNvSpPr/>
          <p:nvPr/>
        </p:nvSpPr>
        <p:spPr>
          <a:xfrm>
            <a:off x="6446520" y="4434840"/>
            <a:ext cx="5029200" cy="548640"/>
          </a:xfrm>
          <a:prstGeom prst="rect">
            <a:avLst/>
          </a:prstGeom>
          <a:noFill/>
          <a:ln/>
        </p:spPr>
        <p:txBody>
          <a:bodyPr wrap="square" rtlCol="0" anchor="ctr"/>
          <a:lstStyle/>
          <a:p>
            <a:pPr indent="0" marL="0">
              <a:buNone/>
            </a:pPr>
            <a:r>
              <a:rPr lang="en-US" sz="1800" i="1" dirty="0">
                <a:solidFill>
                  <a:srgbClr val="FFFFFF"/>
                </a:solidFill>
                <a:latin typeface="Calibri" pitchFamily="34" charset="0"/>
                <a:ea typeface="Calibri" pitchFamily="34" charset="-122"/>
                <a:cs typeface="Calibri" pitchFamily="34" charset="-120"/>
              </a:rPr>
              <a:t>Ezekiel 33:7</a:t>
            </a:r>
            <a:endParaRPr lang="en-US" sz="1800" dirty="0"/>
          </a:p>
        </p:txBody>
      </p:sp>
      <p:sp>
        <p:nvSpPr>
          <p:cNvPr id="14" name="Text 12"/>
          <p:cNvSpPr/>
          <p:nvPr/>
        </p:nvSpPr>
        <p:spPr>
          <a:xfrm>
            <a:off x="6446520" y="5669280"/>
            <a:ext cx="5029200" cy="365760"/>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Read aloud at the open and the close.</a:t>
            </a:r>
            <a:endParaRPr lang="en-US" sz="1300" dirty="0"/>
          </a:p>
        </p:txBody>
      </p:sp>
      <p:sp>
        <p:nvSpPr>
          <p:cNvPr id="15" name="Text 13"/>
          <p:cNvSpPr/>
          <p:nvPr/>
        </p:nvSpPr>
        <p:spPr>
          <a:xfrm>
            <a:off x="548640" y="6492240"/>
            <a:ext cx="7315200" cy="274320"/>
          </a:xfrm>
          <a:prstGeom prst="rect">
            <a:avLst/>
          </a:prstGeom>
          <a:noFill/>
          <a:ln/>
        </p:spPr>
        <p:txBody>
          <a:bodyPr wrap="square" rtlCol="0" anchor="ctr"/>
          <a:lstStyle/>
          <a:p>
            <a:pPr indent="0" marL="0">
              <a:buNone/>
            </a:pPr>
            <a:r>
              <a:rPr lang="en-US" sz="1000" i="1" dirty="0">
                <a:solidFill>
                  <a:srgbClr val="5B6470"/>
                </a:solidFill>
                <a:latin typeface="Calibri" pitchFamily="34" charset="0"/>
                <a:ea typeface="Calibri" pitchFamily="34" charset="-122"/>
                <a:cs typeface="Calibri" pitchFamily="34" charset="-120"/>
              </a:rPr>
              <a:t>Week 12 · Watchman's Charter · Task 2</a:t>
            </a:r>
            <a:endParaRPr lang="en-US" sz="10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0972800" cy="365760"/>
          </a:xfrm>
          <a:prstGeom prst="rect">
            <a:avLst/>
          </a:prstGeom>
          <a:noFill/>
          <a:ln/>
        </p:spPr>
        <p:txBody>
          <a:bodyPr wrap="square" rtlCol="0" anchor="ctr"/>
          <a:lstStyle/>
          <a:p>
            <a:pPr indent="0" marL="0">
              <a:buNone/>
            </a:pPr>
            <a:r>
              <a:rPr lang="en-US" sz="1100" b="1" spc="400" kern="0" dirty="0">
                <a:solidFill>
                  <a:srgbClr val="B8312F"/>
                </a:solidFill>
                <a:latin typeface="Calibri" pitchFamily="34" charset="0"/>
                <a:ea typeface="Calibri" pitchFamily="34" charset="-122"/>
                <a:cs typeface="Calibri" pitchFamily="34" charset="-120"/>
              </a:rPr>
              <a:t>WEEK 12 · TASK 3 · FRIDAY</a:t>
            </a:r>
            <a:endParaRPr lang="en-US" sz="1100" dirty="0"/>
          </a:p>
        </p:txBody>
      </p:sp>
      <p:sp>
        <p:nvSpPr>
          <p:cNvPr id="3" name="Text 1"/>
          <p:cNvSpPr/>
          <p:nvPr/>
        </p:nvSpPr>
        <p:spPr>
          <a:xfrm>
            <a:off x="548640" y="822960"/>
            <a:ext cx="11155680" cy="1280160"/>
          </a:xfrm>
          <a:prstGeom prst="rect">
            <a:avLst/>
          </a:prstGeom>
          <a:noFill/>
          <a:ln/>
        </p:spPr>
        <p:txBody>
          <a:bodyPr wrap="square" rtlCol="0" anchor="t"/>
          <a:lstStyle/>
          <a:p>
            <a:pPr indent="0" marL="0">
              <a:buNone/>
            </a:pPr>
            <a:r>
              <a:rPr lang="en-US" sz="3600" b="1" dirty="0">
                <a:solidFill>
                  <a:srgbClr val="1B2A4A"/>
                </a:solidFill>
                <a:latin typeface="Calibri" pitchFamily="34" charset="0"/>
                <a:ea typeface="Calibri" pitchFamily="34" charset="-122"/>
                <a:cs typeface="Calibri" pitchFamily="34" charset="-120"/>
              </a:rPr>
              <a:t>Sign Your Watchman's Charter (Commissioning)</a:t>
            </a:r>
            <a:endParaRPr lang="en-US" sz="3600" dirty="0"/>
          </a:p>
        </p:txBody>
      </p:sp>
      <p:sp>
        <p:nvSpPr>
          <p:cNvPr id="4" name="Text 2"/>
          <p:cNvSpPr/>
          <p:nvPr/>
        </p:nvSpPr>
        <p:spPr>
          <a:xfrm>
            <a:off x="548640" y="2103120"/>
            <a:ext cx="10972800" cy="731520"/>
          </a:xfrm>
          <a:prstGeom prst="rect">
            <a:avLst/>
          </a:prstGeom>
          <a:noFill/>
          <a:ln/>
        </p:spPr>
        <p:txBody>
          <a:bodyPr wrap="square" rtlCol="0" anchor="ctr"/>
          <a:lstStyle/>
          <a:p>
            <a:pPr indent="0" marL="0">
              <a:buNone/>
            </a:pPr>
            <a:r>
              <a:rPr lang="en-US" sz="1900" i="1" dirty="0">
                <a:solidFill>
                  <a:srgbClr val="5B6470"/>
                </a:solidFill>
                <a:latin typeface="Calibri" pitchFamily="34" charset="0"/>
                <a:ea typeface="Calibri" pitchFamily="34" charset="-122"/>
                <a:cs typeface="Calibri" pitchFamily="34" charset="-120"/>
              </a:rPr>
              <a:t>Sign it. Name the one tool you'll keep. Say what changed in you.</a:t>
            </a:r>
            <a:endParaRPr lang="en-US" sz="1900" dirty="0"/>
          </a:p>
        </p:txBody>
      </p:sp>
      <p:sp>
        <p:nvSpPr>
          <p:cNvPr id="5" name="Shape 3"/>
          <p:cNvSpPr/>
          <p:nvPr/>
        </p:nvSpPr>
        <p:spPr>
          <a:xfrm>
            <a:off x="548640" y="3291840"/>
            <a:ext cx="5486400" cy="3017520"/>
          </a:xfrm>
          <a:prstGeom prst="rect">
            <a:avLst/>
          </a:prstGeom>
          <a:solidFill>
            <a:srgbClr val="F4F1EA"/>
          </a:solidFill>
          <a:ln w="12700">
            <a:solidFill>
              <a:srgbClr val="D8DCE2"/>
            </a:solidFill>
            <a:prstDash val="solid"/>
          </a:ln>
        </p:spPr>
      </p:sp>
      <p:sp>
        <p:nvSpPr>
          <p:cNvPr id="6" name="Shape 4"/>
          <p:cNvSpPr/>
          <p:nvPr/>
        </p:nvSpPr>
        <p:spPr>
          <a:xfrm>
            <a:off x="548640" y="3291840"/>
            <a:ext cx="73152" cy="3017520"/>
          </a:xfrm>
          <a:prstGeom prst="rect">
            <a:avLst/>
          </a:prstGeom>
          <a:solidFill>
            <a:srgbClr val="1B2A4A"/>
          </a:solidFill>
          <a:ln w="12700">
            <a:solidFill>
              <a:srgbClr val="1B2A4A"/>
            </a:solidFill>
            <a:prstDash val="solid"/>
          </a:ln>
        </p:spPr>
      </p:sp>
      <p:sp>
        <p:nvSpPr>
          <p:cNvPr id="7" name="Text 5"/>
          <p:cNvSpPr/>
          <p:nvPr/>
        </p:nvSpPr>
        <p:spPr>
          <a:xfrm>
            <a:off x="777240" y="3474720"/>
            <a:ext cx="5029200" cy="274320"/>
          </a:xfrm>
          <a:prstGeom prst="rect">
            <a:avLst/>
          </a:prstGeom>
          <a:noFill/>
          <a:ln/>
        </p:spPr>
        <p:txBody>
          <a:bodyPr wrap="square" rtlCol="0" anchor="ctr"/>
          <a:lstStyle/>
          <a:p>
            <a:pPr indent="0" marL="0">
              <a:buNone/>
            </a:pPr>
            <a:r>
              <a:rPr lang="en-US" sz="1100" b="1" spc="300" kern="0" dirty="0">
                <a:solidFill>
                  <a:srgbClr val="CE8E31"/>
                </a:solidFill>
                <a:latin typeface="Calibri" pitchFamily="34" charset="0"/>
                <a:ea typeface="Calibri" pitchFamily="34" charset="-122"/>
                <a:cs typeface="Calibri" pitchFamily="34" charset="-120"/>
              </a:rPr>
              <a:t>THE ACTION</a:t>
            </a:r>
            <a:endParaRPr lang="en-US" sz="1100" dirty="0"/>
          </a:p>
        </p:txBody>
      </p:sp>
      <p:sp>
        <p:nvSpPr>
          <p:cNvPr id="8" name="Text 6"/>
          <p:cNvSpPr/>
          <p:nvPr/>
        </p:nvSpPr>
        <p:spPr>
          <a:xfrm>
            <a:off x="777240" y="3794760"/>
            <a:ext cx="5029200" cy="1463040"/>
          </a:xfrm>
          <a:prstGeom prst="rect">
            <a:avLst/>
          </a:prstGeom>
          <a:noFill/>
          <a:ln/>
        </p:spPr>
        <p:txBody>
          <a:bodyPr wrap="square" rtlCol="0" anchor="ctr"/>
          <a:lstStyle/>
          <a:p>
            <a:pPr indent="0" marL="0">
              <a:buNone/>
            </a:pPr>
            <a:r>
              <a:rPr lang="en-US" sz="1600" dirty="0">
                <a:solidFill>
                  <a:srgbClr val="22272E"/>
                </a:solidFill>
                <a:latin typeface="Calibri" pitchFamily="34" charset="0"/>
                <a:ea typeface="Calibri" pitchFamily="34" charset="-122"/>
                <a:cs typeface="Calibri" pitchFamily="34" charset="-120"/>
              </a:rPr>
              <a:t>20–30 minutes. Open the task card. Run the checklist. Ship the artifact. React ✓ in the cohort channel.</a:t>
            </a:r>
            <a:endParaRPr lang="en-US" sz="1600" dirty="0"/>
          </a:p>
        </p:txBody>
      </p:sp>
      <p:sp>
        <p:nvSpPr>
          <p:cNvPr id="9" name="Text 7"/>
          <p:cNvSpPr/>
          <p:nvPr/>
        </p:nvSpPr>
        <p:spPr>
          <a:xfrm>
            <a:off x="777240" y="5669280"/>
            <a:ext cx="5029200" cy="457200"/>
          </a:xfrm>
          <a:prstGeom prst="rect">
            <a:avLst/>
          </a:prstGeom>
          <a:noFill/>
          <a:ln/>
        </p:spPr>
        <p:txBody>
          <a:bodyPr wrap="square" rtlCol="0" anchor="ctr"/>
          <a:lstStyle/>
          <a:p>
            <a:pPr indent="0" marL="0">
              <a:buNone/>
            </a:pPr>
            <a:r>
              <a:rPr lang="en-US" sz="1400" b="1" i="1" dirty="0">
                <a:solidFill>
                  <a:srgbClr val="1B2A4A"/>
                </a:solidFill>
                <a:latin typeface="Calibri" pitchFamily="34" charset="0"/>
                <a:ea typeface="Calibri" pitchFamily="34" charset="-122"/>
                <a:cs typeface="Calibri" pitchFamily="34" charset="-120"/>
              </a:rPr>
              <a:t>AI drafts. The watchman decides.</a:t>
            </a:r>
            <a:endParaRPr lang="en-US" sz="1400" dirty="0"/>
          </a:p>
        </p:txBody>
      </p:sp>
      <p:sp>
        <p:nvSpPr>
          <p:cNvPr id="10" name="Shape 8"/>
          <p:cNvSpPr/>
          <p:nvPr/>
        </p:nvSpPr>
        <p:spPr>
          <a:xfrm>
            <a:off x="6217920" y="3291840"/>
            <a:ext cx="5394960" cy="3017520"/>
          </a:xfrm>
          <a:prstGeom prst="rect">
            <a:avLst/>
          </a:prstGeom>
          <a:solidFill>
            <a:srgbClr val="B8312F"/>
          </a:solidFill>
          <a:ln w="12700">
            <a:solidFill>
              <a:srgbClr val="B8312F"/>
            </a:solidFill>
            <a:prstDash val="solid"/>
          </a:ln>
        </p:spPr>
      </p:sp>
      <p:sp>
        <p:nvSpPr>
          <p:cNvPr id="11" name="Text 9"/>
          <p:cNvSpPr/>
          <p:nvPr/>
        </p:nvSpPr>
        <p:spPr>
          <a:xfrm>
            <a:off x="6446520" y="3520440"/>
            <a:ext cx="5029200" cy="274320"/>
          </a:xfrm>
          <a:prstGeom prst="rect">
            <a:avLst/>
          </a:prstGeom>
          <a:noFill/>
          <a:ln/>
        </p:spPr>
        <p:txBody>
          <a:bodyPr wrap="square" rtlCol="0" anchor="ctr"/>
          <a:lstStyle/>
          <a:p>
            <a:pPr indent="0" marL="0">
              <a:buNone/>
            </a:pPr>
            <a:r>
              <a:rPr lang="en-US" sz="1100" b="1" spc="300" kern="0" dirty="0">
                <a:solidFill>
                  <a:srgbClr val="FFFFFF"/>
                </a:solidFill>
                <a:latin typeface="Calibri" pitchFamily="34" charset="0"/>
                <a:ea typeface="Calibri" pitchFamily="34" charset="-122"/>
                <a:cs typeface="Calibri" pitchFamily="34" charset="-120"/>
              </a:rPr>
              <a:t>SCRIPTURE ANCHOR</a:t>
            </a:r>
            <a:endParaRPr lang="en-US" sz="1100" dirty="0"/>
          </a:p>
        </p:txBody>
      </p:sp>
      <p:sp>
        <p:nvSpPr>
          <p:cNvPr id="12" name="Text 10"/>
          <p:cNvSpPr/>
          <p:nvPr/>
        </p:nvSpPr>
        <p:spPr>
          <a:xfrm>
            <a:off x="6446520" y="3840480"/>
            <a:ext cx="5029200" cy="502920"/>
          </a:xfrm>
          <a:prstGeom prst="rect">
            <a:avLst/>
          </a:prstGeom>
          <a:noFill/>
          <a:ln/>
        </p:spPr>
        <p:txBody>
          <a:bodyPr wrap="square"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Week 12 · Watchman's Charter</a:t>
            </a:r>
            <a:endParaRPr lang="en-US" sz="2000" dirty="0"/>
          </a:p>
        </p:txBody>
      </p:sp>
      <p:sp>
        <p:nvSpPr>
          <p:cNvPr id="13" name="Text 11"/>
          <p:cNvSpPr/>
          <p:nvPr/>
        </p:nvSpPr>
        <p:spPr>
          <a:xfrm>
            <a:off x="6446520" y="4434840"/>
            <a:ext cx="5029200" cy="548640"/>
          </a:xfrm>
          <a:prstGeom prst="rect">
            <a:avLst/>
          </a:prstGeom>
          <a:noFill/>
          <a:ln/>
        </p:spPr>
        <p:txBody>
          <a:bodyPr wrap="square" rtlCol="0" anchor="ctr"/>
          <a:lstStyle/>
          <a:p>
            <a:pPr indent="0" marL="0">
              <a:buNone/>
            </a:pPr>
            <a:r>
              <a:rPr lang="en-US" sz="1800" i="1" dirty="0">
                <a:solidFill>
                  <a:srgbClr val="FFFFFF"/>
                </a:solidFill>
                <a:latin typeface="Calibri" pitchFamily="34" charset="0"/>
                <a:ea typeface="Calibri" pitchFamily="34" charset="-122"/>
                <a:cs typeface="Calibri" pitchFamily="34" charset="-120"/>
              </a:rPr>
              <a:t>Ezekiel 33:7</a:t>
            </a:r>
            <a:endParaRPr lang="en-US" sz="1800" dirty="0"/>
          </a:p>
        </p:txBody>
      </p:sp>
      <p:sp>
        <p:nvSpPr>
          <p:cNvPr id="14" name="Text 12"/>
          <p:cNvSpPr/>
          <p:nvPr/>
        </p:nvSpPr>
        <p:spPr>
          <a:xfrm>
            <a:off x="6446520" y="5669280"/>
            <a:ext cx="5029200" cy="365760"/>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Read aloud at the open and the close.</a:t>
            </a:r>
            <a:endParaRPr lang="en-US" sz="1300" dirty="0"/>
          </a:p>
        </p:txBody>
      </p:sp>
      <p:sp>
        <p:nvSpPr>
          <p:cNvPr id="15" name="Text 13"/>
          <p:cNvSpPr/>
          <p:nvPr/>
        </p:nvSpPr>
        <p:spPr>
          <a:xfrm>
            <a:off x="548640" y="6492240"/>
            <a:ext cx="7315200" cy="274320"/>
          </a:xfrm>
          <a:prstGeom prst="rect">
            <a:avLst/>
          </a:prstGeom>
          <a:noFill/>
          <a:ln/>
        </p:spPr>
        <p:txBody>
          <a:bodyPr wrap="square" rtlCol="0" anchor="ctr"/>
          <a:lstStyle/>
          <a:p>
            <a:pPr indent="0" marL="0">
              <a:buNone/>
            </a:pPr>
            <a:r>
              <a:rPr lang="en-US" sz="1000" i="1" dirty="0">
                <a:solidFill>
                  <a:srgbClr val="5B6470"/>
                </a:solidFill>
                <a:latin typeface="Calibri" pitchFamily="34" charset="0"/>
                <a:ea typeface="Calibri" pitchFamily="34" charset="-122"/>
                <a:cs typeface="Calibri" pitchFamily="34" charset="-120"/>
              </a:rPr>
              <a:t>Week 12 · Watchman's Charter · Task 3</a:t>
            </a:r>
            <a:endParaRPr lang="en-US" sz="10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0972800" cy="365760"/>
          </a:xfrm>
          <a:prstGeom prst="rect">
            <a:avLst/>
          </a:prstGeom>
          <a:noFill/>
          <a:ln/>
        </p:spPr>
        <p:txBody>
          <a:bodyPr wrap="square" rtlCol="0" anchor="ctr"/>
          <a:lstStyle/>
          <a:p>
            <a:pPr indent="0" marL="0">
              <a:buNone/>
            </a:pPr>
            <a:r>
              <a:rPr lang="en-US" sz="1200" b="1" spc="500" kern="0" dirty="0">
                <a:solidFill>
                  <a:srgbClr val="CE8E31"/>
                </a:solidFill>
                <a:latin typeface="Calibri" pitchFamily="34" charset="0"/>
                <a:ea typeface="Calibri" pitchFamily="34" charset="-122"/>
                <a:cs typeface="Calibri" pitchFamily="34" charset="-120"/>
              </a:rPr>
              <a:t>OPTIONAL DEPTH TRACK</a:t>
            </a:r>
            <a:endParaRPr lang="en-US" sz="1200" dirty="0"/>
          </a:p>
        </p:txBody>
      </p:sp>
      <p:sp>
        <p:nvSpPr>
          <p:cNvPr id="3" name="Text 1"/>
          <p:cNvSpPr/>
          <p:nvPr/>
        </p:nvSpPr>
        <p:spPr>
          <a:xfrm>
            <a:off x="548640" y="822960"/>
            <a:ext cx="10972800" cy="914400"/>
          </a:xfrm>
          <a:prstGeom prst="rect">
            <a:avLst/>
          </a:prstGeom>
          <a:noFill/>
          <a:ln/>
        </p:spPr>
        <p:txBody>
          <a:bodyPr wrap="square" rtlCol="0" anchor="ctr"/>
          <a:lstStyle/>
          <a:p>
            <a:pPr indent="0" marL="0">
              <a:buNone/>
            </a:pPr>
            <a:r>
              <a:rPr lang="en-US" sz="4400" b="1" dirty="0">
                <a:solidFill>
                  <a:srgbClr val="1B2A4A"/>
                </a:solidFill>
                <a:latin typeface="Calibri" pitchFamily="34" charset="0"/>
                <a:ea typeface="Calibri" pitchFamily="34" charset="-122"/>
                <a:cs typeface="Calibri" pitchFamily="34" charset="-120"/>
              </a:rPr>
              <a:t>36 Watchman's Drills.</a:t>
            </a:r>
            <a:endParaRPr lang="en-US" sz="4400" dirty="0"/>
          </a:p>
        </p:txBody>
      </p:sp>
      <p:sp>
        <p:nvSpPr>
          <p:cNvPr id="4" name="Text 2"/>
          <p:cNvSpPr/>
          <p:nvPr/>
        </p:nvSpPr>
        <p:spPr>
          <a:xfrm>
            <a:off x="548640" y="1828800"/>
            <a:ext cx="10972800" cy="548640"/>
          </a:xfrm>
          <a:prstGeom prst="rect">
            <a:avLst/>
          </a:prstGeom>
          <a:noFill/>
          <a:ln/>
        </p:spPr>
        <p:txBody>
          <a:bodyPr wrap="square" rtlCol="0" anchor="ctr"/>
          <a:lstStyle/>
          <a:p>
            <a:pPr indent="0" marL="0">
              <a:buNone/>
            </a:pPr>
            <a:r>
              <a:rPr lang="en-US" sz="2000" i="1" dirty="0">
                <a:solidFill>
                  <a:srgbClr val="5B6470"/>
                </a:solidFill>
                <a:latin typeface="Calibri" pitchFamily="34" charset="0"/>
                <a:ea typeface="Calibri" pitchFamily="34" charset="-122"/>
                <a:cs typeface="Calibri" pitchFamily="34" charset="-120"/>
              </a:rPr>
              <a:t>90-second micro-prompts. Three per week, one a day if it serves you. Sundays off.</a:t>
            </a:r>
            <a:endParaRPr lang="en-US" sz="2000" dirty="0"/>
          </a:p>
        </p:txBody>
      </p:sp>
      <p:sp>
        <p:nvSpPr>
          <p:cNvPr id="5" name="Shape 3"/>
          <p:cNvSpPr/>
          <p:nvPr/>
        </p:nvSpPr>
        <p:spPr>
          <a:xfrm>
            <a:off x="512064" y="2743200"/>
            <a:ext cx="3611880" cy="1554480"/>
          </a:xfrm>
          <a:prstGeom prst="rect">
            <a:avLst/>
          </a:prstGeom>
          <a:solidFill>
            <a:srgbClr val="F4F1EA"/>
          </a:solidFill>
          <a:ln w="12700">
            <a:solidFill>
              <a:srgbClr val="D8DCE2"/>
            </a:solidFill>
            <a:prstDash val="solid"/>
          </a:ln>
        </p:spPr>
      </p:sp>
      <p:sp>
        <p:nvSpPr>
          <p:cNvPr id="6" name="Shape 4"/>
          <p:cNvSpPr/>
          <p:nvPr/>
        </p:nvSpPr>
        <p:spPr>
          <a:xfrm>
            <a:off x="512064" y="2743200"/>
            <a:ext cx="54864" cy="1554480"/>
          </a:xfrm>
          <a:prstGeom prst="rect">
            <a:avLst/>
          </a:prstGeom>
          <a:solidFill>
            <a:srgbClr val="CE8E31"/>
          </a:solidFill>
          <a:ln w="12700">
            <a:solidFill>
              <a:srgbClr val="CE8E31"/>
            </a:solidFill>
            <a:prstDash val="solid"/>
          </a:ln>
        </p:spPr>
      </p:sp>
      <p:sp>
        <p:nvSpPr>
          <p:cNvPr id="7" name="Text 5"/>
          <p:cNvSpPr/>
          <p:nvPr/>
        </p:nvSpPr>
        <p:spPr>
          <a:xfrm>
            <a:off x="694944" y="2880360"/>
            <a:ext cx="3246120" cy="274320"/>
          </a:xfrm>
          <a:prstGeom prst="rect">
            <a:avLst/>
          </a:prstGeom>
          <a:noFill/>
          <a:ln/>
        </p:spPr>
        <p:txBody>
          <a:bodyPr wrap="square" rtlCol="0" anchor="ctr"/>
          <a:lstStyle/>
          <a:p>
            <a:pPr indent="0" marL="0">
              <a:buNone/>
            </a:pPr>
            <a:r>
              <a:rPr lang="en-US" sz="1000" b="1" spc="300" kern="0" dirty="0">
                <a:solidFill>
                  <a:srgbClr val="CE8E31"/>
                </a:solidFill>
                <a:latin typeface="Calibri" pitchFamily="34" charset="0"/>
                <a:ea typeface="Calibri" pitchFamily="34" charset="-122"/>
                <a:cs typeface="Calibri" pitchFamily="34" charset="-120"/>
              </a:rPr>
              <a:t>BLOCK I · W1–2</a:t>
            </a:r>
            <a:endParaRPr lang="en-US" sz="1000" dirty="0"/>
          </a:p>
        </p:txBody>
      </p:sp>
      <p:sp>
        <p:nvSpPr>
          <p:cNvPr id="8" name="Text 6"/>
          <p:cNvSpPr/>
          <p:nvPr/>
        </p:nvSpPr>
        <p:spPr>
          <a:xfrm>
            <a:off x="694944" y="3200400"/>
            <a:ext cx="3246120" cy="457200"/>
          </a:xfrm>
          <a:prstGeom prst="rect">
            <a:avLst/>
          </a:prstGeom>
          <a:noFill/>
          <a:ln/>
        </p:spPr>
        <p:txBody>
          <a:bodyPr wrap="square" rtlCol="0" anchor="ctr"/>
          <a:lstStyle/>
          <a:p>
            <a:pPr indent="0" marL="0">
              <a:buNone/>
            </a:pPr>
            <a:r>
              <a:rPr lang="en-US" sz="1800" b="1" dirty="0">
                <a:solidFill>
                  <a:srgbClr val="1B2A4A"/>
                </a:solidFill>
                <a:latin typeface="Calibri" pitchFamily="34" charset="0"/>
                <a:ea typeface="Calibri" pitchFamily="34" charset="-122"/>
                <a:cs typeface="Calibri" pitchFamily="34" charset="-120"/>
              </a:rPr>
              <a:t>Foundation</a:t>
            </a:r>
            <a:endParaRPr lang="en-US" sz="1800" dirty="0"/>
          </a:p>
        </p:txBody>
      </p:sp>
      <p:sp>
        <p:nvSpPr>
          <p:cNvPr id="9" name="Text 7"/>
          <p:cNvSpPr/>
          <p:nvPr/>
        </p:nvSpPr>
        <p:spPr>
          <a:xfrm>
            <a:off x="694944" y="3749040"/>
            <a:ext cx="3246120" cy="365760"/>
          </a:xfrm>
          <a:prstGeom prst="rect">
            <a:avLst/>
          </a:prstGeom>
          <a:noFill/>
          <a:ln/>
        </p:spPr>
        <p:txBody>
          <a:bodyPr wrap="square" rtlCol="0" anchor="ctr"/>
          <a:lstStyle/>
          <a:p>
            <a:pPr indent="0" marL="0">
              <a:buNone/>
            </a:pPr>
            <a:r>
              <a:rPr lang="en-US" sz="1100" i="1" dirty="0">
                <a:solidFill>
                  <a:srgbClr val="5B6470"/>
                </a:solidFill>
                <a:latin typeface="Calibri" pitchFamily="34" charset="0"/>
                <a:ea typeface="Calibri" pitchFamily="34" charset="-122"/>
                <a:cs typeface="Calibri" pitchFamily="34" charset="-120"/>
              </a:rPr>
              <a:t>3 drills per week</a:t>
            </a:r>
            <a:endParaRPr lang="en-US" sz="1100" dirty="0"/>
          </a:p>
        </p:txBody>
      </p:sp>
      <p:sp>
        <p:nvSpPr>
          <p:cNvPr id="10" name="Shape 8"/>
          <p:cNvSpPr/>
          <p:nvPr/>
        </p:nvSpPr>
        <p:spPr>
          <a:xfrm>
            <a:off x="4288536" y="2743200"/>
            <a:ext cx="3611880" cy="1554480"/>
          </a:xfrm>
          <a:prstGeom prst="rect">
            <a:avLst/>
          </a:prstGeom>
          <a:solidFill>
            <a:srgbClr val="F4F1EA"/>
          </a:solidFill>
          <a:ln w="12700">
            <a:solidFill>
              <a:srgbClr val="D8DCE2"/>
            </a:solidFill>
            <a:prstDash val="solid"/>
          </a:ln>
        </p:spPr>
      </p:sp>
      <p:sp>
        <p:nvSpPr>
          <p:cNvPr id="11" name="Shape 9"/>
          <p:cNvSpPr/>
          <p:nvPr/>
        </p:nvSpPr>
        <p:spPr>
          <a:xfrm>
            <a:off x="4288536" y="2743200"/>
            <a:ext cx="54864" cy="1554480"/>
          </a:xfrm>
          <a:prstGeom prst="rect">
            <a:avLst/>
          </a:prstGeom>
          <a:solidFill>
            <a:srgbClr val="B8966B"/>
          </a:solidFill>
          <a:ln w="12700">
            <a:solidFill>
              <a:srgbClr val="B8966B"/>
            </a:solidFill>
            <a:prstDash val="solid"/>
          </a:ln>
        </p:spPr>
      </p:sp>
      <p:sp>
        <p:nvSpPr>
          <p:cNvPr id="12" name="Text 10"/>
          <p:cNvSpPr/>
          <p:nvPr/>
        </p:nvSpPr>
        <p:spPr>
          <a:xfrm>
            <a:off x="4471416" y="2880360"/>
            <a:ext cx="3246120" cy="274320"/>
          </a:xfrm>
          <a:prstGeom prst="rect">
            <a:avLst/>
          </a:prstGeom>
          <a:noFill/>
          <a:ln/>
        </p:spPr>
        <p:txBody>
          <a:bodyPr wrap="square" rtlCol="0" anchor="ctr"/>
          <a:lstStyle/>
          <a:p>
            <a:pPr indent="0" marL="0">
              <a:buNone/>
            </a:pPr>
            <a:r>
              <a:rPr lang="en-US" sz="1000" b="1" spc="300" kern="0" dirty="0">
                <a:solidFill>
                  <a:srgbClr val="B8966B"/>
                </a:solidFill>
                <a:latin typeface="Calibri" pitchFamily="34" charset="0"/>
                <a:ea typeface="Calibri" pitchFamily="34" charset="-122"/>
                <a:cs typeface="Calibri" pitchFamily="34" charset="-120"/>
              </a:rPr>
              <a:t>BLOCK II · W3–4</a:t>
            </a:r>
            <a:endParaRPr lang="en-US" sz="1000" dirty="0"/>
          </a:p>
        </p:txBody>
      </p:sp>
      <p:sp>
        <p:nvSpPr>
          <p:cNvPr id="13" name="Text 11"/>
          <p:cNvSpPr/>
          <p:nvPr/>
        </p:nvSpPr>
        <p:spPr>
          <a:xfrm>
            <a:off x="4471416" y="3200400"/>
            <a:ext cx="3246120" cy="457200"/>
          </a:xfrm>
          <a:prstGeom prst="rect">
            <a:avLst/>
          </a:prstGeom>
          <a:noFill/>
          <a:ln/>
        </p:spPr>
        <p:txBody>
          <a:bodyPr wrap="square" rtlCol="0" anchor="ctr"/>
          <a:lstStyle/>
          <a:p>
            <a:pPr indent="0" marL="0">
              <a:buNone/>
            </a:pPr>
            <a:r>
              <a:rPr lang="en-US" sz="1800" b="1" dirty="0">
                <a:solidFill>
                  <a:srgbClr val="1B2A4A"/>
                </a:solidFill>
                <a:latin typeface="Calibri" pitchFamily="34" charset="0"/>
                <a:ea typeface="Calibri" pitchFamily="34" charset="-122"/>
                <a:cs typeface="Calibri" pitchFamily="34" charset="-120"/>
              </a:rPr>
              <a:t>Home Mastery</a:t>
            </a:r>
            <a:endParaRPr lang="en-US" sz="1800" dirty="0"/>
          </a:p>
        </p:txBody>
      </p:sp>
      <p:sp>
        <p:nvSpPr>
          <p:cNvPr id="14" name="Text 12"/>
          <p:cNvSpPr/>
          <p:nvPr/>
        </p:nvSpPr>
        <p:spPr>
          <a:xfrm>
            <a:off x="4471416" y="3749040"/>
            <a:ext cx="3246120" cy="365760"/>
          </a:xfrm>
          <a:prstGeom prst="rect">
            <a:avLst/>
          </a:prstGeom>
          <a:noFill/>
          <a:ln/>
        </p:spPr>
        <p:txBody>
          <a:bodyPr wrap="square" rtlCol="0" anchor="ctr"/>
          <a:lstStyle/>
          <a:p>
            <a:pPr indent="0" marL="0">
              <a:buNone/>
            </a:pPr>
            <a:r>
              <a:rPr lang="en-US" sz="1100" i="1" dirty="0">
                <a:solidFill>
                  <a:srgbClr val="5B6470"/>
                </a:solidFill>
                <a:latin typeface="Calibri" pitchFamily="34" charset="0"/>
                <a:ea typeface="Calibri" pitchFamily="34" charset="-122"/>
                <a:cs typeface="Calibri" pitchFamily="34" charset="-120"/>
              </a:rPr>
              <a:t>3 drills per week</a:t>
            </a:r>
            <a:endParaRPr lang="en-US" sz="1100" dirty="0"/>
          </a:p>
        </p:txBody>
      </p:sp>
      <p:sp>
        <p:nvSpPr>
          <p:cNvPr id="15" name="Shape 13"/>
          <p:cNvSpPr/>
          <p:nvPr/>
        </p:nvSpPr>
        <p:spPr>
          <a:xfrm>
            <a:off x="8065008" y="2743200"/>
            <a:ext cx="3611880" cy="1554480"/>
          </a:xfrm>
          <a:prstGeom prst="rect">
            <a:avLst/>
          </a:prstGeom>
          <a:solidFill>
            <a:srgbClr val="F4F1EA"/>
          </a:solidFill>
          <a:ln w="12700">
            <a:solidFill>
              <a:srgbClr val="D8DCE2"/>
            </a:solidFill>
            <a:prstDash val="solid"/>
          </a:ln>
        </p:spPr>
      </p:sp>
      <p:sp>
        <p:nvSpPr>
          <p:cNvPr id="16" name="Shape 14"/>
          <p:cNvSpPr/>
          <p:nvPr/>
        </p:nvSpPr>
        <p:spPr>
          <a:xfrm>
            <a:off x="8065008" y="2743200"/>
            <a:ext cx="54864" cy="1554480"/>
          </a:xfrm>
          <a:prstGeom prst="rect">
            <a:avLst/>
          </a:prstGeom>
          <a:solidFill>
            <a:srgbClr val="A8742A"/>
          </a:solidFill>
          <a:ln w="12700">
            <a:solidFill>
              <a:srgbClr val="A8742A"/>
            </a:solidFill>
            <a:prstDash val="solid"/>
          </a:ln>
        </p:spPr>
      </p:sp>
      <p:sp>
        <p:nvSpPr>
          <p:cNvPr id="17" name="Text 15"/>
          <p:cNvSpPr/>
          <p:nvPr/>
        </p:nvSpPr>
        <p:spPr>
          <a:xfrm>
            <a:off x="8247888" y="2880360"/>
            <a:ext cx="3246120" cy="274320"/>
          </a:xfrm>
          <a:prstGeom prst="rect">
            <a:avLst/>
          </a:prstGeom>
          <a:noFill/>
          <a:ln/>
        </p:spPr>
        <p:txBody>
          <a:bodyPr wrap="square" rtlCol="0" anchor="ctr"/>
          <a:lstStyle/>
          <a:p>
            <a:pPr indent="0" marL="0">
              <a:buNone/>
            </a:pPr>
            <a:r>
              <a:rPr lang="en-US" sz="1000" b="1" spc="300" kern="0" dirty="0">
                <a:solidFill>
                  <a:srgbClr val="A8742A"/>
                </a:solidFill>
                <a:latin typeface="Calibri" pitchFamily="34" charset="0"/>
                <a:ea typeface="Calibri" pitchFamily="34" charset="-122"/>
                <a:cs typeface="Calibri" pitchFamily="34" charset="-120"/>
              </a:rPr>
              <a:t>BLOCK III · W5–8</a:t>
            </a:r>
            <a:endParaRPr lang="en-US" sz="1000" dirty="0"/>
          </a:p>
        </p:txBody>
      </p:sp>
      <p:sp>
        <p:nvSpPr>
          <p:cNvPr id="18" name="Text 16"/>
          <p:cNvSpPr/>
          <p:nvPr/>
        </p:nvSpPr>
        <p:spPr>
          <a:xfrm>
            <a:off x="8247888" y="3200400"/>
            <a:ext cx="3246120" cy="457200"/>
          </a:xfrm>
          <a:prstGeom prst="rect">
            <a:avLst/>
          </a:prstGeom>
          <a:noFill/>
          <a:ln/>
        </p:spPr>
        <p:txBody>
          <a:bodyPr wrap="square" rtlCol="0" anchor="ctr"/>
          <a:lstStyle/>
          <a:p>
            <a:pPr indent="0" marL="0">
              <a:buNone/>
            </a:pPr>
            <a:r>
              <a:rPr lang="en-US" sz="1800" b="1" dirty="0">
                <a:solidFill>
                  <a:srgbClr val="1B2A4A"/>
                </a:solidFill>
                <a:latin typeface="Calibri" pitchFamily="34" charset="0"/>
                <a:ea typeface="Calibri" pitchFamily="34" charset="-122"/>
                <a:cs typeface="Calibri" pitchFamily="34" charset="-120"/>
              </a:rPr>
              <a:t>Business Layer</a:t>
            </a:r>
            <a:endParaRPr lang="en-US" sz="1800" dirty="0"/>
          </a:p>
        </p:txBody>
      </p:sp>
      <p:sp>
        <p:nvSpPr>
          <p:cNvPr id="19" name="Text 17"/>
          <p:cNvSpPr/>
          <p:nvPr/>
        </p:nvSpPr>
        <p:spPr>
          <a:xfrm>
            <a:off x="8247888" y="3749040"/>
            <a:ext cx="3246120" cy="365760"/>
          </a:xfrm>
          <a:prstGeom prst="rect">
            <a:avLst/>
          </a:prstGeom>
          <a:noFill/>
          <a:ln/>
        </p:spPr>
        <p:txBody>
          <a:bodyPr wrap="square" rtlCol="0" anchor="ctr"/>
          <a:lstStyle/>
          <a:p>
            <a:pPr indent="0" marL="0">
              <a:buNone/>
            </a:pPr>
            <a:r>
              <a:rPr lang="en-US" sz="1100" i="1" dirty="0">
                <a:solidFill>
                  <a:srgbClr val="5B6470"/>
                </a:solidFill>
                <a:latin typeface="Calibri" pitchFamily="34" charset="0"/>
                <a:ea typeface="Calibri" pitchFamily="34" charset="-122"/>
                <a:cs typeface="Calibri" pitchFamily="34" charset="-120"/>
              </a:rPr>
              <a:t>3 drills per week</a:t>
            </a:r>
            <a:endParaRPr lang="en-US" sz="1100" dirty="0"/>
          </a:p>
        </p:txBody>
      </p:sp>
      <p:sp>
        <p:nvSpPr>
          <p:cNvPr id="20" name="Shape 18"/>
          <p:cNvSpPr/>
          <p:nvPr/>
        </p:nvSpPr>
        <p:spPr>
          <a:xfrm>
            <a:off x="512064" y="4480560"/>
            <a:ext cx="3611880" cy="1554480"/>
          </a:xfrm>
          <a:prstGeom prst="rect">
            <a:avLst/>
          </a:prstGeom>
          <a:solidFill>
            <a:srgbClr val="F4F1EA"/>
          </a:solidFill>
          <a:ln w="12700">
            <a:solidFill>
              <a:srgbClr val="D8DCE2"/>
            </a:solidFill>
            <a:prstDash val="solid"/>
          </a:ln>
        </p:spPr>
      </p:sp>
      <p:sp>
        <p:nvSpPr>
          <p:cNvPr id="21" name="Shape 19"/>
          <p:cNvSpPr/>
          <p:nvPr/>
        </p:nvSpPr>
        <p:spPr>
          <a:xfrm>
            <a:off x="512064" y="4480560"/>
            <a:ext cx="54864" cy="1554480"/>
          </a:xfrm>
          <a:prstGeom prst="rect">
            <a:avLst/>
          </a:prstGeom>
          <a:solidFill>
            <a:srgbClr val="3B5998"/>
          </a:solidFill>
          <a:ln w="12700">
            <a:solidFill>
              <a:srgbClr val="3B5998"/>
            </a:solidFill>
            <a:prstDash val="solid"/>
          </a:ln>
        </p:spPr>
      </p:sp>
      <p:sp>
        <p:nvSpPr>
          <p:cNvPr id="22" name="Text 20"/>
          <p:cNvSpPr/>
          <p:nvPr/>
        </p:nvSpPr>
        <p:spPr>
          <a:xfrm>
            <a:off x="694944" y="4617720"/>
            <a:ext cx="3246120" cy="274320"/>
          </a:xfrm>
          <a:prstGeom prst="rect">
            <a:avLst/>
          </a:prstGeom>
          <a:noFill/>
          <a:ln/>
        </p:spPr>
        <p:txBody>
          <a:bodyPr wrap="square" rtlCol="0" anchor="ctr"/>
          <a:lstStyle/>
          <a:p>
            <a:pPr indent="0" marL="0">
              <a:buNone/>
            </a:pPr>
            <a:r>
              <a:rPr lang="en-US" sz="1000" b="1" spc="300" kern="0" dirty="0">
                <a:solidFill>
                  <a:srgbClr val="3B5998"/>
                </a:solidFill>
                <a:latin typeface="Calibri" pitchFamily="34" charset="0"/>
                <a:ea typeface="Calibri" pitchFamily="34" charset="-122"/>
                <a:cs typeface="Calibri" pitchFamily="34" charset="-120"/>
              </a:rPr>
              <a:t>BLOCK IV · W9–10</a:t>
            </a:r>
            <a:endParaRPr lang="en-US" sz="1000" dirty="0"/>
          </a:p>
        </p:txBody>
      </p:sp>
      <p:sp>
        <p:nvSpPr>
          <p:cNvPr id="23" name="Text 21"/>
          <p:cNvSpPr/>
          <p:nvPr/>
        </p:nvSpPr>
        <p:spPr>
          <a:xfrm>
            <a:off x="694944" y="4937760"/>
            <a:ext cx="3246120" cy="457200"/>
          </a:xfrm>
          <a:prstGeom prst="rect">
            <a:avLst/>
          </a:prstGeom>
          <a:noFill/>
          <a:ln/>
        </p:spPr>
        <p:txBody>
          <a:bodyPr wrap="square" rtlCol="0" anchor="ctr"/>
          <a:lstStyle/>
          <a:p>
            <a:pPr indent="0" marL="0">
              <a:buNone/>
            </a:pPr>
            <a:r>
              <a:rPr lang="en-US" sz="1800" b="1" dirty="0">
                <a:solidFill>
                  <a:srgbClr val="1B2A4A"/>
                </a:solidFill>
                <a:latin typeface="Calibri" pitchFamily="34" charset="0"/>
                <a:ea typeface="Calibri" pitchFamily="34" charset="-122"/>
                <a:cs typeface="Calibri" pitchFamily="34" charset="-120"/>
              </a:rPr>
              <a:t>Ministry Layer</a:t>
            </a:r>
            <a:endParaRPr lang="en-US" sz="1800" dirty="0"/>
          </a:p>
        </p:txBody>
      </p:sp>
      <p:sp>
        <p:nvSpPr>
          <p:cNvPr id="24" name="Text 22"/>
          <p:cNvSpPr/>
          <p:nvPr/>
        </p:nvSpPr>
        <p:spPr>
          <a:xfrm>
            <a:off x="694944" y="5486400"/>
            <a:ext cx="3246120" cy="365760"/>
          </a:xfrm>
          <a:prstGeom prst="rect">
            <a:avLst/>
          </a:prstGeom>
          <a:noFill/>
          <a:ln/>
        </p:spPr>
        <p:txBody>
          <a:bodyPr wrap="square" rtlCol="0" anchor="ctr"/>
          <a:lstStyle/>
          <a:p>
            <a:pPr indent="0" marL="0">
              <a:buNone/>
            </a:pPr>
            <a:r>
              <a:rPr lang="en-US" sz="1100" i="1" dirty="0">
                <a:solidFill>
                  <a:srgbClr val="5B6470"/>
                </a:solidFill>
                <a:latin typeface="Calibri" pitchFamily="34" charset="0"/>
                <a:ea typeface="Calibri" pitchFamily="34" charset="-122"/>
                <a:cs typeface="Calibri" pitchFamily="34" charset="-120"/>
              </a:rPr>
              <a:t>3 drills per week</a:t>
            </a:r>
            <a:endParaRPr lang="en-US" sz="1100" dirty="0"/>
          </a:p>
        </p:txBody>
      </p:sp>
      <p:sp>
        <p:nvSpPr>
          <p:cNvPr id="25" name="Shape 23"/>
          <p:cNvSpPr/>
          <p:nvPr/>
        </p:nvSpPr>
        <p:spPr>
          <a:xfrm>
            <a:off x="4288536" y="4480560"/>
            <a:ext cx="3611880" cy="1554480"/>
          </a:xfrm>
          <a:prstGeom prst="rect">
            <a:avLst/>
          </a:prstGeom>
          <a:solidFill>
            <a:srgbClr val="F4F1EA"/>
          </a:solidFill>
          <a:ln w="12700">
            <a:solidFill>
              <a:srgbClr val="D8DCE2"/>
            </a:solidFill>
            <a:prstDash val="solid"/>
          </a:ln>
        </p:spPr>
      </p:sp>
      <p:sp>
        <p:nvSpPr>
          <p:cNvPr id="26" name="Shape 24"/>
          <p:cNvSpPr/>
          <p:nvPr/>
        </p:nvSpPr>
        <p:spPr>
          <a:xfrm>
            <a:off x="4288536" y="4480560"/>
            <a:ext cx="54864" cy="1554480"/>
          </a:xfrm>
          <a:prstGeom prst="rect">
            <a:avLst/>
          </a:prstGeom>
          <a:solidFill>
            <a:srgbClr val="5A7A6B"/>
          </a:solidFill>
          <a:ln w="12700">
            <a:solidFill>
              <a:srgbClr val="5A7A6B"/>
            </a:solidFill>
            <a:prstDash val="solid"/>
          </a:ln>
        </p:spPr>
      </p:sp>
      <p:sp>
        <p:nvSpPr>
          <p:cNvPr id="27" name="Text 25"/>
          <p:cNvSpPr/>
          <p:nvPr/>
        </p:nvSpPr>
        <p:spPr>
          <a:xfrm>
            <a:off x="4471416" y="4617720"/>
            <a:ext cx="3246120" cy="274320"/>
          </a:xfrm>
          <a:prstGeom prst="rect">
            <a:avLst/>
          </a:prstGeom>
          <a:noFill/>
          <a:ln/>
        </p:spPr>
        <p:txBody>
          <a:bodyPr wrap="square" rtlCol="0" anchor="ctr"/>
          <a:lstStyle/>
          <a:p>
            <a:pPr indent="0" marL="0">
              <a:buNone/>
            </a:pPr>
            <a:r>
              <a:rPr lang="en-US" sz="1000" b="1" spc="300" kern="0" dirty="0">
                <a:solidFill>
                  <a:srgbClr val="5A7A6B"/>
                </a:solidFill>
                <a:latin typeface="Calibri" pitchFamily="34" charset="0"/>
                <a:ea typeface="Calibri" pitchFamily="34" charset="-122"/>
                <a:cs typeface="Calibri" pitchFamily="34" charset="-120"/>
              </a:rPr>
              <a:t>BLOCK V · W11</a:t>
            </a:r>
            <a:endParaRPr lang="en-US" sz="1000" dirty="0"/>
          </a:p>
        </p:txBody>
      </p:sp>
      <p:sp>
        <p:nvSpPr>
          <p:cNvPr id="28" name="Text 26"/>
          <p:cNvSpPr/>
          <p:nvPr/>
        </p:nvSpPr>
        <p:spPr>
          <a:xfrm>
            <a:off x="4471416" y="4937760"/>
            <a:ext cx="3246120" cy="457200"/>
          </a:xfrm>
          <a:prstGeom prst="rect">
            <a:avLst/>
          </a:prstGeom>
          <a:noFill/>
          <a:ln/>
        </p:spPr>
        <p:txBody>
          <a:bodyPr wrap="square" rtlCol="0" anchor="ctr"/>
          <a:lstStyle/>
          <a:p>
            <a:pPr indent="0" marL="0">
              <a:buNone/>
            </a:pPr>
            <a:r>
              <a:rPr lang="en-US" sz="1800" b="1" dirty="0">
                <a:solidFill>
                  <a:srgbClr val="1B2A4A"/>
                </a:solidFill>
                <a:latin typeface="Calibri" pitchFamily="34" charset="0"/>
                <a:ea typeface="Calibri" pitchFamily="34" charset="-122"/>
                <a:cs typeface="Calibri" pitchFamily="34" charset="-120"/>
              </a:rPr>
              <a:t>Sovereign Stack</a:t>
            </a:r>
            <a:endParaRPr lang="en-US" sz="1800" dirty="0"/>
          </a:p>
        </p:txBody>
      </p:sp>
      <p:sp>
        <p:nvSpPr>
          <p:cNvPr id="29" name="Text 27"/>
          <p:cNvSpPr/>
          <p:nvPr/>
        </p:nvSpPr>
        <p:spPr>
          <a:xfrm>
            <a:off x="4471416" y="5486400"/>
            <a:ext cx="3246120" cy="365760"/>
          </a:xfrm>
          <a:prstGeom prst="rect">
            <a:avLst/>
          </a:prstGeom>
          <a:noFill/>
          <a:ln/>
        </p:spPr>
        <p:txBody>
          <a:bodyPr wrap="square" rtlCol="0" anchor="ctr"/>
          <a:lstStyle/>
          <a:p>
            <a:pPr indent="0" marL="0">
              <a:buNone/>
            </a:pPr>
            <a:r>
              <a:rPr lang="en-US" sz="1100" i="1" dirty="0">
                <a:solidFill>
                  <a:srgbClr val="5B6470"/>
                </a:solidFill>
                <a:latin typeface="Calibri" pitchFamily="34" charset="0"/>
                <a:ea typeface="Calibri" pitchFamily="34" charset="-122"/>
                <a:cs typeface="Calibri" pitchFamily="34" charset="-120"/>
              </a:rPr>
              <a:t>3 drills per week</a:t>
            </a:r>
            <a:endParaRPr lang="en-US" sz="1100" dirty="0"/>
          </a:p>
        </p:txBody>
      </p:sp>
      <p:sp>
        <p:nvSpPr>
          <p:cNvPr id="30" name="Shape 28"/>
          <p:cNvSpPr/>
          <p:nvPr/>
        </p:nvSpPr>
        <p:spPr>
          <a:xfrm>
            <a:off x="8065008" y="4480560"/>
            <a:ext cx="3611880" cy="1554480"/>
          </a:xfrm>
          <a:prstGeom prst="rect">
            <a:avLst/>
          </a:prstGeom>
          <a:solidFill>
            <a:srgbClr val="F4F1EA"/>
          </a:solidFill>
          <a:ln w="12700">
            <a:solidFill>
              <a:srgbClr val="D8DCE2"/>
            </a:solidFill>
            <a:prstDash val="solid"/>
          </a:ln>
        </p:spPr>
      </p:sp>
      <p:sp>
        <p:nvSpPr>
          <p:cNvPr id="31" name="Shape 29"/>
          <p:cNvSpPr/>
          <p:nvPr/>
        </p:nvSpPr>
        <p:spPr>
          <a:xfrm>
            <a:off x="8065008" y="4480560"/>
            <a:ext cx="54864" cy="1554480"/>
          </a:xfrm>
          <a:prstGeom prst="rect">
            <a:avLst/>
          </a:prstGeom>
          <a:solidFill>
            <a:srgbClr val="B8312F"/>
          </a:solidFill>
          <a:ln w="12700">
            <a:solidFill>
              <a:srgbClr val="B8312F"/>
            </a:solidFill>
            <a:prstDash val="solid"/>
          </a:ln>
        </p:spPr>
      </p:sp>
      <p:sp>
        <p:nvSpPr>
          <p:cNvPr id="32" name="Text 30"/>
          <p:cNvSpPr/>
          <p:nvPr/>
        </p:nvSpPr>
        <p:spPr>
          <a:xfrm>
            <a:off x="8247888" y="4617720"/>
            <a:ext cx="3246120" cy="274320"/>
          </a:xfrm>
          <a:prstGeom prst="rect">
            <a:avLst/>
          </a:prstGeom>
          <a:noFill/>
          <a:ln/>
        </p:spPr>
        <p:txBody>
          <a:bodyPr wrap="square" rtlCol="0" anchor="ctr"/>
          <a:lstStyle/>
          <a:p>
            <a:pPr indent="0" marL="0">
              <a:buNone/>
            </a:pPr>
            <a:r>
              <a:rPr lang="en-US" sz="1000" b="1" spc="300" kern="0" dirty="0">
                <a:solidFill>
                  <a:srgbClr val="B8312F"/>
                </a:solidFill>
                <a:latin typeface="Calibri" pitchFamily="34" charset="0"/>
                <a:ea typeface="Calibri" pitchFamily="34" charset="-122"/>
                <a:cs typeface="Calibri" pitchFamily="34" charset="-120"/>
              </a:rPr>
              <a:t>BLOCK VI · W12</a:t>
            </a:r>
            <a:endParaRPr lang="en-US" sz="1000" dirty="0"/>
          </a:p>
        </p:txBody>
      </p:sp>
      <p:sp>
        <p:nvSpPr>
          <p:cNvPr id="33" name="Text 31"/>
          <p:cNvSpPr/>
          <p:nvPr/>
        </p:nvSpPr>
        <p:spPr>
          <a:xfrm>
            <a:off x="8247888" y="4937760"/>
            <a:ext cx="3246120" cy="457200"/>
          </a:xfrm>
          <a:prstGeom prst="rect">
            <a:avLst/>
          </a:prstGeom>
          <a:noFill/>
          <a:ln/>
        </p:spPr>
        <p:txBody>
          <a:bodyPr wrap="square" rtlCol="0" anchor="ctr"/>
          <a:lstStyle/>
          <a:p>
            <a:pPr indent="0" marL="0">
              <a:buNone/>
            </a:pPr>
            <a:r>
              <a:rPr lang="en-US" sz="1800" b="1" dirty="0">
                <a:solidFill>
                  <a:srgbClr val="1B2A4A"/>
                </a:solidFill>
                <a:latin typeface="Calibri" pitchFamily="34" charset="0"/>
                <a:ea typeface="Calibri" pitchFamily="34" charset="-122"/>
                <a:cs typeface="Calibri" pitchFamily="34" charset="-120"/>
              </a:rPr>
              <a:t>Watchman's Charter</a:t>
            </a:r>
            <a:endParaRPr lang="en-US" sz="1800" dirty="0"/>
          </a:p>
        </p:txBody>
      </p:sp>
      <p:sp>
        <p:nvSpPr>
          <p:cNvPr id="34" name="Text 32"/>
          <p:cNvSpPr/>
          <p:nvPr/>
        </p:nvSpPr>
        <p:spPr>
          <a:xfrm>
            <a:off x="8247888" y="5486400"/>
            <a:ext cx="3246120" cy="365760"/>
          </a:xfrm>
          <a:prstGeom prst="rect">
            <a:avLst/>
          </a:prstGeom>
          <a:noFill/>
          <a:ln/>
        </p:spPr>
        <p:txBody>
          <a:bodyPr wrap="square" rtlCol="0" anchor="ctr"/>
          <a:lstStyle/>
          <a:p>
            <a:pPr indent="0" marL="0">
              <a:buNone/>
            </a:pPr>
            <a:r>
              <a:rPr lang="en-US" sz="1100" i="1" dirty="0">
                <a:solidFill>
                  <a:srgbClr val="5B6470"/>
                </a:solidFill>
                <a:latin typeface="Calibri" pitchFamily="34" charset="0"/>
                <a:ea typeface="Calibri" pitchFamily="34" charset="-122"/>
                <a:cs typeface="Calibri" pitchFamily="34" charset="-120"/>
              </a:rPr>
              <a:t>3 drills per week</a:t>
            </a:r>
            <a:endParaRPr lang="en-US" sz="1100" dirty="0"/>
          </a:p>
        </p:txBody>
      </p:sp>
      <p:sp>
        <p:nvSpPr>
          <p:cNvPr id="35" name="Text 33"/>
          <p:cNvSpPr/>
          <p:nvPr/>
        </p:nvSpPr>
        <p:spPr>
          <a:xfrm>
            <a:off x="548640" y="6492240"/>
            <a:ext cx="7315200" cy="274320"/>
          </a:xfrm>
          <a:prstGeom prst="rect">
            <a:avLst/>
          </a:prstGeom>
          <a:noFill/>
          <a:ln/>
        </p:spPr>
        <p:txBody>
          <a:bodyPr wrap="square" rtlCol="0" anchor="ctr"/>
          <a:lstStyle/>
          <a:p>
            <a:pPr indent="0" marL="0">
              <a:buNone/>
            </a:pPr>
            <a:r>
              <a:rPr lang="en-US" sz="1000" i="1" dirty="0">
                <a:solidFill>
                  <a:srgbClr val="5B6470"/>
                </a:solidFill>
                <a:latin typeface="Calibri" pitchFamily="34" charset="0"/>
                <a:ea typeface="Calibri" pitchFamily="34" charset="-122"/>
                <a:cs typeface="Calibri" pitchFamily="34" charset="-120"/>
              </a:rPr>
              <a:t>Watchman's Drills · Optional depth track</a:t>
            </a:r>
            <a:endParaRPr lang="en-US" sz="10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0972800" cy="365760"/>
          </a:xfrm>
          <a:prstGeom prst="rect">
            <a:avLst/>
          </a:prstGeom>
          <a:noFill/>
          <a:ln/>
        </p:spPr>
        <p:txBody>
          <a:bodyPr wrap="square" rtlCol="0" anchor="ctr"/>
          <a:lstStyle/>
          <a:p>
            <a:pPr indent="0" marL="0">
              <a:buNone/>
            </a:pPr>
            <a:r>
              <a:rPr lang="en-US" sz="1200" b="1" spc="500" kern="0" dirty="0">
                <a:solidFill>
                  <a:srgbClr val="CE8E31"/>
                </a:solidFill>
                <a:latin typeface="Calibri" pitchFamily="34" charset="0"/>
                <a:ea typeface="Calibri" pitchFamily="34" charset="-122"/>
                <a:cs typeface="Calibri" pitchFamily="34" charset="-120"/>
              </a:rPr>
              <a:t>FINAL ARTIFACT</a:t>
            </a:r>
            <a:endParaRPr lang="en-US" sz="1200" dirty="0"/>
          </a:p>
        </p:txBody>
      </p:sp>
      <p:sp>
        <p:nvSpPr>
          <p:cNvPr id="3" name="Text 1"/>
          <p:cNvSpPr/>
          <p:nvPr/>
        </p:nvSpPr>
        <p:spPr>
          <a:xfrm>
            <a:off x="548640" y="822960"/>
            <a:ext cx="10972800" cy="914400"/>
          </a:xfrm>
          <a:prstGeom prst="rect">
            <a:avLst/>
          </a:prstGeom>
          <a:noFill/>
          <a:ln/>
        </p:spPr>
        <p:txBody>
          <a:bodyPr wrap="square" rtlCol="0" anchor="ctr"/>
          <a:lstStyle/>
          <a:p>
            <a:pPr indent="0" marL="0">
              <a:buNone/>
            </a:pPr>
            <a:r>
              <a:rPr lang="en-US" sz="4400" b="1" dirty="0">
                <a:solidFill>
                  <a:srgbClr val="1B2A4A"/>
                </a:solidFill>
                <a:latin typeface="Calibri" pitchFamily="34" charset="0"/>
                <a:ea typeface="Calibri" pitchFamily="34" charset="-122"/>
                <a:cs typeface="Calibri" pitchFamily="34" charset="-120"/>
              </a:rPr>
              <a:t>The Watchman's Charter.</a:t>
            </a:r>
            <a:endParaRPr lang="en-US" sz="4400" dirty="0"/>
          </a:p>
        </p:txBody>
      </p:sp>
      <p:sp>
        <p:nvSpPr>
          <p:cNvPr id="4" name="Text 2"/>
          <p:cNvSpPr/>
          <p:nvPr/>
        </p:nvSpPr>
        <p:spPr>
          <a:xfrm>
            <a:off x="548640" y="1828800"/>
            <a:ext cx="10972800" cy="548640"/>
          </a:xfrm>
          <a:prstGeom prst="rect">
            <a:avLst/>
          </a:prstGeom>
          <a:noFill/>
          <a:ln/>
        </p:spPr>
        <p:txBody>
          <a:bodyPr wrap="square" rtlCol="0" anchor="ctr"/>
          <a:lstStyle/>
          <a:p>
            <a:pPr indent="0" marL="0">
              <a:buNone/>
            </a:pPr>
            <a:r>
              <a:rPr lang="en-US" sz="1800" i="1" dirty="0">
                <a:solidFill>
                  <a:srgbClr val="5B6470"/>
                </a:solidFill>
                <a:latin typeface="Calibri" pitchFamily="34" charset="0"/>
                <a:ea typeface="Calibri" pitchFamily="34" charset="-122"/>
                <a:cs typeface="Calibri" pitchFamily="34" charset="-120"/>
              </a:rPr>
              <a:t>Written in Week 1. Refined by everything since. Signed and posted in Week 12 — the commissioning.</a:t>
            </a:r>
            <a:endParaRPr lang="en-US" sz="1800" dirty="0"/>
          </a:p>
        </p:txBody>
      </p:sp>
      <p:sp>
        <p:nvSpPr>
          <p:cNvPr id="5" name="Shape 3"/>
          <p:cNvSpPr/>
          <p:nvPr/>
        </p:nvSpPr>
        <p:spPr>
          <a:xfrm>
            <a:off x="548640" y="2743200"/>
            <a:ext cx="5486400" cy="3291840"/>
          </a:xfrm>
          <a:prstGeom prst="rect">
            <a:avLst/>
          </a:prstGeom>
          <a:solidFill>
            <a:srgbClr val="F4F1EA"/>
          </a:solidFill>
          <a:ln w="12700">
            <a:solidFill>
              <a:srgbClr val="D8DCE2"/>
            </a:solidFill>
            <a:prstDash val="solid"/>
          </a:ln>
        </p:spPr>
      </p:sp>
      <p:sp>
        <p:nvSpPr>
          <p:cNvPr id="6" name="Shape 4"/>
          <p:cNvSpPr/>
          <p:nvPr/>
        </p:nvSpPr>
        <p:spPr>
          <a:xfrm>
            <a:off x="548640" y="2743200"/>
            <a:ext cx="73152" cy="3291840"/>
          </a:xfrm>
          <a:prstGeom prst="rect">
            <a:avLst/>
          </a:prstGeom>
          <a:solidFill>
            <a:srgbClr val="1B2A4A"/>
          </a:solidFill>
          <a:ln w="12700">
            <a:solidFill>
              <a:srgbClr val="1B2A4A"/>
            </a:solidFill>
            <a:prstDash val="solid"/>
          </a:ln>
        </p:spPr>
      </p:sp>
      <p:sp>
        <p:nvSpPr>
          <p:cNvPr id="7" name="Text 5"/>
          <p:cNvSpPr/>
          <p:nvPr/>
        </p:nvSpPr>
        <p:spPr>
          <a:xfrm>
            <a:off x="777240" y="2926080"/>
            <a:ext cx="5029200" cy="365760"/>
          </a:xfrm>
          <a:prstGeom prst="rect">
            <a:avLst/>
          </a:prstGeom>
          <a:noFill/>
          <a:ln/>
        </p:spPr>
        <p:txBody>
          <a:bodyPr wrap="square" rtlCol="0" anchor="ctr"/>
          <a:lstStyle/>
          <a:p>
            <a:pPr indent="0" marL="0">
              <a:buNone/>
            </a:pPr>
            <a:r>
              <a:rPr lang="en-US" sz="1300" b="1" spc="300" kern="0" dirty="0">
                <a:solidFill>
                  <a:srgbClr val="CE8E31"/>
                </a:solidFill>
                <a:latin typeface="Calibri" pitchFamily="34" charset="0"/>
                <a:ea typeface="Calibri" pitchFamily="34" charset="-122"/>
                <a:cs typeface="Calibri" pitchFamily="34" charset="-120"/>
              </a:rPr>
              <a:t>WHAT AI IS FOR IN MY LIFE:</a:t>
            </a:r>
            <a:endParaRPr lang="en-US" sz="1300" dirty="0"/>
          </a:p>
        </p:txBody>
      </p:sp>
      <p:sp>
        <p:nvSpPr>
          <p:cNvPr id="8" name="Shape 6"/>
          <p:cNvSpPr/>
          <p:nvPr/>
        </p:nvSpPr>
        <p:spPr>
          <a:xfrm>
            <a:off x="777240" y="3520440"/>
            <a:ext cx="5029200" cy="0"/>
          </a:xfrm>
          <a:prstGeom prst="line">
            <a:avLst/>
          </a:prstGeom>
          <a:noFill/>
          <a:ln w="12700">
            <a:solidFill>
              <a:srgbClr val="94A3B8"/>
            </a:solidFill>
            <a:prstDash val="solid"/>
          </a:ln>
        </p:spPr>
      </p:sp>
      <p:sp>
        <p:nvSpPr>
          <p:cNvPr id="9" name="Shape 7"/>
          <p:cNvSpPr/>
          <p:nvPr/>
        </p:nvSpPr>
        <p:spPr>
          <a:xfrm>
            <a:off x="777240" y="4023360"/>
            <a:ext cx="5029200" cy="0"/>
          </a:xfrm>
          <a:prstGeom prst="line">
            <a:avLst/>
          </a:prstGeom>
          <a:noFill/>
          <a:ln w="12700">
            <a:solidFill>
              <a:srgbClr val="94A3B8"/>
            </a:solidFill>
            <a:prstDash val="solid"/>
          </a:ln>
        </p:spPr>
      </p:sp>
      <p:sp>
        <p:nvSpPr>
          <p:cNvPr id="10" name="Shape 8"/>
          <p:cNvSpPr/>
          <p:nvPr/>
        </p:nvSpPr>
        <p:spPr>
          <a:xfrm>
            <a:off x="777240" y="4526280"/>
            <a:ext cx="5029200" cy="0"/>
          </a:xfrm>
          <a:prstGeom prst="line">
            <a:avLst/>
          </a:prstGeom>
          <a:noFill/>
          <a:ln w="12700">
            <a:solidFill>
              <a:srgbClr val="94A3B8"/>
            </a:solidFill>
            <a:prstDash val="solid"/>
          </a:ln>
        </p:spPr>
      </p:sp>
      <p:sp>
        <p:nvSpPr>
          <p:cNvPr id="11" name="Shape 9"/>
          <p:cNvSpPr/>
          <p:nvPr/>
        </p:nvSpPr>
        <p:spPr>
          <a:xfrm>
            <a:off x="777240" y="5029200"/>
            <a:ext cx="5029200" cy="0"/>
          </a:xfrm>
          <a:prstGeom prst="line">
            <a:avLst/>
          </a:prstGeom>
          <a:noFill/>
          <a:ln w="12700">
            <a:solidFill>
              <a:srgbClr val="94A3B8"/>
            </a:solidFill>
            <a:prstDash val="solid"/>
          </a:ln>
        </p:spPr>
      </p:sp>
      <p:sp>
        <p:nvSpPr>
          <p:cNvPr id="12" name="Shape 10"/>
          <p:cNvSpPr/>
          <p:nvPr/>
        </p:nvSpPr>
        <p:spPr>
          <a:xfrm>
            <a:off x="777240" y="5532120"/>
            <a:ext cx="5029200" cy="0"/>
          </a:xfrm>
          <a:prstGeom prst="line">
            <a:avLst/>
          </a:prstGeom>
          <a:noFill/>
          <a:ln w="12700">
            <a:solidFill>
              <a:srgbClr val="94A3B8"/>
            </a:solidFill>
            <a:prstDash val="solid"/>
          </a:ln>
        </p:spPr>
      </p:sp>
      <p:sp>
        <p:nvSpPr>
          <p:cNvPr id="13" name="Shape 11"/>
          <p:cNvSpPr/>
          <p:nvPr/>
        </p:nvSpPr>
        <p:spPr>
          <a:xfrm>
            <a:off x="6217920" y="2743200"/>
            <a:ext cx="5394960" cy="3291840"/>
          </a:xfrm>
          <a:prstGeom prst="rect">
            <a:avLst/>
          </a:prstGeom>
          <a:solidFill>
            <a:srgbClr val="1B2A4A"/>
          </a:solidFill>
          <a:ln w="12700">
            <a:solidFill>
              <a:srgbClr val="1B2A4A"/>
            </a:solidFill>
            <a:prstDash val="solid"/>
          </a:ln>
        </p:spPr>
      </p:sp>
      <p:sp>
        <p:nvSpPr>
          <p:cNvPr id="14" name="Text 12"/>
          <p:cNvSpPr/>
          <p:nvPr/>
        </p:nvSpPr>
        <p:spPr>
          <a:xfrm>
            <a:off x="6446520" y="2926080"/>
            <a:ext cx="5029200" cy="365760"/>
          </a:xfrm>
          <a:prstGeom prst="rect">
            <a:avLst/>
          </a:prstGeom>
          <a:noFill/>
          <a:ln/>
        </p:spPr>
        <p:txBody>
          <a:bodyPr wrap="square" rtlCol="0" anchor="ctr"/>
          <a:lstStyle/>
          <a:p>
            <a:pPr indent="0" marL="0">
              <a:buNone/>
            </a:pPr>
            <a:r>
              <a:rPr lang="en-US" sz="1300" b="1" spc="300" kern="0" dirty="0">
                <a:solidFill>
                  <a:srgbClr val="CE8E31"/>
                </a:solidFill>
                <a:latin typeface="Calibri" pitchFamily="34" charset="0"/>
                <a:ea typeface="Calibri" pitchFamily="34" charset="-122"/>
                <a:cs typeface="Calibri" pitchFamily="34" charset="-120"/>
              </a:rPr>
              <a:t>WHAT AI NEVER REPLACES:</a:t>
            </a:r>
            <a:endParaRPr lang="en-US" sz="1300" dirty="0"/>
          </a:p>
        </p:txBody>
      </p:sp>
      <p:sp>
        <p:nvSpPr>
          <p:cNvPr id="15" name="Shape 13"/>
          <p:cNvSpPr/>
          <p:nvPr/>
        </p:nvSpPr>
        <p:spPr>
          <a:xfrm>
            <a:off x="6446520" y="3520440"/>
            <a:ext cx="5029200" cy="0"/>
          </a:xfrm>
          <a:prstGeom prst="line">
            <a:avLst/>
          </a:prstGeom>
          <a:noFill/>
          <a:ln w="12700">
            <a:solidFill>
              <a:srgbClr val="94A3B8"/>
            </a:solidFill>
            <a:prstDash val="solid"/>
          </a:ln>
        </p:spPr>
      </p:sp>
      <p:sp>
        <p:nvSpPr>
          <p:cNvPr id="16" name="Shape 14"/>
          <p:cNvSpPr/>
          <p:nvPr/>
        </p:nvSpPr>
        <p:spPr>
          <a:xfrm>
            <a:off x="6446520" y="4023360"/>
            <a:ext cx="5029200" cy="0"/>
          </a:xfrm>
          <a:prstGeom prst="line">
            <a:avLst/>
          </a:prstGeom>
          <a:noFill/>
          <a:ln w="12700">
            <a:solidFill>
              <a:srgbClr val="94A3B8"/>
            </a:solidFill>
            <a:prstDash val="solid"/>
          </a:ln>
        </p:spPr>
      </p:sp>
      <p:sp>
        <p:nvSpPr>
          <p:cNvPr id="17" name="Shape 15"/>
          <p:cNvSpPr/>
          <p:nvPr/>
        </p:nvSpPr>
        <p:spPr>
          <a:xfrm>
            <a:off x="6446520" y="4526280"/>
            <a:ext cx="5029200" cy="0"/>
          </a:xfrm>
          <a:prstGeom prst="line">
            <a:avLst/>
          </a:prstGeom>
          <a:noFill/>
          <a:ln w="12700">
            <a:solidFill>
              <a:srgbClr val="94A3B8"/>
            </a:solidFill>
            <a:prstDash val="solid"/>
          </a:ln>
        </p:spPr>
      </p:sp>
      <p:sp>
        <p:nvSpPr>
          <p:cNvPr id="18" name="Shape 16"/>
          <p:cNvSpPr/>
          <p:nvPr/>
        </p:nvSpPr>
        <p:spPr>
          <a:xfrm>
            <a:off x="6446520" y="5029200"/>
            <a:ext cx="5029200" cy="0"/>
          </a:xfrm>
          <a:prstGeom prst="line">
            <a:avLst/>
          </a:prstGeom>
          <a:noFill/>
          <a:ln w="12700">
            <a:solidFill>
              <a:srgbClr val="94A3B8"/>
            </a:solidFill>
            <a:prstDash val="solid"/>
          </a:ln>
        </p:spPr>
      </p:sp>
      <p:sp>
        <p:nvSpPr>
          <p:cNvPr id="19" name="Shape 17"/>
          <p:cNvSpPr/>
          <p:nvPr/>
        </p:nvSpPr>
        <p:spPr>
          <a:xfrm>
            <a:off x="6446520" y="5532120"/>
            <a:ext cx="5029200" cy="0"/>
          </a:xfrm>
          <a:prstGeom prst="line">
            <a:avLst/>
          </a:prstGeom>
          <a:noFill/>
          <a:ln w="12700">
            <a:solidFill>
              <a:srgbClr val="94A3B8"/>
            </a:solidFill>
            <a:prstDash val="solid"/>
          </a:ln>
        </p:spPr>
      </p:sp>
      <p:sp>
        <p:nvSpPr>
          <p:cNvPr id="20" name="Text 18"/>
          <p:cNvSpPr/>
          <p:nvPr/>
        </p:nvSpPr>
        <p:spPr>
          <a:xfrm>
            <a:off x="548640" y="6492240"/>
            <a:ext cx="7315200" cy="274320"/>
          </a:xfrm>
          <a:prstGeom prst="rect">
            <a:avLst/>
          </a:prstGeom>
          <a:noFill/>
          <a:ln/>
        </p:spPr>
        <p:txBody>
          <a:bodyPr wrap="square" rtlCol="0" anchor="ctr"/>
          <a:lstStyle/>
          <a:p>
            <a:pPr indent="0" marL="0">
              <a:buNone/>
            </a:pPr>
            <a:r>
              <a:rPr lang="en-US" sz="1000" i="1" dirty="0">
                <a:solidFill>
                  <a:srgbClr val="5B6470"/>
                </a:solidFill>
                <a:latin typeface="Calibri" pitchFamily="34" charset="0"/>
                <a:ea typeface="Calibri" pitchFamily="34" charset="-122"/>
                <a:cs typeface="Calibri" pitchFamily="34" charset="-120"/>
              </a:rPr>
              <a:t>The Watchman's Charter</a:t>
            </a:r>
            <a:endParaRPr lang="en-US" sz="10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1B2A4A"/>
        </a:solidFill>
      </p:bgPr>
    </p:bg>
    <p:spTree>
      <p:nvGrpSpPr>
        <p:cNvPr id="1" name=""/>
        <p:cNvGrpSpPr/>
        <p:nvPr/>
      </p:nvGrpSpPr>
      <p:grpSpPr>
        <a:xfrm>
          <a:off x="0" y="0"/>
          <a:ext cx="0" cy="0"/>
          <a:chOff x="0" y="0"/>
          <a:chExt cx="0" cy="0"/>
        </a:xfrm>
      </p:grpSpPr>
      <p:sp>
        <p:nvSpPr>
          <p:cNvPr id="2" name="Text 0"/>
          <p:cNvSpPr/>
          <p:nvPr/>
        </p:nvSpPr>
        <p:spPr>
          <a:xfrm>
            <a:off x="548640" y="1463040"/>
            <a:ext cx="10972800" cy="457200"/>
          </a:xfrm>
          <a:prstGeom prst="rect">
            <a:avLst/>
          </a:prstGeom>
          <a:noFill/>
          <a:ln/>
        </p:spPr>
        <p:txBody>
          <a:bodyPr wrap="square" rtlCol="0" anchor="ctr"/>
          <a:lstStyle/>
          <a:p>
            <a:pPr indent="0" marL="0">
              <a:buNone/>
            </a:pPr>
            <a:r>
              <a:rPr lang="en-US" sz="1400" b="1" spc="600" kern="0" dirty="0">
                <a:solidFill>
                  <a:srgbClr val="CE8E31"/>
                </a:solidFill>
                <a:latin typeface="Calibri" pitchFamily="34" charset="0"/>
                <a:ea typeface="Calibri" pitchFamily="34" charset="-122"/>
                <a:cs typeface="Calibri" pitchFamily="34" charset="-120"/>
              </a:rPr>
              <a:t>THE COMMISSIONING</a:t>
            </a:r>
            <a:endParaRPr lang="en-US" sz="1400" dirty="0"/>
          </a:p>
        </p:txBody>
      </p:sp>
      <p:sp>
        <p:nvSpPr>
          <p:cNvPr id="3" name="Text 1"/>
          <p:cNvSpPr/>
          <p:nvPr/>
        </p:nvSpPr>
        <p:spPr>
          <a:xfrm>
            <a:off x="548640" y="2011680"/>
            <a:ext cx="10972800" cy="1645920"/>
          </a:xfrm>
          <a:prstGeom prst="rect">
            <a:avLst/>
          </a:prstGeom>
          <a:noFill/>
          <a:ln/>
        </p:spPr>
        <p:txBody>
          <a:bodyPr wrap="square" rtlCol="0" anchor="ctr"/>
          <a:lstStyle/>
          <a:p>
            <a:pPr indent="0" marL="0">
              <a:buNone/>
            </a:pPr>
            <a:r>
              <a:rPr lang="en-US" sz="5400" b="1" dirty="0">
                <a:solidFill>
                  <a:srgbClr val="FFFFFF"/>
                </a:solidFill>
                <a:latin typeface="Calibri" pitchFamily="34" charset="0"/>
                <a:ea typeface="Calibri" pitchFamily="34" charset="-122"/>
                <a:cs typeface="Calibri" pitchFamily="34" charset="-120"/>
              </a:rPr>
              <a:t>Teach one man one thing.</a:t>
            </a:r>
            <a:endParaRPr lang="en-US" sz="5400" dirty="0"/>
          </a:p>
        </p:txBody>
      </p:sp>
      <p:sp>
        <p:nvSpPr>
          <p:cNvPr id="4" name="Shape 2"/>
          <p:cNvSpPr/>
          <p:nvPr/>
        </p:nvSpPr>
        <p:spPr>
          <a:xfrm>
            <a:off x="548640" y="3840480"/>
            <a:ext cx="2286000" cy="91440"/>
          </a:xfrm>
          <a:prstGeom prst="rect">
            <a:avLst/>
          </a:prstGeom>
          <a:solidFill>
            <a:srgbClr val="CE8E31"/>
          </a:solidFill>
          <a:ln w="12700">
            <a:solidFill>
              <a:srgbClr val="CE8E31"/>
            </a:solidFill>
            <a:prstDash val="solid"/>
          </a:ln>
        </p:spPr>
      </p:sp>
      <p:sp>
        <p:nvSpPr>
          <p:cNvPr id="5" name="Text 3"/>
          <p:cNvSpPr/>
          <p:nvPr/>
        </p:nvSpPr>
        <p:spPr>
          <a:xfrm>
            <a:off x="548640" y="4114800"/>
            <a:ext cx="10972800" cy="1005840"/>
          </a:xfrm>
          <a:prstGeom prst="rect">
            <a:avLst/>
          </a:prstGeom>
          <a:noFill/>
          <a:ln/>
        </p:spPr>
        <p:txBody>
          <a:bodyPr wrap="square" rtlCol="0" anchor="ctr"/>
          <a:lstStyle/>
          <a:p>
            <a:pPr indent="0" marL="0">
              <a:buNone/>
            </a:pPr>
            <a:r>
              <a:rPr lang="en-US" sz="2000" i="1" dirty="0">
                <a:solidFill>
                  <a:srgbClr val="94A3B8"/>
                </a:solidFill>
                <a:latin typeface="Calibri" pitchFamily="34" charset="0"/>
                <a:ea typeface="Calibri" pitchFamily="34" charset="-122"/>
                <a:cs typeface="Calibri" pitchFamily="34" charset="-120"/>
              </a:rPr>
              <a:t>"And the things that you have heard from me… commit these to faithful men who will be able to teach others also."</a:t>
            </a:r>
            <a:endParaRPr lang="en-US" sz="2000" dirty="0"/>
          </a:p>
        </p:txBody>
      </p:sp>
      <p:sp>
        <p:nvSpPr>
          <p:cNvPr id="6" name="Text 4"/>
          <p:cNvSpPr/>
          <p:nvPr/>
        </p:nvSpPr>
        <p:spPr>
          <a:xfrm>
            <a:off x="548640" y="5303520"/>
            <a:ext cx="10972800" cy="365760"/>
          </a:xfrm>
          <a:prstGeom prst="rect">
            <a:avLst/>
          </a:prstGeom>
          <a:noFill/>
          <a:ln/>
        </p:spPr>
        <p:txBody>
          <a:bodyPr wrap="square" rtlCol="0" anchor="ctr"/>
          <a:lstStyle/>
          <a:p>
            <a:pPr indent="0" marL="0">
              <a:buNone/>
            </a:pPr>
            <a:r>
              <a:rPr lang="en-US" sz="1400" dirty="0">
                <a:solidFill>
                  <a:srgbClr val="5B6470"/>
                </a:solidFill>
                <a:latin typeface="Calibri" pitchFamily="34" charset="0"/>
                <a:ea typeface="Calibri" pitchFamily="34" charset="-122"/>
                <a:cs typeface="Calibri" pitchFamily="34" charset="-120"/>
              </a:rPr>
              <a:t>— 2 Timothy 2:2</a:t>
            </a:r>
            <a:endParaRPr lang="en-US" sz="1400" dirty="0"/>
          </a:p>
        </p:txBody>
      </p:sp>
      <p:sp>
        <p:nvSpPr>
          <p:cNvPr id="7" name="Text 5"/>
          <p:cNvSpPr/>
          <p:nvPr/>
        </p:nvSpPr>
        <p:spPr>
          <a:xfrm>
            <a:off x="548640" y="6126480"/>
            <a:ext cx="10972800" cy="274320"/>
          </a:xfrm>
          <a:prstGeom prst="rect">
            <a:avLst/>
          </a:prstGeom>
          <a:noFill/>
          <a:ln/>
        </p:spPr>
        <p:txBody>
          <a:bodyPr wrap="square" rtlCol="0" anchor="ctr"/>
          <a:lstStyle/>
          <a:p>
            <a:pPr indent="0" marL="0">
              <a:buNone/>
            </a:pPr>
            <a:r>
              <a:rPr lang="en-US" sz="1200" dirty="0">
                <a:solidFill>
                  <a:srgbClr val="CE8E31"/>
                </a:solidFill>
                <a:latin typeface="Calibri" pitchFamily="34" charset="0"/>
                <a:ea typeface="Calibri" pitchFamily="34" charset="-122"/>
                <a:cs typeface="Calibri" pitchFamily="34" charset="-120"/>
              </a:rPr>
              <a:t>usmcmin.com/ai-mission.html · The Watchman's Course</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54</Slides>
  <Notes>54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54</vt:i4>
      </vt:variant>
    </vt:vector>
  </HeadingPairs>
  <TitlesOfParts>
    <vt:vector size="5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Watchman's Course — 12-Week Deck</dc:title>
  <dc:subject>PptxGenJS Presentation</dc:subject>
  <dc:creator>U.S.M.C. Ministries</dc:creator>
  <cp:lastModifiedBy>U.S.M.C. Ministries</cp:lastModifiedBy>
  <cp:revision>1</cp:revision>
  <dcterms:created xsi:type="dcterms:W3CDTF">2026-06-13T01:36:54Z</dcterms:created>
  <dcterms:modified xsi:type="dcterms:W3CDTF">2026-06-13T01:36:54Z</dcterms:modified>
</cp:coreProperties>
</file>